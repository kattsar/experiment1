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4" r:id="rId8"/>
    <p:sldId id="265" r:id="rId9"/>
    <p:sldId id="268" r:id="rId10"/>
    <p:sldId id="269" r:id="rId11"/>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142" autoAdjust="0"/>
  </p:normalViewPr>
  <p:slideViewPr>
    <p:cSldViewPr snapToGrid="0">
      <p:cViewPr varScale="1">
        <p:scale>
          <a:sx n="67" d="100"/>
          <a:sy n="67" d="100"/>
        </p:scale>
        <p:origin x="121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34EC7-849E-4211-A9CE-5DDD6BF7214F}" type="datetimeFigureOut">
              <a:rPr lang="el-GR" smtClean="0"/>
              <a:t>10/11/2023</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9A67AB-0521-41F6-9887-535ECE6F3066}" type="slidenum">
              <a:rPr lang="el-GR" smtClean="0"/>
              <a:t>‹#›</a:t>
            </a:fld>
            <a:endParaRPr lang="el-GR"/>
          </a:p>
        </p:txBody>
      </p:sp>
    </p:spTree>
    <p:extLst>
      <p:ext uri="{BB962C8B-B14F-4D97-AF65-F5344CB8AC3E}">
        <p14:creationId xmlns:p14="http://schemas.microsoft.com/office/powerpoint/2010/main" val="2978645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faster in the Pilot </a:t>
            </a:r>
            <a:r>
              <a:rPr lang="en-US" dirty="0">
                <a:sym typeface="Wingdings" panose="05000000000000000000" pitchFamily="2" charset="2"/>
              </a:rPr>
              <a:t> we force co-activation so this can lead to cross-modality priming plus the fact that this is item-repetition. The representations have already been activated which speeds naming up in contrast to different-item naming in which the phonological and orthographic representations for that item must be activated anew. This tell us that there is a big role of phonology and orthography in typing and </a:t>
            </a:r>
            <a:r>
              <a:rPr lang="en-US">
                <a:sym typeface="Wingdings" panose="05000000000000000000" pitchFamily="2" charset="2"/>
              </a:rPr>
              <a:t>speaking respectively. </a:t>
            </a:r>
            <a:endParaRPr lang="el-GR" dirty="0"/>
          </a:p>
        </p:txBody>
      </p:sp>
      <p:sp>
        <p:nvSpPr>
          <p:cNvPr id="4" name="Slide Number Placeholder 3"/>
          <p:cNvSpPr>
            <a:spLocks noGrp="1"/>
          </p:cNvSpPr>
          <p:nvPr>
            <p:ph type="sldNum" sz="quarter" idx="5"/>
          </p:nvPr>
        </p:nvSpPr>
        <p:spPr/>
        <p:txBody>
          <a:bodyPr/>
          <a:lstStyle/>
          <a:p>
            <a:fld id="{069A67AB-0521-41F6-9887-535ECE6F3066}" type="slidenum">
              <a:rPr lang="el-GR" smtClean="0"/>
              <a:t>6</a:t>
            </a:fld>
            <a:endParaRPr lang="el-GR"/>
          </a:p>
        </p:txBody>
      </p:sp>
    </p:spTree>
    <p:extLst>
      <p:ext uri="{BB962C8B-B14F-4D97-AF65-F5344CB8AC3E}">
        <p14:creationId xmlns:p14="http://schemas.microsoft.com/office/powerpoint/2010/main" val="304268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4C0D7-368B-0469-C445-F70A3C7241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l-GR"/>
          </a:p>
        </p:txBody>
      </p:sp>
      <p:sp>
        <p:nvSpPr>
          <p:cNvPr id="3" name="Subtitle 2">
            <a:extLst>
              <a:ext uri="{FF2B5EF4-FFF2-40B4-BE49-F238E27FC236}">
                <a16:creationId xmlns:a16="http://schemas.microsoft.com/office/drawing/2014/main" id="{A6F44EF3-FE7D-A441-EDF7-608FA23729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l-GR"/>
          </a:p>
        </p:txBody>
      </p:sp>
      <p:sp>
        <p:nvSpPr>
          <p:cNvPr id="4" name="Date Placeholder 3">
            <a:extLst>
              <a:ext uri="{FF2B5EF4-FFF2-40B4-BE49-F238E27FC236}">
                <a16:creationId xmlns:a16="http://schemas.microsoft.com/office/drawing/2014/main" id="{337F80CF-16E0-14EE-032D-83ADB9E4D88E}"/>
              </a:ext>
            </a:extLst>
          </p:cNvPr>
          <p:cNvSpPr>
            <a:spLocks noGrp="1"/>
          </p:cNvSpPr>
          <p:nvPr>
            <p:ph type="dt" sz="half" idx="10"/>
          </p:nvPr>
        </p:nvSpPr>
        <p:spPr/>
        <p:txBody>
          <a:bodyPr/>
          <a:lstStyle/>
          <a:p>
            <a:fld id="{9283DD1B-A3FA-4E97-AA13-3088F9871215}" type="datetime1">
              <a:rPr lang="el-GR" smtClean="0"/>
              <a:t>10/11/2023</a:t>
            </a:fld>
            <a:endParaRPr lang="el-GR"/>
          </a:p>
        </p:txBody>
      </p:sp>
      <p:sp>
        <p:nvSpPr>
          <p:cNvPr id="5" name="Footer Placeholder 4">
            <a:extLst>
              <a:ext uri="{FF2B5EF4-FFF2-40B4-BE49-F238E27FC236}">
                <a16:creationId xmlns:a16="http://schemas.microsoft.com/office/drawing/2014/main" id="{39732E6D-7F7F-F0C5-D9E3-73DB335E1FA0}"/>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8F47ECF9-C80C-6223-C317-8342CFD09455}"/>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2632598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D4BB5-17CC-DDF0-A4DE-A61491B3DA5E}"/>
              </a:ext>
            </a:extLst>
          </p:cNvPr>
          <p:cNvSpPr>
            <a:spLocks noGrp="1"/>
          </p:cNvSpPr>
          <p:nvPr>
            <p:ph type="title"/>
          </p:nvPr>
        </p:nvSpPr>
        <p:spPr/>
        <p:txBody>
          <a:bodyPr/>
          <a:lstStyle/>
          <a:p>
            <a:r>
              <a:rPr lang="en-US"/>
              <a:t>Click to edit Master title style</a:t>
            </a:r>
            <a:endParaRPr lang="el-GR"/>
          </a:p>
        </p:txBody>
      </p:sp>
      <p:sp>
        <p:nvSpPr>
          <p:cNvPr id="3" name="Content Placeholder 2">
            <a:extLst>
              <a:ext uri="{FF2B5EF4-FFF2-40B4-BE49-F238E27FC236}">
                <a16:creationId xmlns:a16="http://schemas.microsoft.com/office/drawing/2014/main" id="{8F2E81A4-348F-56D8-D872-5B242AF840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F75AAF15-EB15-3EFC-8396-1BA2CA7DDC32}"/>
              </a:ext>
            </a:extLst>
          </p:cNvPr>
          <p:cNvSpPr>
            <a:spLocks noGrp="1"/>
          </p:cNvSpPr>
          <p:nvPr>
            <p:ph type="dt" sz="half" idx="10"/>
          </p:nvPr>
        </p:nvSpPr>
        <p:spPr/>
        <p:txBody>
          <a:bodyPr/>
          <a:lstStyle/>
          <a:p>
            <a:fld id="{7022E5E9-4583-4AF9-B189-6915D9FF5190}" type="datetime1">
              <a:rPr lang="el-GR" smtClean="0"/>
              <a:t>10/11/2023</a:t>
            </a:fld>
            <a:endParaRPr lang="el-GR"/>
          </a:p>
        </p:txBody>
      </p:sp>
      <p:sp>
        <p:nvSpPr>
          <p:cNvPr id="5" name="Footer Placeholder 4">
            <a:extLst>
              <a:ext uri="{FF2B5EF4-FFF2-40B4-BE49-F238E27FC236}">
                <a16:creationId xmlns:a16="http://schemas.microsoft.com/office/drawing/2014/main" id="{575EB695-80BE-5261-E0D5-31439D419616}"/>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17E04B47-3D7D-3572-9310-341EE13741D7}"/>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193560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A5D1-5F4B-82CC-4957-26D1806C6B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l-GR"/>
          </a:p>
        </p:txBody>
      </p:sp>
      <p:sp>
        <p:nvSpPr>
          <p:cNvPr id="3" name="Text Placeholder 2">
            <a:extLst>
              <a:ext uri="{FF2B5EF4-FFF2-40B4-BE49-F238E27FC236}">
                <a16:creationId xmlns:a16="http://schemas.microsoft.com/office/drawing/2014/main" id="{A382F884-D77F-2BB7-6B44-1287C1A086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8B2F74-967F-7E6E-431B-0BEE7B2C284A}"/>
              </a:ext>
            </a:extLst>
          </p:cNvPr>
          <p:cNvSpPr>
            <a:spLocks noGrp="1"/>
          </p:cNvSpPr>
          <p:nvPr>
            <p:ph type="dt" sz="half" idx="10"/>
          </p:nvPr>
        </p:nvSpPr>
        <p:spPr/>
        <p:txBody>
          <a:bodyPr/>
          <a:lstStyle/>
          <a:p>
            <a:fld id="{7BC2F506-B802-4342-A4FE-94B910176453}" type="datetime1">
              <a:rPr lang="el-GR" smtClean="0"/>
              <a:t>10/11/2023</a:t>
            </a:fld>
            <a:endParaRPr lang="el-GR"/>
          </a:p>
        </p:txBody>
      </p:sp>
      <p:sp>
        <p:nvSpPr>
          <p:cNvPr id="5" name="Footer Placeholder 4">
            <a:extLst>
              <a:ext uri="{FF2B5EF4-FFF2-40B4-BE49-F238E27FC236}">
                <a16:creationId xmlns:a16="http://schemas.microsoft.com/office/drawing/2014/main" id="{05DF01DA-ADE9-2BEC-E989-CA6B2A34B105}"/>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F50329D3-20AB-0642-065A-820C0B7B22A2}"/>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814696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DBA0-C6B9-5BF7-3E50-30B40AC1074E}"/>
              </a:ext>
            </a:extLst>
          </p:cNvPr>
          <p:cNvSpPr>
            <a:spLocks noGrp="1"/>
          </p:cNvSpPr>
          <p:nvPr>
            <p:ph type="title"/>
          </p:nvPr>
        </p:nvSpPr>
        <p:spPr/>
        <p:txBody>
          <a:bodyPr/>
          <a:lstStyle/>
          <a:p>
            <a:r>
              <a:rPr lang="en-US"/>
              <a:t>Click to edit Master title style</a:t>
            </a:r>
            <a:endParaRPr lang="el-GR"/>
          </a:p>
        </p:txBody>
      </p:sp>
      <p:sp>
        <p:nvSpPr>
          <p:cNvPr id="3" name="Content Placeholder 2">
            <a:extLst>
              <a:ext uri="{FF2B5EF4-FFF2-40B4-BE49-F238E27FC236}">
                <a16:creationId xmlns:a16="http://schemas.microsoft.com/office/drawing/2014/main" id="{CD790D29-4437-5786-C9ED-5C6B9E5B22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a:extLst>
              <a:ext uri="{FF2B5EF4-FFF2-40B4-BE49-F238E27FC236}">
                <a16:creationId xmlns:a16="http://schemas.microsoft.com/office/drawing/2014/main" id="{B3A1F288-A5BE-41A1-0D1B-9E8D5BE9D7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a:extLst>
              <a:ext uri="{FF2B5EF4-FFF2-40B4-BE49-F238E27FC236}">
                <a16:creationId xmlns:a16="http://schemas.microsoft.com/office/drawing/2014/main" id="{8B63657E-3B0D-D9F3-6EAB-38D42853C1B9}"/>
              </a:ext>
            </a:extLst>
          </p:cNvPr>
          <p:cNvSpPr>
            <a:spLocks noGrp="1"/>
          </p:cNvSpPr>
          <p:nvPr>
            <p:ph type="dt" sz="half" idx="10"/>
          </p:nvPr>
        </p:nvSpPr>
        <p:spPr/>
        <p:txBody>
          <a:bodyPr/>
          <a:lstStyle/>
          <a:p>
            <a:fld id="{82FFCC90-341E-440D-978A-B73C84A2F807}" type="datetime1">
              <a:rPr lang="el-GR" smtClean="0"/>
              <a:t>10/11/2023</a:t>
            </a:fld>
            <a:endParaRPr lang="el-GR"/>
          </a:p>
        </p:txBody>
      </p:sp>
      <p:sp>
        <p:nvSpPr>
          <p:cNvPr id="6" name="Footer Placeholder 5">
            <a:extLst>
              <a:ext uri="{FF2B5EF4-FFF2-40B4-BE49-F238E27FC236}">
                <a16:creationId xmlns:a16="http://schemas.microsoft.com/office/drawing/2014/main" id="{1A403F2C-C89C-A091-AD13-5A015BB100B5}"/>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6D190B86-5984-B8EC-6C00-1962C577286D}"/>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415237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8E3B-0105-1D4F-52D1-EEDE090E9736}"/>
              </a:ext>
            </a:extLst>
          </p:cNvPr>
          <p:cNvSpPr>
            <a:spLocks noGrp="1"/>
          </p:cNvSpPr>
          <p:nvPr>
            <p:ph type="title"/>
          </p:nvPr>
        </p:nvSpPr>
        <p:spPr>
          <a:xfrm>
            <a:off x="839788" y="365125"/>
            <a:ext cx="10515600" cy="1325563"/>
          </a:xfrm>
        </p:spPr>
        <p:txBody>
          <a:bodyPr/>
          <a:lstStyle/>
          <a:p>
            <a:r>
              <a:rPr lang="en-US"/>
              <a:t>Click to edit Master title style</a:t>
            </a:r>
            <a:endParaRPr lang="el-GR"/>
          </a:p>
        </p:txBody>
      </p:sp>
      <p:sp>
        <p:nvSpPr>
          <p:cNvPr id="3" name="Text Placeholder 2">
            <a:extLst>
              <a:ext uri="{FF2B5EF4-FFF2-40B4-BE49-F238E27FC236}">
                <a16:creationId xmlns:a16="http://schemas.microsoft.com/office/drawing/2014/main" id="{CBE870DC-6FF0-979A-E56B-2748653C22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7F535C-9984-8F8E-3404-C0B2067389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a:extLst>
              <a:ext uri="{FF2B5EF4-FFF2-40B4-BE49-F238E27FC236}">
                <a16:creationId xmlns:a16="http://schemas.microsoft.com/office/drawing/2014/main" id="{9E4D43FA-1965-CFC7-8C87-E6846EE022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BF903A-36D5-C1DC-3DD6-35719200A5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a:extLst>
              <a:ext uri="{FF2B5EF4-FFF2-40B4-BE49-F238E27FC236}">
                <a16:creationId xmlns:a16="http://schemas.microsoft.com/office/drawing/2014/main" id="{FD4B2286-28A1-0AF0-3D63-B9BDA709649D}"/>
              </a:ext>
            </a:extLst>
          </p:cNvPr>
          <p:cNvSpPr>
            <a:spLocks noGrp="1"/>
          </p:cNvSpPr>
          <p:nvPr>
            <p:ph type="dt" sz="half" idx="10"/>
          </p:nvPr>
        </p:nvSpPr>
        <p:spPr/>
        <p:txBody>
          <a:bodyPr/>
          <a:lstStyle/>
          <a:p>
            <a:fld id="{975EFCFF-695C-478D-8407-6EE52D7739D2}" type="datetime1">
              <a:rPr lang="el-GR" smtClean="0"/>
              <a:t>10/11/2023</a:t>
            </a:fld>
            <a:endParaRPr lang="el-GR"/>
          </a:p>
        </p:txBody>
      </p:sp>
      <p:sp>
        <p:nvSpPr>
          <p:cNvPr id="8" name="Footer Placeholder 7">
            <a:extLst>
              <a:ext uri="{FF2B5EF4-FFF2-40B4-BE49-F238E27FC236}">
                <a16:creationId xmlns:a16="http://schemas.microsoft.com/office/drawing/2014/main" id="{9B9B2172-B837-FA9D-4BAB-45A91C46B468}"/>
              </a:ext>
            </a:extLst>
          </p:cNvPr>
          <p:cNvSpPr>
            <a:spLocks noGrp="1"/>
          </p:cNvSpPr>
          <p:nvPr>
            <p:ph type="ftr" sz="quarter" idx="11"/>
          </p:nvPr>
        </p:nvSpPr>
        <p:spPr/>
        <p:txBody>
          <a:bodyPr/>
          <a:lstStyle/>
          <a:p>
            <a:endParaRPr lang="el-GR"/>
          </a:p>
        </p:txBody>
      </p:sp>
      <p:sp>
        <p:nvSpPr>
          <p:cNvPr id="9" name="Slide Number Placeholder 8">
            <a:extLst>
              <a:ext uri="{FF2B5EF4-FFF2-40B4-BE49-F238E27FC236}">
                <a16:creationId xmlns:a16="http://schemas.microsoft.com/office/drawing/2014/main" id="{22FE8162-03A1-210E-A2DF-6A5D59AA9999}"/>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1826068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7131-4AF8-2427-B205-0F82E60FCC28}"/>
              </a:ext>
            </a:extLst>
          </p:cNvPr>
          <p:cNvSpPr>
            <a:spLocks noGrp="1"/>
          </p:cNvSpPr>
          <p:nvPr>
            <p:ph type="title"/>
          </p:nvPr>
        </p:nvSpPr>
        <p:spPr/>
        <p:txBody>
          <a:bodyPr/>
          <a:lstStyle/>
          <a:p>
            <a:r>
              <a:rPr lang="en-US"/>
              <a:t>Click to edit Master title style</a:t>
            </a:r>
            <a:endParaRPr lang="el-GR"/>
          </a:p>
        </p:txBody>
      </p:sp>
      <p:sp>
        <p:nvSpPr>
          <p:cNvPr id="3" name="Date Placeholder 2">
            <a:extLst>
              <a:ext uri="{FF2B5EF4-FFF2-40B4-BE49-F238E27FC236}">
                <a16:creationId xmlns:a16="http://schemas.microsoft.com/office/drawing/2014/main" id="{888FBF7F-1112-2CC9-4004-58DD0A78B90D}"/>
              </a:ext>
            </a:extLst>
          </p:cNvPr>
          <p:cNvSpPr>
            <a:spLocks noGrp="1"/>
          </p:cNvSpPr>
          <p:nvPr>
            <p:ph type="dt" sz="half" idx="10"/>
          </p:nvPr>
        </p:nvSpPr>
        <p:spPr/>
        <p:txBody>
          <a:bodyPr/>
          <a:lstStyle/>
          <a:p>
            <a:fld id="{5C5F07F6-9D43-4E4F-BE78-EC1124ECEC92}" type="datetime1">
              <a:rPr lang="el-GR" smtClean="0"/>
              <a:t>10/11/2023</a:t>
            </a:fld>
            <a:endParaRPr lang="el-GR"/>
          </a:p>
        </p:txBody>
      </p:sp>
      <p:sp>
        <p:nvSpPr>
          <p:cNvPr id="4" name="Footer Placeholder 3">
            <a:extLst>
              <a:ext uri="{FF2B5EF4-FFF2-40B4-BE49-F238E27FC236}">
                <a16:creationId xmlns:a16="http://schemas.microsoft.com/office/drawing/2014/main" id="{3DEF74DE-5342-7600-B864-27D16F803FEA}"/>
              </a:ext>
            </a:extLst>
          </p:cNvPr>
          <p:cNvSpPr>
            <a:spLocks noGrp="1"/>
          </p:cNvSpPr>
          <p:nvPr>
            <p:ph type="ftr" sz="quarter" idx="11"/>
          </p:nvPr>
        </p:nvSpPr>
        <p:spPr/>
        <p:txBody>
          <a:bodyPr/>
          <a:lstStyle/>
          <a:p>
            <a:endParaRPr lang="el-GR"/>
          </a:p>
        </p:txBody>
      </p:sp>
      <p:sp>
        <p:nvSpPr>
          <p:cNvPr id="5" name="Slide Number Placeholder 4">
            <a:extLst>
              <a:ext uri="{FF2B5EF4-FFF2-40B4-BE49-F238E27FC236}">
                <a16:creationId xmlns:a16="http://schemas.microsoft.com/office/drawing/2014/main" id="{CC39A9D5-B009-848A-3CA6-5A1E07C0473A}"/>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3318136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510BEF-E580-E7FD-566D-8313CFC05602}"/>
              </a:ext>
            </a:extLst>
          </p:cNvPr>
          <p:cNvSpPr>
            <a:spLocks noGrp="1"/>
          </p:cNvSpPr>
          <p:nvPr>
            <p:ph type="dt" sz="half" idx="10"/>
          </p:nvPr>
        </p:nvSpPr>
        <p:spPr/>
        <p:txBody>
          <a:bodyPr/>
          <a:lstStyle/>
          <a:p>
            <a:fld id="{73383538-60BE-4DB1-9D69-A43EEEF4D56F}" type="datetime1">
              <a:rPr lang="el-GR" smtClean="0"/>
              <a:t>10/11/2023</a:t>
            </a:fld>
            <a:endParaRPr lang="el-GR"/>
          </a:p>
        </p:txBody>
      </p:sp>
      <p:sp>
        <p:nvSpPr>
          <p:cNvPr id="3" name="Footer Placeholder 2">
            <a:extLst>
              <a:ext uri="{FF2B5EF4-FFF2-40B4-BE49-F238E27FC236}">
                <a16:creationId xmlns:a16="http://schemas.microsoft.com/office/drawing/2014/main" id="{4055C96F-AE22-D25B-6791-56E837A1E127}"/>
              </a:ext>
            </a:extLst>
          </p:cNvPr>
          <p:cNvSpPr>
            <a:spLocks noGrp="1"/>
          </p:cNvSpPr>
          <p:nvPr>
            <p:ph type="ftr" sz="quarter" idx="11"/>
          </p:nvPr>
        </p:nvSpPr>
        <p:spPr/>
        <p:txBody>
          <a:bodyPr/>
          <a:lstStyle/>
          <a:p>
            <a:endParaRPr lang="el-GR"/>
          </a:p>
        </p:txBody>
      </p:sp>
      <p:sp>
        <p:nvSpPr>
          <p:cNvPr id="4" name="Slide Number Placeholder 3">
            <a:extLst>
              <a:ext uri="{FF2B5EF4-FFF2-40B4-BE49-F238E27FC236}">
                <a16:creationId xmlns:a16="http://schemas.microsoft.com/office/drawing/2014/main" id="{5625CD87-6112-30C2-D914-1148180D4D4B}"/>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4180507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84839-C545-88AF-D4E9-EEFE58688C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Content Placeholder 2">
            <a:extLst>
              <a:ext uri="{FF2B5EF4-FFF2-40B4-BE49-F238E27FC236}">
                <a16:creationId xmlns:a16="http://schemas.microsoft.com/office/drawing/2014/main" id="{1C86C4F1-6C4F-FB53-1DAD-A53C313C3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a:extLst>
              <a:ext uri="{FF2B5EF4-FFF2-40B4-BE49-F238E27FC236}">
                <a16:creationId xmlns:a16="http://schemas.microsoft.com/office/drawing/2014/main" id="{5CE8A968-35F3-94F3-A327-6A2726FA51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5AB3AE-ECF8-2F57-831D-CDD301E08E63}"/>
              </a:ext>
            </a:extLst>
          </p:cNvPr>
          <p:cNvSpPr>
            <a:spLocks noGrp="1"/>
          </p:cNvSpPr>
          <p:nvPr>
            <p:ph type="dt" sz="half" idx="10"/>
          </p:nvPr>
        </p:nvSpPr>
        <p:spPr/>
        <p:txBody>
          <a:bodyPr/>
          <a:lstStyle/>
          <a:p>
            <a:fld id="{5BC524F3-B12F-4189-AC5C-31D8C3827D5D}" type="datetime1">
              <a:rPr lang="el-GR" smtClean="0"/>
              <a:t>10/11/2023</a:t>
            </a:fld>
            <a:endParaRPr lang="el-GR"/>
          </a:p>
        </p:txBody>
      </p:sp>
      <p:sp>
        <p:nvSpPr>
          <p:cNvPr id="6" name="Footer Placeholder 5">
            <a:extLst>
              <a:ext uri="{FF2B5EF4-FFF2-40B4-BE49-F238E27FC236}">
                <a16:creationId xmlns:a16="http://schemas.microsoft.com/office/drawing/2014/main" id="{D779AA16-0EC1-90EC-EAFB-633C77D440D1}"/>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3B48BCDB-DCD2-048C-0F4A-C9EAA4BD860C}"/>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3832321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B187F-FB72-546B-74D2-5E4898AB9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Picture Placeholder 2">
            <a:extLst>
              <a:ext uri="{FF2B5EF4-FFF2-40B4-BE49-F238E27FC236}">
                <a16:creationId xmlns:a16="http://schemas.microsoft.com/office/drawing/2014/main" id="{910AFD6A-F160-7F7D-AF10-FB66145C05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a:extLst>
              <a:ext uri="{FF2B5EF4-FFF2-40B4-BE49-F238E27FC236}">
                <a16:creationId xmlns:a16="http://schemas.microsoft.com/office/drawing/2014/main" id="{AC95D949-1650-1266-0635-7FE0FFDF5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8F197E-161F-5902-6CB0-411713F24FFE}"/>
              </a:ext>
            </a:extLst>
          </p:cNvPr>
          <p:cNvSpPr>
            <a:spLocks noGrp="1"/>
          </p:cNvSpPr>
          <p:nvPr>
            <p:ph type="dt" sz="half" idx="10"/>
          </p:nvPr>
        </p:nvSpPr>
        <p:spPr/>
        <p:txBody>
          <a:bodyPr/>
          <a:lstStyle/>
          <a:p>
            <a:fld id="{FD1B87CF-5E35-47D8-A512-624092150E3C}" type="datetime1">
              <a:rPr lang="el-GR" smtClean="0"/>
              <a:t>10/11/2023</a:t>
            </a:fld>
            <a:endParaRPr lang="el-GR"/>
          </a:p>
        </p:txBody>
      </p:sp>
      <p:sp>
        <p:nvSpPr>
          <p:cNvPr id="6" name="Footer Placeholder 5">
            <a:extLst>
              <a:ext uri="{FF2B5EF4-FFF2-40B4-BE49-F238E27FC236}">
                <a16:creationId xmlns:a16="http://schemas.microsoft.com/office/drawing/2014/main" id="{6B638F47-CE14-9F8B-3FFB-2B937B2C4434}"/>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4B4868DE-3E6C-DD33-7136-D34A6DECDC2D}"/>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2490969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44A0-716C-A5F1-6F9A-00C4FAB8608C}"/>
              </a:ext>
            </a:extLst>
          </p:cNvPr>
          <p:cNvSpPr>
            <a:spLocks noGrp="1"/>
          </p:cNvSpPr>
          <p:nvPr>
            <p:ph type="title"/>
          </p:nvPr>
        </p:nvSpPr>
        <p:spPr/>
        <p:txBody>
          <a:bodyPr/>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34E00BEB-2117-31A1-D046-5F3CB042C5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C3E4319A-24DD-29BA-8D72-C0DB503AA514}"/>
              </a:ext>
            </a:extLst>
          </p:cNvPr>
          <p:cNvSpPr>
            <a:spLocks noGrp="1"/>
          </p:cNvSpPr>
          <p:nvPr>
            <p:ph type="dt" sz="half" idx="10"/>
          </p:nvPr>
        </p:nvSpPr>
        <p:spPr/>
        <p:txBody>
          <a:bodyPr/>
          <a:lstStyle/>
          <a:p>
            <a:fld id="{A57521D6-BA16-49B7-8396-4F1373AC3BC9}" type="datetime1">
              <a:rPr lang="el-GR" smtClean="0"/>
              <a:t>10/11/2023</a:t>
            </a:fld>
            <a:endParaRPr lang="el-GR"/>
          </a:p>
        </p:txBody>
      </p:sp>
      <p:sp>
        <p:nvSpPr>
          <p:cNvPr id="5" name="Footer Placeholder 4">
            <a:extLst>
              <a:ext uri="{FF2B5EF4-FFF2-40B4-BE49-F238E27FC236}">
                <a16:creationId xmlns:a16="http://schemas.microsoft.com/office/drawing/2014/main" id="{14B42132-9A12-B71E-861C-9287328A5E83}"/>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FBB7498B-0D93-8F63-1D3C-A1EE2907F1E8}"/>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85897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8B3988-B945-F10C-FF05-675AFE9214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733038E9-BDAB-69D1-80C2-77C5894399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6BF7F7E3-9431-9DC5-3728-85618CC00CCC}"/>
              </a:ext>
            </a:extLst>
          </p:cNvPr>
          <p:cNvSpPr>
            <a:spLocks noGrp="1"/>
          </p:cNvSpPr>
          <p:nvPr>
            <p:ph type="dt" sz="half" idx="10"/>
          </p:nvPr>
        </p:nvSpPr>
        <p:spPr/>
        <p:txBody>
          <a:bodyPr/>
          <a:lstStyle/>
          <a:p>
            <a:fld id="{696E933F-4C2C-4EBF-81B5-26E39D1BC64E}" type="datetime1">
              <a:rPr lang="el-GR" smtClean="0"/>
              <a:t>10/11/2023</a:t>
            </a:fld>
            <a:endParaRPr lang="el-GR"/>
          </a:p>
        </p:txBody>
      </p:sp>
      <p:sp>
        <p:nvSpPr>
          <p:cNvPr id="5" name="Footer Placeholder 4">
            <a:extLst>
              <a:ext uri="{FF2B5EF4-FFF2-40B4-BE49-F238E27FC236}">
                <a16:creationId xmlns:a16="http://schemas.microsoft.com/office/drawing/2014/main" id="{C233EC1D-DCD0-BDBC-2DC1-035E2E196549}"/>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FFE9681A-A072-F64F-D24B-82AAF14E598F}"/>
              </a:ext>
            </a:extLst>
          </p:cNvPr>
          <p:cNvSpPr>
            <a:spLocks noGrp="1"/>
          </p:cNvSpPr>
          <p:nvPr>
            <p:ph type="sldNum" sz="quarter" idx="12"/>
          </p:nvPr>
        </p:nvSpPr>
        <p:spPr/>
        <p:txBody>
          <a:bodyPr/>
          <a:lstStyle/>
          <a:p>
            <a:fld id="{67970022-DA33-4D55-8647-15AC71F72AFB}" type="slidenum">
              <a:rPr lang="el-GR" smtClean="0"/>
              <a:t>‹#›</a:t>
            </a:fld>
            <a:endParaRPr lang="el-GR"/>
          </a:p>
        </p:txBody>
      </p:sp>
    </p:spTree>
    <p:extLst>
      <p:ext uri="{BB962C8B-B14F-4D97-AF65-F5344CB8AC3E}">
        <p14:creationId xmlns:p14="http://schemas.microsoft.com/office/powerpoint/2010/main" val="2084190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438F84-0615-EFD9-507E-4A29995169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a:extLst>
              <a:ext uri="{FF2B5EF4-FFF2-40B4-BE49-F238E27FC236}">
                <a16:creationId xmlns:a16="http://schemas.microsoft.com/office/drawing/2014/main" id="{3E3349F1-AC8D-ED10-849E-8A79B68632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0EFBA64B-1A5E-0696-DF39-B6E12CE25E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E6612-F77C-425D-BC33-D1ED18E45EE9}" type="datetime1">
              <a:rPr lang="el-GR" smtClean="0"/>
              <a:t>10/11/2023</a:t>
            </a:fld>
            <a:endParaRPr lang="el-GR"/>
          </a:p>
        </p:txBody>
      </p:sp>
      <p:sp>
        <p:nvSpPr>
          <p:cNvPr id="5" name="Footer Placeholder 4">
            <a:extLst>
              <a:ext uri="{FF2B5EF4-FFF2-40B4-BE49-F238E27FC236}">
                <a16:creationId xmlns:a16="http://schemas.microsoft.com/office/drawing/2014/main" id="{DA3233EA-5E73-BA50-782E-D6A3C6D94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Slide Number Placeholder 5">
            <a:extLst>
              <a:ext uri="{FF2B5EF4-FFF2-40B4-BE49-F238E27FC236}">
                <a16:creationId xmlns:a16="http://schemas.microsoft.com/office/drawing/2014/main" id="{5A936D15-060E-FF7E-AA19-FB719D87F2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970022-DA33-4D55-8647-15AC71F72AFB}" type="slidenum">
              <a:rPr lang="el-GR" smtClean="0"/>
              <a:t>‹#›</a:t>
            </a:fld>
            <a:endParaRPr lang="el-GR"/>
          </a:p>
        </p:txBody>
      </p:sp>
    </p:spTree>
    <p:extLst>
      <p:ext uri="{BB962C8B-B14F-4D97-AF65-F5344CB8AC3E}">
        <p14:creationId xmlns:p14="http://schemas.microsoft.com/office/powerpoint/2010/main" val="3518119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pic>
        <p:nvPicPr>
          <p:cNvPr id="4" name="Picture 3" descr="A graph of red and blue bars&#10;&#10;Description automatically generated">
            <a:extLst>
              <a:ext uri="{FF2B5EF4-FFF2-40B4-BE49-F238E27FC236}">
                <a16:creationId xmlns:a16="http://schemas.microsoft.com/office/drawing/2014/main" id="{8D194429-8E8C-B28E-8ACC-86DE92B52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212" y="1729767"/>
            <a:ext cx="5774788" cy="3566133"/>
          </a:xfrm>
          <a:prstGeom prst="rect">
            <a:avLst/>
          </a:prstGeom>
        </p:spPr>
      </p:pic>
      <p:pic>
        <p:nvPicPr>
          <p:cNvPr id="7" name="Picture 6" descr="A graph of red and blue bars&#10;&#10;Description automatically generated">
            <a:extLst>
              <a:ext uri="{FF2B5EF4-FFF2-40B4-BE49-F238E27FC236}">
                <a16:creationId xmlns:a16="http://schemas.microsoft.com/office/drawing/2014/main" id="{7E7491AA-ECDB-14B9-F3E4-899F5C5676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7556" y="1729766"/>
            <a:ext cx="5774788" cy="3566133"/>
          </a:xfrm>
          <a:prstGeom prst="rect">
            <a:avLst/>
          </a:prstGeom>
        </p:spPr>
      </p:pic>
      <p:sp>
        <p:nvSpPr>
          <p:cNvPr id="10" name="Slide Number Placeholder 9">
            <a:extLst>
              <a:ext uri="{FF2B5EF4-FFF2-40B4-BE49-F238E27FC236}">
                <a16:creationId xmlns:a16="http://schemas.microsoft.com/office/drawing/2014/main" id="{DA4DAD7F-4287-675C-8D9E-02569E52B919}"/>
              </a:ext>
            </a:extLst>
          </p:cNvPr>
          <p:cNvSpPr>
            <a:spLocks noGrp="1"/>
          </p:cNvSpPr>
          <p:nvPr>
            <p:ph type="sldNum" sz="quarter" idx="12"/>
          </p:nvPr>
        </p:nvSpPr>
        <p:spPr/>
        <p:txBody>
          <a:bodyPr/>
          <a:lstStyle/>
          <a:p>
            <a:fld id="{67970022-DA33-4D55-8647-15AC71F72AFB}" type="slidenum">
              <a:rPr lang="el-GR" smtClean="0"/>
              <a:t>1</a:t>
            </a:fld>
            <a:endParaRPr lang="el-GR"/>
          </a:p>
        </p:txBody>
      </p:sp>
      <p:sp>
        <p:nvSpPr>
          <p:cNvPr id="12" name="TextBox 11">
            <a:extLst>
              <a:ext uri="{FF2B5EF4-FFF2-40B4-BE49-F238E27FC236}">
                <a16:creationId xmlns:a16="http://schemas.microsoft.com/office/drawing/2014/main" id="{7C68A43A-B2C5-EA73-50BE-61A6D1CC3ACF}"/>
              </a:ext>
            </a:extLst>
          </p:cNvPr>
          <p:cNvSpPr txBox="1"/>
          <p:nvPr/>
        </p:nvSpPr>
        <p:spPr>
          <a:xfrm>
            <a:off x="838200" y="5710019"/>
            <a:ext cx="7572375" cy="923330"/>
          </a:xfrm>
          <a:prstGeom prst="rect">
            <a:avLst/>
          </a:prstGeom>
          <a:noFill/>
        </p:spPr>
        <p:txBody>
          <a:bodyPr wrap="square" rtlCol="0">
            <a:spAutoFit/>
          </a:bodyPr>
          <a:lstStyle/>
          <a:p>
            <a:pPr marL="285750" indent="-285750">
              <a:buFont typeface="Arial" panose="020B0604020202020204" pitchFamily="34" charset="0"/>
              <a:buChar char="•"/>
            </a:pPr>
            <a:r>
              <a:rPr lang="en-US" dirty="0"/>
              <a:t>Both are faster at Repeat than Switch trials.</a:t>
            </a:r>
          </a:p>
          <a:p>
            <a:pPr marL="285750" indent="-285750">
              <a:buFont typeface="Arial" panose="020B0604020202020204" pitchFamily="34" charset="0"/>
              <a:buChar char="•"/>
            </a:pPr>
            <a:r>
              <a:rPr lang="en-US" dirty="0"/>
              <a:t>Pilot 1 is overall slower than Pilot 2. </a:t>
            </a:r>
          </a:p>
          <a:p>
            <a:pPr marL="285750" indent="-285750">
              <a:buFont typeface="Arial" panose="020B0604020202020204" pitchFamily="34" charset="0"/>
              <a:buChar char="•"/>
            </a:pPr>
            <a:endParaRPr lang="el-GR" dirty="0"/>
          </a:p>
        </p:txBody>
      </p:sp>
    </p:spTree>
    <p:extLst>
      <p:ext uri="{BB962C8B-B14F-4D97-AF65-F5344CB8AC3E}">
        <p14:creationId xmlns:p14="http://schemas.microsoft.com/office/powerpoint/2010/main" val="376052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pic>
        <p:nvPicPr>
          <p:cNvPr id="4" name="Picture 3" descr="A graph with red and blue squares&#10;&#10;Description automatically generated">
            <a:extLst>
              <a:ext uri="{FF2B5EF4-FFF2-40B4-BE49-F238E27FC236}">
                <a16:creationId xmlns:a16="http://schemas.microsoft.com/office/drawing/2014/main" id="{666D1ADE-ECB0-1F4B-E606-CE8B880AF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82" y="1809281"/>
            <a:ext cx="5399318" cy="3334267"/>
          </a:xfrm>
          <a:prstGeom prst="rect">
            <a:avLst/>
          </a:prstGeom>
        </p:spPr>
      </p:pic>
      <p:pic>
        <p:nvPicPr>
          <p:cNvPr id="7" name="Picture 6" descr="A red and blue rectangles&#10;&#10;Description automatically generated">
            <a:extLst>
              <a:ext uri="{FF2B5EF4-FFF2-40B4-BE49-F238E27FC236}">
                <a16:creationId xmlns:a16="http://schemas.microsoft.com/office/drawing/2014/main" id="{445E43A3-DD18-9F86-5C60-5782C06A31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6766" y="1809281"/>
            <a:ext cx="5661452" cy="3496144"/>
          </a:xfrm>
          <a:prstGeom prst="rect">
            <a:avLst/>
          </a:prstGeom>
        </p:spPr>
      </p:pic>
      <p:sp>
        <p:nvSpPr>
          <p:cNvPr id="2" name="Slide Number Placeholder 1">
            <a:extLst>
              <a:ext uri="{FF2B5EF4-FFF2-40B4-BE49-F238E27FC236}">
                <a16:creationId xmlns:a16="http://schemas.microsoft.com/office/drawing/2014/main" id="{006645F9-7517-2583-387B-97652C0B99C0}"/>
              </a:ext>
            </a:extLst>
          </p:cNvPr>
          <p:cNvSpPr>
            <a:spLocks noGrp="1"/>
          </p:cNvSpPr>
          <p:nvPr>
            <p:ph type="sldNum" sz="quarter" idx="12"/>
          </p:nvPr>
        </p:nvSpPr>
        <p:spPr/>
        <p:txBody>
          <a:bodyPr/>
          <a:lstStyle/>
          <a:p>
            <a:fld id="{67970022-DA33-4D55-8647-15AC71F72AFB}" type="slidenum">
              <a:rPr lang="el-GR" smtClean="0"/>
              <a:t>2</a:t>
            </a:fld>
            <a:endParaRPr lang="el-GR"/>
          </a:p>
        </p:txBody>
      </p:sp>
      <p:sp>
        <p:nvSpPr>
          <p:cNvPr id="3" name="TextBox 2">
            <a:extLst>
              <a:ext uri="{FF2B5EF4-FFF2-40B4-BE49-F238E27FC236}">
                <a16:creationId xmlns:a16="http://schemas.microsoft.com/office/drawing/2014/main" id="{D63A4F23-D458-1345-49E5-74EA3C17102C}"/>
              </a:ext>
            </a:extLst>
          </p:cNvPr>
          <p:cNvSpPr txBox="1"/>
          <p:nvPr/>
        </p:nvSpPr>
        <p:spPr>
          <a:xfrm>
            <a:off x="1602105" y="5687584"/>
            <a:ext cx="7894319" cy="923330"/>
          </a:xfrm>
          <a:prstGeom prst="rect">
            <a:avLst/>
          </a:prstGeom>
          <a:noFill/>
        </p:spPr>
        <p:txBody>
          <a:bodyPr wrap="square" rtlCol="0">
            <a:spAutoFit/>
          </a:bodyPr>
          <a:lstStyle/>
          <a:p>
            <a:pPr marL="285750" indent="-285750">
              <a:buFont typeface="Arial" panose="020B0604020202020204" pitchFamily="34" charset="0"/>
              <a:buChar char="•"/>
            </a:pPr>
            <a:r>
              <a:rPr lang="en-US" dirty="0"/>
              <a:t>Both pilots are slower to switch to Speak than they are to switch to Type.</a:t>
            </a:r>
          </a:p>
          <a:p>
            <a:pPr marL="285750" indent="-285750">
              <a:buFont typeface="Arial" panose="020B0604020202020204" pitchFamily="34" charset="0"/>
              <a:buChar char="•"/>
            </a:pPr>
            <a:r>
              <a:rPr lang="en-US" dirty="0"/>
              <a:t>The difference of the </a:t>
            </a:r>
            <a:r>
              <a:rPr lang="el-GR" dirty="0"/>
              <a:t>Δ</a:t>
            </a:r>
            <a:r>
              <a:rPr lang="en-US" dirty="0"/>
              <a:t> for Speak and for Type is much bigger for Pilot 1 than for Pilot 2.</a:t>
            </a:r>
            <a:endParaRPr lang="el-GR" dirty="0"/>
          </a:p>
        </p:txBody>
      </p:sp>
    </p:spTree>
    <p:extLst>
      <p:ext uri="{BB962C8B-B14F-4D97-AF65-F5344CB8AC3E}">
        <p14:creationId xmlns:p14="http://schemas.microsoft.com/office/powerpoint/2010/main" val="2769532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sp>
        <p:nvSpPr>
          <p:cNvPr id="2" name="Slide Number Placeholder 1">
            <a:extLst>
              <a:ext uri="{FF2B5EF4-FFF2-40B4-BE49-F238E27FC236}">
                <a16:creationId xmlns:a16="http://schemas.microsoft.com/office/drawing/2014/main" id="{F811350F-EC25-4D34-5B6B-CE0F5F7280C6}"/>
              </a:ext>
            </a:extLst>
          </p:cNvPr>
          <p:cNvSpPr>
            <a:spLocks noGrp="1"/>
          </p:cNvSpPr>
          <p:nvPr>
            <p:ph type="sldNum" sz="quarter" idx="12"/>
          </p:nvPr>
        </p:nvSpPr>
        <p:spPr/>
        <p:txBody>
          <a:bodyPr/>
          <a:lstStyle/>
          <a:p>
            <a:fld id="{67970022-DA33-4D55-8647-15AC71F72AFB}" type="slidenum">
              <a:rPr lang="el-GR" smtClean="0"/>
              <a:t>3</a:t>
            </a:fld>
            <a:endParaRPr lang="el-GR" dirty="0"/>
          </a:p>
        </p:txBody>
      </p:sp>
      <p:pic>
        <p:nvPicPr>
          <p:cNvPr id="5" name="Picture 4" descr="A graph of red and blue bars&#10;&#10;Description automatically generated">
            <a:extLst>
              <a:ext uri="{FF2B5EF4-FFF2-40B4-BE49-F238E27FC236}">
                <a16:creationId xmlns:a16="http://schemas.microsoft.com/office/drawing/2014/main" id="{4954F204-2A01-A026-6E8E-86187DED1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33" y="1738035"/>
            <a:ext cx="5880842" cy="3631625"/>
          </a:xfrm>
          <a:prstGeom prst="rect">
            <a:avLst/>
          </a:prstGeom>
        </p:spPr>
      </p:pic>
      <p:pic>
        <p:nvPicPr>
          <p:cNvPr id="10" name="Picture 9" descr="A graph of red and blue bars&#10;&#10;Description automatically generated">
            <a:extLst>
              <a:ext uri="{FF2B5EF4-FFF2-40B4-BE49-F238E27FC236}">
                <a16:creationId xmlns:a16="http://schemas.microsoft.com/office/drawing/2014/main" id="{8778CA84-2EF1-891B-524D-F7AD34D0D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6407" y="1677903"/>
            <a:ext cx="6075593" cy="3751890"/>
          </a:xfrm>
          <a:prstGeom prst="rect">
            <a:avLst/>
          </a:prstGeom>
        </p:spPr>
      </p:pic>
      <p:sp>
        <p:nvSpPr>
          <p:cNvPr id="11" name="TextBox 10">
            <a:extLst>
              <a:ext uri="{FF2B5EF4-FFF2-40B4-BE49-F238E27FC236}">
                <a16:creationId xmlns:a16="http://schemas.microsoft.com/office/drawing/2014/main" id="{9BA91EDE-DA4B-3E16-8651-DBF16F830824}"/>
              </a:ext>
            </a:extLst>
          </p:cNvPr>
          <p:cNvSpPr txBox="1"/>
          <p:nvPr/>
        </p:nvSpPr>
        <p:spPr>
          <a:xfrm>
            <a:off x="2024062" y="5521146"/>
            <a:ext cx="814387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Both show longer durations for Type than for Speak. </a:t>
            </a:r>
          </a:p>
          <a:p>
            <a:pPr marL="285750" indent="-285750">
              <a:buFont typeface="Arial" panose="020B0604020202020204" pitchFamily="34" charset="0"/>
              <a:buChar char="•"/>
            </a:pPr>
            <a:r>
              <a:rPr lang="en-US" dirty="0"/>
              <a:t>In Speak, the durations are slightly shorter for Switch than for Repeat trials. The inversed applies to Type.</a:t>
            </a:r>
          </a:p>
          <a:p>
            <a:pPr marL="285750" indent="-285750">
              <a:buFont typeface="Arial" panose="020B0604020202020204" pitchFamily="34" charset="0"/>
              <a:buChar char="•"/>
            </a:pPr>
            <a:r>
              <a:rPr lang="en-US" dirty="0"/>
              <a:t>Pilot 1 shows longer durations than Pilot 2 in all conditions.</a:t>
            </a:r>
          </a:p>
        </p:txBody>
      </p:sp>
    </p:spTree>
    <p:extLst>
      <p:ext uri="{BB962C8B-B14F-4D97-AF65-F5344CB8AC3E}">
        <p14:creationId xmlns:p14="http://schemas.microsoft.com/office/powerpoint/2010/main" val="920408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pic>
        <p:nvPicPr>
          <p:cNvPr id="4" name="Picture 3" descr="A graph with red and blue squares&#10;&#10;Description automatically generated">
            <a:extLst>
              <a:ext uri="{FF2B5EF4-FFF2-40B4-BE49-F238E27FC236}">
                <a16:creationId xmlns:a16="http://schemas.microsoft.com/office/drawing/2014/main" id="{047EC585-267F-47D5-4E51-D7A93B763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778" y="1651039"/>
            <a:ext cx="5504772" cy="3399389"/>
          </a:xfrm>
          <a:prstGeom prst="rect">
            <a:avLst/>
          </a:prstGeom>
        </p:spPr>
      </p:pic>
      <p:sp>
        <p:nvSpPr>
          <p:cNvPr id="2" name="Slide Number Placeholder 1">
            <a:extLst>
              <a:ext uri="{FF2B5EF4-FFF2-40B4-BE49-F238E27FC236}">
                <a16:creationId xmlns:a16="http://schemas.microsoft.com/office/drawing/2014/main" id="{82784F46-0592-E0EB-5CD7-CAF67C973390}"/>
              </a:ext>
            </a:extLst>
          </p:cNvPr>
          <p:cNvSpPr>
            <a:spLocks noGrp="1"/>
          </p:cNvSpPr>
          <p:nvPr>
            <p:ph type="sldNum" sz="quarter" idx="12"/>
          </p:nvPr>
        </p:nvSpPr>
        <p:spPr/>
        <p:txBody>
          <a:bodyPr/>
          <a:lstStyle/>
          <a:p>
            <a:fld id="{67970022-DA33-4D55-8647-15AC71F72AFB}" type="slidenum">
              <a:rPr lang="el-GR" smtClean="0"/>
              <a:t>4</a:t>
            </a:fld>
            <a:endParaRPr lang="el-GR"/>
          </a:p>
        </p:txBody>
      </p:sp>
      <p:pic>
        <p:nvPicPr>
          <p:cNvPr id="5" name="Picture 4" descr="A graph with a blue and red rectangle&#10;&#10;Description automatically generated">
            <a:extLst>
              <a:ext uri="{FF2B5EF4-FFF2-40B4-BE49-F238E27FC236}">
                <a16:creationId xmlns:a16="http://schemas.microsoft.com/office/drawing/2014/main" id="{7C6129DC-618E-9C62-25CA-7C4BC92EB9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1004" y="1565959"/>
            <a:ext cx="5642546" cy="3484469"/>
          </a:xfrm>
          <a:prstGeom prst="rect">
            <a:avLst/>
          </a:prstGeom>
        </p:spPr>
      </p:pic>
      <p:sp>
        <p:nvSpPr>
          <p:cNvPr id="6" name="TextBox 5">
            <a:extLst>
              <a:ext uri="{FF2B5EF4-FFF2-40B4-BE49-F238E27FC236}">
                <a16:creationId xmlns:a16="http://schemas.microsoft.com/office/drawing/2014/main" id="{A0D7B186-6E5E-1364-9461-A28D5F511482}"/>
              </a:ext>
            </a:extLst>
          </p:cNvPr>
          <p:cNvSpPr txBox="1"/>
          <p:nvPr/>
        </p:nvSpPr>
        <p:spPr>
          <a:xfrm>
            <a:off x="1266825" y="5505450"/>
            <a:ext cx="10086975" cy="923330"/>
          </a:xfrm>
          <a:prstGeom prst="rect">
            <a:avLst/>
          </a:prstGeom>
          <a:noFill/>
        </p:spPr>
        <p:txBody>
          <a:bodyPr wrap="square" rtlCol="0">
            <a:spAutoFit/>
          </a:bodyPr>
          <a:lstStyle/>
          <a:p>
            <a:pPr marL="285750" indent="-285750">
              <a:buFont typeface="Arial" panose="020B0604020202020204" pitchFamily="34" charset="0"/>
              <a:buChar char="•"/>
            </a:pPr>
            <a:r>
              <a:rPr lang="en-US" dirty="0"/>
              <a:t>Both pilots are faster to Switch to Speak than Repeat Speak. They are both slower to Switch to Type than Repeat Type. </a:t>
            </a:r>
          </a:p>
          <a:p>
            <a:pPr marL="285750" indent="-285750">
              <a:buFont typeface="Arial" panose="020B0604020202020204" pitchFamily="34" charset="0"/>
              <a:buChar char="•"/>
            </a:pPr>
            <a:r>
              <a:rPr lang="en-US" dirty="0"/>
              <a:t>Pilot 1 is slower to Switch to Speak than Pilot 2. Pilot 2 is much slower to Switch to Type than Pilot 2.</a:t>
            </a:r>
            <a:endParaRPr lang="el-GR" dirty="0"/>
          </a:p>
        </p:txBody>
      </p:sp>
    </p:spTree>
    <p:extLst>
      <p:ext uri="{BB962C8B-B14F-4D97-AF65-F5344CB8AC3E}">
        <p14:creationId xmlns:p14="http://schemas.microsoft.com/office/powerpoint/2010/main" val="2261393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681752"/>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19975" y="681752"/>
            <a:ext cx="3314700" cy="369332"/>
          </a:xfrm>
          <a:prstGeom prst="rect">
            <a:avLst/>
          </a:prstGeom>
          <a:noFill/>
        </p:spPr>
        <p:txBody>
          <a:bodyPr wrap="square" rtlCol="0">
            <a:spAutoFit/>
          </a:bodyPr>
          <a:lstStyle/>
          <a:p>
            <a:pPr algn="ctr"/>
            <a:r>
              <a:rPr lang="en-US" dirty="0"/>
              <a:t>PILOT 2</a:t>
            </a:r>
            <a:endParaRPr lang="el-GR" dirty="0"/>
          </a:p>
        </p:txBody>
      </p:sp>
      <p:sp>
        <p:nvSpPr>
          <p:cNvPr id="2" name="Slide Number Placeholder 1">
            <a:extLst>
              <a:ext uri="{FF2B5EF4-FFF2-40B4-BE49-F238E27FC236}">
                <a16:creationId xmlns:a16="http://schemas.microsoft.com/office/drawing/2014/main" id="{DE5F8928-69AE-7A34-36CF-49A7AEFB57B5}"/>
              </a:ext>
            </a:extLst>
          </p:cNvPr>
          <p:cNvSpPr>
            <a:spLocks noGrp="1"/>
          </p:cNvSpPr>
          <p:nvPr>
            <p:ph type="sldNum" sz="quarter" idx="12"/>
          </p:nvPr>
        </p:nvSpPr>
        <p:spPr/>
        <p:txBody>
          <a:bodyPr/>
          <a:lstStyle/>
          <a:p>
            <a:fld id="{67970022-DA33-4D55-8647-15AC71F72AFB}" type="slidenum">
              <a:rPr lang="el-GR" smtClean="0"/>
              <a:t>5</a:t>
            </a:fld>
            <a:endParaRPr lang="el-GR"/>
          </a:p>
        </p:txBody>
      </p:sp>
      <p:pic>
        <p:nvPicPr>
          <p:cNvPr id="5" name="Picture 4" descr="A graph of different colors and numbers&#10;&#10;Description automatically generated">
            <a:extLst>
              <a:ext uri="{FF2B5EF4-FFF2-40B4-BE49-F238E27FC236}">
                <a16:creationId xmlns:a16="http://schemas.microsoft.com/office/drawing/2014/main" id="{9BEFA509-C668-6182-9126-CFD400D48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41" y="1051084"/>
            <a:ext cx="5919109" cy="3655256"/>
          </a:xfrm>
          <a:prstGeom prst="rect">
            <a:avLst/>
          </a:prstGeom>
        </p:spPr>
      </p:pic>
      <p:sp>
        <p:nvSpPr>
          <p:cNvPr id="11" name="TextBox 10">
            <a:extLst>
              <a:ext uri="{FF2B5EF4-FFF2-40B4-BE49-F238E27FC236}">
                <a16:creationId xmlns:a16="http://schemas.microsoft.com/office/drawing/2014/main" id="{F3D503BD-9556-D642-1986-09F16AB43573}"/>
              </a:ext>
            </a:extLst>
          </p:cNvPr>
          <p:cNvSpPr txBox="1"/>
          <p:nvPr/>
        </p:nvSpPr>
        <p:spPr>
          <a:xfrm>
            <a:off x="714375" y="4975919"/>
            <a:ext cx="1076325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Pilot 1 does not show signs of fatigue throughout the experiment: RTs for Speak and Type are very close in the First and Second part of the task, then become faster during the Third part and then we see some signs of fatigue for Type during the Fourth part.</a:t>
            </a:r>
          </a:p>
          <a:p>
            <a:pPr marL="285750" indent="-285750">
              <a:buFont typeface="Arial" panose="020B0604020202020204" pitchFamily="34" charset="0"/>
              <a:buChar char="•"/>
            </a:pPr>
            <a:r>
              <a:rPr lang="en-US" dirty="0"/>
              <a:t>Pilot 2 becomes faster from the First to the Second to the Third part and then more or less preserves the speed of naming throughout the Fourth part. No signs of fatigue.</a:t>
            </a:r>
          </a:p>
        </p:txBody>
      </p:sp>
      <p:pic>
        <p:nvPicPr>
          <p:cNvPr id="13" name="Picture 12" descr="A graph of multiple colors&#10;&#10;Description automatically generated with medium confidence">
            <a:extLst>
              <a:ext uri="{FF2B5EF4-FFF2-40B4-BE49-F238E27FC236}">
                <a16:creationId xmlns:a16="http://schemas.microsoft.com/office/drawing/2014/main" id="{36CA858B-3AEF-1A9A-3C9B-49EB67308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7770" y="1051084"/>
            <a:ext cx="5919110" cy="3655257"/>
          </a:xfrm>
          <a:prstGeom prst="rect">
            <a:avLst/>
          </a:prstGeom>
        </p:spPr>
      </p:pic>
    </p:spTree>
    <p:extLst>
      <p:ext uri="{BB962C8B-B14F-4D97-AF65-F5344CB8AC3E}">
        <p14:creationId xmlns:p14="http://schemas.microsoft.com/office/powerpoint/2010/main" val="1769403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sp>
        <p:nvSpPr>
          <p:cNvPr id="2" name="Slide Number Placeholder 1">
            <a:extLst>
              <a:ext uri="{FF2B5EF4-FFF2-40B4-BE49-F238E27FC236}">
                <a16:creationId xmlns:a16="http://schemas.microsoft.com/office/drawing/2014/main" id="{793274F3-1CD7-7F69-E978-9B7F45449502}"/>
              </a:ext>
            </a:extLst>
          </p:cNvPr>
          <p:cNvSpPr>
            <a:spLocks noGrp="1"/>
          </p:cNvSpPr>
          <p:nvPr>
            <p:ph type="sldNum" sz="quarter" idx="12"/>
          </p:nvPr>
        </p:nvSpPr>
        <p:spPr/>
        <p:txBody>
          <a:bodyPr/>
          <a:lstStyle/>
          <a:p>
            <a:fld id="{67970022-DA33-4D55-8647-15AC71F72AFB}" type="slidenum">
              <a:rPr lang="el-GR" smtClean="0"/>
              <a:t>6</a:t>
            </a:fld>
            <a:endParaRPr lang="el-GR"/>
          </a:p>
        </p:txBody>
      </p:sp>
      <p:pic>
        <p:nvPicPr>
          <p:cNvPr id="12" name="Picture 11" descr="A graph of different types of air quality&#10;&#10;Description automatically generated with medium confidence">
            <a:extLst>
              <a:ext uri="{FF2B5EF4-FFF2-40B4-BE49-F238E27FC236}">
                <a16:creationId xmlns:a16="http://schemas.microsoft.com/office/drawing/2014/main" id="{F71667D9-1A51-A2C3-7C9E-7CDC6CC7B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346" y="1613855"/>
            <a:ext cx="6039654" cy="3729697"/>
          </a:xfrm>
          <a:prstGeom prst="rect">
            <a:avLst/>
          </a:prstGeom>
        </p:spPr>
      </p:pic>
      <p:pic>
        <p:nvPicPr>
          <p:cNvPr id="14" name="Picture 13" descr="A graph of different types of air quality&#10;&#10;Description automatically generated with medium confidence">
            <a:extLst>
              <a:ext uri="{FF2B5EF4-FFF2-40B4-BE49-F238E27FC236}">
                <a16:creationId xmlns:a16="http://schemas.microsoft.com/office/drawing/2014/main" id="{3C147B3C-88DB-4FED-D31A-117627DC9A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46" y="1613856"/>
            <a:ext cx="6039654" cy="3729697"/>
          </a:xfrm>
          <a:prstGeom prst="rect">
            <a:avLst/>
          </a:prstGeom>
        </p:spPr>
      </p:pic>
      <p:sp>
        <p:nvSpPr>
          <p:cNvPr id="15" name="TextBox 14">
            <a:extLst>
              <a:ext uri="{FF2B5EF4-FFF2-40B4-BE49-F238E27FC236}">
                <a16:creationId xmlns:a16="http://schemas.microsoft.com/office/drawing/2014/main" id="{69DA4DA8-848F-C916-51B4-544005C43D79}"/>
              </a:ext>
            </a:extLst>
          </p:cNvPr>
          <p:cNvSpPr txBox="1"/>
          <p:nvPr/>
        </p:nvSpPr>
        <p:spPr>
          <a:xfrm>
            <a:off x="400050" y="5524570"/>
            <a:ext cx="115824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Pilot 1: Overall, faster for the target trials (Pilot) than the Baseline trials. Faster in Repeat than Switch apart from Baseline Type. Baseline and Pilot: faster in Speak.</a:t>
            </a:r>
          </a:p>
          <a:p>
            <a:pPr marL="285750" indent="-285750">
              <a:buFont typeface="Arial" panose="020B0604020202020204" pitchFamily="34" charset="0"/>
              <a:buChar char="•"/>
            </a:pPr>
            <a:r>
              <a:rPr lang="en-US" dirty="0"/>
              <a:t>Pilot 2: Baseline: faster in Speak, faster in Switch in Type. Pilot: faster in Speak, faster in Repeat. Overall, faster in both Speak and Type compared to Response modality RTs in the Baseline.</a:t>
            </a:r>
            <a:endParaRPr lang="el-GR" dirty="0"/>
          </a:p>
        </p:txBody>
      </p:sp>
    </p:spTree>
    <p:extLst>
      <p:ext uri="{BB962C8B-B14F-4D97-AF65-F5344CB8AC3E}">
        <p14:creationId xmlns:p14="http://schemas.microsoft.com/office/powerpoint/2010/main" val="2584184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sp>
        <p:nvSpPr>
          <p:cNvPr id="2" name="Slide Number Placeholder 1">
            <a:extLst>
              <a:ext uri="{FF2B5EF4-FFF2-40B4-BE49-F238E27FC236}">
                <a16:creationId xmlns:a16="http://schemas.microsoft.com/office/drawing/2014/main" id="{6D3FFD1C-9CD6-C6A9-183D-846F46F50B4F}"/>
              </a:ext>
            </a:extLst>
          </p:cNvPr>
          <p:cNvSpPr>
            <a:spLocks noGrp="1"/>
          </p:cNvSpPr>
          <p:nvPr>
            <p:ph type="sldNum" sz="quarter" idx="12"/>
          </p:nvPr>
        </p:nvSpPr>
        <p:spPr/>
        <p:txBody>
          <a:bodyPr/>
          <a:lstStyle/>
          <a:p>
            <a:fld id="{67970022-DA33-4D55-8647-15AC71F72AFB}" type="slidenum">
              <a:rPr lang="el-GR" smtClean="0"/>
              <a:t>7</a:t>
            </a:fld>
            <a:endParaRPr lang="el-GR"/>
          </a:p>
        </p:txBody>
      </p:sp>
      <p:pic>
        <p:nvPicPr>
          <p:cNvPr id="5" name="Picture 4" descr="A graph with red and blue bars&#10;&#10;Description automatically generated">
            <a:extLst>
              <a:ext uri="{FF2B5EF4-FFF2-40B4-BE49-F238E27FC236}">
                <a16:creationId xmlns:a16="http://schemas.microsoft.com/office/drawing/2014/main" id="{7F28D1F9-9619-7CEC-B828-535740DF6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116" y="1624012"/>
            <a:ext cx="5845784" cy="3609975"/>
          </a:xfrm>
          <a:prstGeom prst="rect">
            <a:avLst/>
          </a:prstGeom>
        </p:spPr>
      </p:pic>
      <p:pic>
        <p:nvPicPr>
          <p:cNvPr id="10" name="Picture 9" descr="A graph with red and blue bars&#10;&#10;Description automatically generated">
            <a:extLst>
              <a:ext uri="{FF2B5EF4-FFF2-40B4-BE49-F238E27FC236}">
                <a16:creationId xmlns:a16="http://schemas.microsoft.com/office/drawing/2014/main" id="{11998F85-575A-FCB2-05ED-4A505A96BC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4102" y="1624012"/>
            <a:ext cx="6047056" cy="3734268"/>
          </a:xfrm>
          <a:prstGeom prst="rect">
            <a:avLst/>
          </a:prstGeom>
        </p:spPr>
      </p:pic>
      <p:sp>
        <p:nvSpPr>
          <p:cNvPr id="11" name="TextBox 10">
            <a:extLst>
              <a:ext uri="{FF2B5EF4-FFF2-40B4-BE49-F238E27FC236}">
                <a16:creationId xmlns:a16="http://schemas.microsoft.com/office/drawing/2014/main" id="{076FFC87-8CC3-61BB-C52A-7CD51DEEE11C}"/>
              </a:ext>
            </a:extLst>
          </p:cNvPr>
          <p:cNvSpPr txBox="1"/>
          <p:nvPr/>
        </p:nvSpPr>
        <p:spPr>
          <a:xfrm>
            <a:off x="742950" y="5775047"/>
            <a:ext cx="11182350" cy="923330"/>
          </a:xfrm>
          <a:prstGeom prst="rect">
            <a:avLst/>
          </a:prstGeom>
          <a:noFill/>
        </p:spPr>
        <p:txBody>
          <a:bodyPr wrap="square" rtlCol="0">
            <a:spAutoFit/>
          </a:bodyPr>
          <a:lstStyle/>
          <a:p>
            <a:pPr marL="285750" indent="-285750">
              <a:buFont typeface="Arial" panose="020B0604020202020204" pitchFamily="34" charset="0"/>
              <a:buChar char="•"/>
            </a:pPr>
            <a:r>
              <a:rPr lang="en-US" dirty="0"/>
              <a:t>Both show longer baseline durations for Type than for Speak. In Type they are faster in Repeat than Switch. In Speak they are faster in Switch than Repeat.</a:t>
            </a:r>
          </a:p>
          <a:p>
            <a:pPr marL="285750" indent="-285750">
              <a:buFont typeface="Arial" panose="020B0604020202020204" pitchFamily="34" charset="0"/>
              <a:buChar char="•"/>
            </a:pPr>
            <a:r>
              <a:rPr lang="en-US" dirty="0"/>
              <a:t>Again, Pilot 1 indicates overall longer durations than Pilot 2. </a:t>
            </a:r>
            <a:endParaRPr lang="el-GR" dirty="0"/>
          </a:p>
        </p:txBody>
      </p:sp>
    </p:spTree>
    <p:extLst>
      <p:ext uri="{BB962C8B-B14F-4D97-AF65-F5344CB8AC3E}">
        <p14:creationId xmlns:p14="http://schemas.microsoft.com/office/powerpoint/2010/main" val="4207770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pic>
        <p:nvPicPr>
          <p:cNvPr id="4" name="Picture 3" descr="A graph with red and blue squares&#10;&#10;Description automatically generated">
            <a:extLst>
              <a:ext uri="{FF2B5EF4-FFF2-40B4-BE49-F238E27FC236}">
                <a16:creationId xmlns:a16="http://schemas.microsoft.com/office/drawing/2014/main" id="{24F9A7C1-5FBF-5C83-220F-7A291D171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25" y="1885950"/>
            <a:ext cx="5552723" cy="3429000"/>
          </a:xfrm>
          <a:prstGeom prst="rect">
            <a:avLst/>
          </a:prstGeom>
        </p:spPr>
      </p:pic>
      <p:pic>
        <p:nvPicPr>
          <p:cNvPr id="7" name="Picture 6" descr="A graph with red and blue squares&#10;&#10;Description automatically generated">
            <a:extLst>
              <a:ext uri="{FF2B5EF4-FFF2-40B4-BE49-F238E27FC236}">
                <a16:creationId xmlns:a16="http://schemas.microsoft.com/office/drawing/2014/main" id="{A8F9BD46-E5CA-B38A-1088-534A737D49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0152" y="1798542"/>
            <a:ext cx="5694266" cy="3516408"/>
          </a:xfrm>
          <a:prstGeom prst="rect">
            <a:avLst/>
          </a:prstGeom>
        </p:spPr>
      </p:pic>
      <p:sp>
        <p:nvSpPr>
          <p:cNvPr id="2" name="Slide Number Placeholder 1">
            <a:extLst>
              <a:ext uri="{FF2B5EF4-FFF2-40B4-BE49-F238E27FC236}">
                <a16:creationId xmlns:a16="http://schemas.microsoft.com/office/drawing/2014/main" id="{6354DCC4-F6B4-FFB5-1133-4FBD3DD293D4}"/>
              </a:ext>
            </a:extLst>
          </p:cNvPr>
          <p:cNvSpPr>
            <a:spLocks noGrp="1"/>
          </p:cNvSpPr>
          <p:nvPr>
            <p:ph type="sldNum" sz="quarter" idx="12"/>
          </p:nvPr>
        </p:nvSpPr>
        <p:spPr/>
        <p:txBody>
          <a:bodyPr/>
          <a:lstStyle/>
          <a:p>
            <a:fld id="{67970022-DA33-4D55-8647-15AC71F72AFB}" type="slidenum">
              <a:rPr lang="el-GR" smtClean="0"/>
              <a:t>8</a:t>
            </a:fld>
            <a:endParaRPr lang="el-GR"/>
          </a:p>
        </p:txBody>
      </p:sp>
      <p:sp>
        <p:nvSpPr>
          <p:cNvPr id="3" name="TextBox 2">
            <a:extLst>
              <a:ext uri="{FF2B5EF4-FFF2-40B4-BE49-F238E27FC236}">
                <a16:creationId xmlns:a16="http://schemas.microsoft.com/office/drawing/2014/main" id="{2572495B-3393-C052-FF6F-1508DCF0CA83}"/>
              </a:ext>
            </a:extLst>
          </p:cNvPr>
          <p:cNvSpPr txBox="1"/>
          <p:nvPr/>
        </p:nvSpPr>
        <p:spPr>
          <a:xfrm>
            <a:off x="909310" y="5768062"/>
            <a:ext cx="10125075" cy="646331"/>
          </a:xfrm>
          <a:prstGeom prst="rect">
            <a:avLst/>
          </a:prstGeom>
          <a:noFill/>
        </p:spPr>
        <p:txBody>
          <a:bodyPr wrap="square" rtlCol="0">
            <a:spAutoFit/>
          </a:bodyPr>
          <a:lstStyle/>
          <a:p>
            <a:pPr marL="285750" indent="-285750">
              <a:buFont typeface="Arial" panose="020B0604020202020204" pitchFamily="34" charset="0"/>
              <a:buChar char="•"/>
            </a:pPr>
            <a:r>
              <a:rPr lang="en-US" dirty="0"/>
              <a:t>Again, they are quicker to Switch to Speak than to Switch to Type (- values). Pilot 1 is slower to Switch to Speak than Pilot 2 but is quicker to Switch to Type than Pilot 2.</a:t>
            </a:r>
            <a:endParaRPr lang="el-GR" dirty="0"/>
          </a:p>
        </p:txBody>
      </p:sp>
    </p:spTree>
    <p:extLst>
      <p:ext uri="{BB962C8B-B14F-4D97-AF65-F5344CB8AC3E}">
        <p14:creationId xmlns:p14="http://schemas.microsoft.com/office/powerpoint/2010/main" val="2047616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065568-94EC-BCF6-484E-E858BC409B9A}"/>
              </a:ext>
            </a:extLst>
          </p:cNvPr>
          <p:cNvSpPr txBox="1"/>
          <p:nvPr/>
        </p:nvSpPr>
        <p:spPr>
          <a:xfrm>
            <a:off x="1266825" y="1063506"/>
            <a:ext cx="3314700" cy="369332"/>
          </a:xfrm>
          <a:prstGeom prst="rect">
            <a:avLst/>
          </a:prstGeom>
          <a:noFill/>
        </p:spPr>
        <p:txBody>
          <a:bodyPr wrap="square" rtlCol="0">
            <a:spAutoFit/>
          </a:bodyPr>
          <a:lstStyle/>
          <a:p>
            <a:pPr algn="ctr"/>
            <a:r>
              <a:rPr lang="en-US" dirty="0"/>
              <a:t>PILOT 1</a:t>
            </a:r>
            <a:endParaRPr lang="el-GR" dirty="0"/>
          </a:p>
        </p:txBody>
      </p:sp>
      <p:sp>
        <p:nvSpPr>
          <p:cNvPr id="9" name="TextBox 8">
            <a:extLst>
              <a:ext uri="{FF2B5EF4-FFF2-40B4-BE49-F238E27FC236}">
                <a16:creationId xmlns:a16="http://schemas.microsoft.com/office/drawing/2014/main" id="{C4DA1CA8-38F9-4812-2458-8E051ACB4480}"/>
              </a:ext>
            </a:extLst>
          </p:cNvPr>
          <p:cNvSpPr txBox="1"/>
          <p:nvPr/>
        </p:nvSpPr>
        <p:spPr>
          <a:xfrm>
            <a:off x="7467600" y="1082953"/>
            <a:ext cx="3314700" cy="369332"/>
          </a:xfrm>
          <a:prstGeom prst="rect">
            <a:avLst/>
          </a:prstGeom>
          <a:noFill/>
        </p:spPr>
        <p:txBody>
          <a:bodyPr wrap="square" rtlCol="0">
            <a:spAutoFit/>
          </a:bodyPr>
          <a:lstStyle/>
          <a:p>
            <a:pPr algn="ctr"/>
            <a:r>
              <a:rPr lang="en-US" dirty="0"/>
              <a:t>PILOT 2</a:t>
            </a:r>
            <a:endParaRPr lang="el-GR" dirty="0"/>
          </a:p>
        </p:txBody>
      </p:sp>
      <p:sp>
        <p:nvSpPr>
          <p:cNvPr id="2" name="Slide Number Placeholder 1">
            <a:extLst>
              <a:ext uri="{FF2B5EF4-FFF2-40B4-BE49-F238E27FC236}">
                <a16:creationId xmlns:a16="http://schemas.microsoft.com/office/drawing/2014/main" id="{9BE26FE5-70B9-0B21-CA6C-87E5F0D06095}"/>
              </a:ext>
            </a:extLst>
          </p:cNvPr>
          <p:cNvSpPr>
            <a:spLocks noGrp="1"/>
          </p:cNvSpPr>
          <p:nvPr>
            <p:ph type="sldNum" sz="quarter" idx="12"/>
          </p:nvPr>
        </p:nvSpPr>
        <p:spPr/>
        <p:txBody>
          <a:bodyPr/>
          <a:lstStyle/>
          <a:p>
            <a:fld id="{67970022-DA33-4D55-8647-15AC71F72AFB}" type="slidenum">
              <a:rPr lang="el-GR" smtClean="0"/>
              <a:t>9</a:t>
            </a:fld>
            <a:endParaRPr lang="el-GR"/>
          </a:p>
        </p:txBody>
      </p:sp>
      <p:pic>
        <p:nvPicPr>
          <p:cNvPr id="4" name="Picture 3" descr="A graph of different colored bars&#10;&#10;Description automatically generated">
            <a:extLst>
              <a:ext uri="{FF2B5EF4-FFF2-40B4-BE49-F238E27FC236}">
                <a16:creationId xmlns:a16="http://schemas.microsoft.com/office/drawing/2014/main" id="{442E1C53-C805-FCFA-B48D-B073622030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432" y="1526226"/>
            <a:ext cx="5875568" cy="3628368"/>
          </a:xfrm>
          <a:prstGeom prst="rect">
            <a:avLst/>
          </a:prstGeom>
        </p:spPr>
      </p:pic>
      <p:pic>
        <p:nvPicPr>
          <p:cNvPr id="6" name="Picture 5" descr="A graph of different colored bars&#10;&#10;Description automatically generated">
            <a:extLst>
              <a:ext uri="{FF2B5EF4-FFF2-40B4-BE49-F238E27FC236}">
                <a16:creationId xmlns:a16="http://schemas.microsoft.com/office/drawing/2014/main" id="{96C7A4A9-62D4-AD5C-928F-4A710B167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9375" y="1526226"/>
            <a:ext cx="5704119" cy="3522492"/>
          </a:xfrm>
          <a:prstGeom prst="rect">
            <a:avLst/>
          </a:prstGeom>
        </p:spPr>
      </p:pic>
      <p:sp>
        <p:nvSpPr>
          <p:cNvPr id="7" name="TextBox 6">
            <a:extLst>
              <a:ext uri="{FF2B5EF4-FFF2-40B4-BE49-F238E27FC236}">
                <a16:creationId xmlns:a16="http://schemas.microsoft.com/office/drawing/2014/main" id="{DD1BC1CD-BFF8-580E-6913-436C8F22E39A}"/>
              </a:ext>
            </a:extLst>
          </p:cNvPr>
          <p:cNvSpPr txBox="1"/>
          <p:nvPr/>
        </p:nvSpPr>
        <p:spPr>
          <a:xfrm>
            <a:off x="1647825" y="5648325"/>
            <a:ext cx="80010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Overall, more mistakes in Type for both pilots.</a:t>
            </a:r>
          </a:p>
          <a:p>
            <a:pPr marL="285750" indent="-285750">
              <a:buFont typeface="Arial" panose="020B0604020202020204" pitchFamily="34" charset="0"/>
              <a:buChar char="•"/>
            </a:pPr>
            <a:r>
              <a:rPr lang="en-US" dirty="0"/>
              <a:t>Pilot 2 does not make any mistakes on Switch trials.</a:t>
            </a:r>
          </a:p>
          <a:p>
            <a:endParaRPr lang="el-GR" dirty="0"/>
          </a:p>
        </p:txBody>
      </p:sp>
    </p:spTree>
    <p:extLst>
      <p:ext uri="{BB962C8B-B14F-4D97-AF65-F5344CB8AC3E}">
        <p14:creationId xmlns:p14="http://schemas.microsoft.com/office/powerpoint/2010/main" val="2272621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E26FE5-70B9-0B21-CA6C-87E5F0D06095}"/>
              </a:ext>
            </a:extLst>
          </p:cNvPr>
          <p:cNvSpPr>
            <a:spLocks noGrp="1"/>
          </p:cNvSpPr>
          <p:nvPr>
            <p:ph type="sldNum" sz="quarter" idx="12"/>
          </p:nvPr>
        </p:nvSpPr>
        <p:spPr/>
        <p:txBody>
          <a:bodyPr/>
          <a:lstStyle/>
          <a:p>
            <a:fld id="{67970022-DA33-4D55-8647-15AC71F72AFB}" type="slidenum">
              <a:rPr lang="el-GR" smtClean="0"/>
              <a:t>10</a:t>
            </a:fld>
            <a:endParaRPr lang="el-GR"/>
          </a:p>
        </p:txBody>
      </p:sp>
      <p:sp>
        <p:nvSpPr>
          <p:cNvPr id="3" name="TextBox 2">
            <a:extLst>
              <a:ext uri="{FF2B5EF4-FFF2-40B4-BE49-F238E27FC236}">
                <a16:creationId xmlns:a16="http://schemas.microsoft.com/office/drawing/2014/main" id="{79CFD559-F5E5-94ED-FD75-15CD4F39578B}"/>
              </a:ext>
            </a:extLst>
          </p:cNvPr>
          <p:cNvSpPr txBox="1"/>
          <p:nvPr/>
        </p:nvSpPr>
        <p:spPr>
          <a:xfrm>
            <a:off x="590550" y="314325"/>
            <a:ext cx="10944225" cy="4801314"/>
          </a:xfrm>
          <a:prstGeom prst="rect">
            <a:avLst/>
          </a:prstGeom>
          <a:noFill/>
        </p:spPr>
        <p:txBody>
          <a:bodyPr wrap="square" rtlCol="0">
            <a:spAutoFit/>
          </a:bodyPr>
          <a:lstStyle/>
          <a:p>
            <a:r>
              <a:rPr lang="en-US" u="sng" dirty="0"/>
              <a:t>Error rates by Response modality</a:t>
            </a:r>
          </a:p>
          <a:p>
            <a:endParaRPr lang="en-US" dirty="0"/>
          </a:p>
          <a:p>
            <a:endParaRPr lang="en-US" dirty="0"/>
          </a:p>
          <a:p>
            <a:r>
              <a:rPr lang="en-US" u="sng" dirty="0"/>
              <a:t>Pilot 1:</a:t>
            </a:r>
          </a:p>
          <a:p>
            <a:pPr marL="285750" indent="-285750">
              <a:buFont typeface="Arial" panose="020B0604020202020204" pitchFamily="34" charset="0"/>
              <a:buChar char="•"/>
            </a:pPr>
            <a:r>
              <a:rPr lang="en-US" dirty="0"/>
              <a:t>Speak:</a:t>
            </a:r>
          </a:p>
          <a:p>
            <a:pPr marL="742950" lvl="1" indent="-285750">
              <a:buFont typeface="Arial" panose="020B0604020202020204" pitchFamily="34" charset="0"/>
              <a:buChar char="•"/>
            </a:pPr>
            <a:r>
              <a:rPr lang="en-US" dirty="0"/>
              <a:t>1.6% nontarget</a:t>
            </a:r>
          </a:p>
          <a:p>
            <a:pPr lvl="1"/>
            <a:endParaRPr lang="en-US" dirty="0"/>
          </a:p>
          <a:p>
            <a:pPr marL="285750" indent="-285750">
              <a:buFont typeface="Arial" panose="020B0604020202020204" pitchFamily="34" charset="0"/>
              <a:buChar char="•"/>
            </a:pPr>
            <a:r>
              <a:rPr lang="en-US" dirty="0"/>
              <a:t>Type: </a:t>
            </a:r>
          </a:p>
          <a:p>
            <a:pPr marL="742950" lvl="1" indent="-285750">
              <a:buFont typeface="Arial" panose="020B0604020202020204" pitchFamily="34" charset="0"/>
              <a:buChar char="•"/>
            </a:pPr>
            <a:r>
              <a:rPr lang="en-US" dirty="0"/>
              <a:t>2.6% filler</a:t>
            </a:r>
          </a:p>
          <a:p>
            <a:pPr marL="742950" lvl="1" indent="-285750">
              <a:buFont typeface="Arial" panose="020B0604020202020204" pitchFamily="34" charset="0"/>
              <a:buChar char="•"/>
            </a:pPr>
            <a:r>
              <a:rPr lang="en-US" dirty="0"/>
              <a:t>1.6% nontarget</a:t>
            </a:r>
          </a:p>
          <a:p>
            <a:pPr marL="742950" lvl="1" indent="-285750">
              <a:buFont typeface="Arial" panose="020B0604020202020204" pitchFamily="34" charset="0"/>
              <a:buChar char="•"/>
            </a:pPr>
            <a:endParaRPr lang="en-US" dirty="0"/>
          </a:p>
          <a:p>
            <a:endParaRPr lang="en-US" dirty="0"/>
          </a:p>
          <a:p>
            <a:endParaRPr lang="en-US" dirty="0"/>
          </a:p>
          <a:p>
            <a:r>
              <a:rPr lang="en-US" u="sng" dirty="0"/>
              <a:t>Pilot 2: </a:t>
            </a:r>
          </a:p>
          <a:p>
            <a:pPr marL="285750" indent="-285750">
              <a:buFont typeface="Arial" panose="020B0604020202020204" pitchFamily="34" charset="0"/>
              <a:buChar char="•"/>
            </a:pPr>
            <a:r>
              <a:rPr lang="en-US" dirty="0"/>
              <a:t>Type:</a:t>
            </a:r>
          </a:p>
          <a:p>
            <a:pPr marL="742950" lvl="1" indent="-285750">
              <a:buFont typeface="Arial" panose="020B0604020202020204" pitchFamily="34" charset="0"/>
              <a:buChar char="•"/>
            </a:pPr>
            <a:r>
              <a:rPr lang="en-US" dirty="0"/>
              <a:t>5.3% filler</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862085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TotalTime>
  <Words>564</Words>
  <Application>Microsoft Office PowerPoint</Application>
  <PresentationFormat>Widescreen</PresentationFormat>
  <Paragraphs>64</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Katerina Tsaroucha</dc:creator>
  <cp:lastModifiedBy>Katerina Tsaroucha</cp:lastModifiedBy>
  <cp:revision>18</cp:revision>
  <dcterms:created xsi:type="dcterms:W3CDTF">2023-11-03T08:23:02Z</dcterms:created>
  <dcterms:modified xsi:type="dcterms:W3CDTF">2023-11-10T09:59:18Z</dcterms:modified>
</cp:coreProperties>
</file>
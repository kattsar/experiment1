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9" r:id="rId2"/>
    <p:sldId id="270" r:id="rId3"/>
    <p:sldId id="256" r:id="rId4"/>
    <p:sldId id="266" r:id="rId5"/>
    <p:sldId id="271" r:id="rId6"/>
    <p:sldId id="272" r:id="rId7"/>
    <p:sldId id="267" r:id="rId8"/>
    <p:sldId id="265" r:id="rId9"/>
    <p:sldId id="263" r:id="rId10"/>
    <p:sldId id="264" r:id="rId11"/>
    <p:sldId id="268" r:id="rId12"/>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51F472-9F1C-9DB5-4E28-173E07E99C41}" name="Katerina Tsaroucha" initials="ΚT" userId="Katerina Tsaroucha"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82AB1"/>
    <a:srgbClr val="2802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07" autoAdjust="0"/>
    <p:restoredTop sz="92387" autoAdjust="0"/>
  </p:normalViewPr>
  <p:slideViewPr>
    <p:cSldViewPr snapToGrid="0">
      <p:cViewPr varScale="1">
        <p:scale>
          <a:sx n="74" d="100"/>
          <a:sy n="74" d="100"/>
        </p:scale>
        <p:origin x="143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246E27-58F1-4366-B54A-87682915784E}" type="datetimeFigureOut">
              <a:rPr lang="el-GR" smtClean="0"/>
              <a:t>29/03/2023</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89E93-5369-47B5-886D-42AB5367E26B}" type="slidenum">
              <a:rPr lang="el-GR" smtClean="0"/>
              <a:t>‹#›</a:t>
            </a:fld>
            <a:endParaRPr lang="el-GR"/>
          </a:p>
        </p:txBody>
      </p:sp>
    </p:spTree>
    <p:extLst>
      <p:ext uri="{BB962C8B-B14F-4D97-AF65-F5344CB8AC3E}">
        <p14:creationId xmlns:p14="http://schemas.microsoft.com/office/powerpoint/2010/main" val="872587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phonology is strongly co-activated when typing and orthography is weakly co-activated when speaking, larger switch costs to typing than to speaking are expected for the same item.</a:t>
            </a:r>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1</a:t>
            </a:fld>
            <a:endParaRPr lang="el-GR"/>
          </a:p>
        </p:txBody>
      </p:sp>
    </p:spTree>
    <p:extLst>
      <p:ext uri="{BB962C8B-B14F-4D97-AF65-F5344CB8AC3E}">
        <p14:creationId xmlns:p14="http://schemas.microsoft.com/office/powerpoint/2010/main" val="57848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orthography is also strongly co-activated when speaking (and phonology when typing), no larger costs are expected to speaking than to typing.</a:t>
            </a:r>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2</a:t>
            </a:fld>
            <a:endParaRPr lang="el-GR"/>
          </a:p>
        </p:txBody>
      </p:sp>
    </p:spTree>
    <p:extLst>
      <p:ext uri="{BB962C8B-B14F-4D97-AF65-F5344CB8AC3E}">
        <p14:creationId xmlns:p14="http://schemas.microsoft.com/office/powerpoint/2010/main" val="3348408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phonology is strongly co-activated when typing and orthography is weakly co-activated when speaking, larger switch costs to typing than to speaking are expected for the same item.</a:t>
            </a:r>
            <a:endParaRPr lang="el-GR" dirty="0"/>
          </a:p>
          <a:p>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3</a:t>
            </a:fld>
            <a:endParaRPr lang="el-GR"/>
          </a:p>
        </p:txBody>
      </p:sp>
    </p:spTree>
    <p:extLst>
      <p:ext uri="{BB962C8B-B14F-4D97-AF65-F5344CB8AC3E}">
        <p14:creationId xmlns:p14="http://schemas.microsoft.com/office/powerpoint/2010/main" val="60427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phonology is strongly co-activated when typing and orthography is weakly co-activated when speaking, larger switch costs to typing than to speaking are expected for the same item.</a:t>
            </a:r>
            <a:endParaRPr lang="el-GR" dirty="0"/>
          </a:p>
          <a:p>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4</a:t>
            </a:fld>
            <a:endParaRPr lang="el-GR"/>
          </a:p>
        </p:txBody>
      </p:sp>
    </p:spTree>
    <p:extLst>
      <p:ext uri="{BB962C8B-B14F-4D97-AF65-F5344CB8AC3E}">
        <p14:creationId xmlns:p14="http://schemas.microsoft.com/office/powerpoint/2010/main" val="984210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orthography is also strongly co-activated when speaking (and phonology when typing), no larger costs are expected to speaking than to typing.</a:t>
            </a:r>
            <a:endParaRPr lang="el-GR" dirty="0"/>
          </a:p>
          <a:p>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5</a:t>
            </a:fld>
            <a:endParaRPr lang="el-GR"/>
          </a:p>
        </p:txBody>
      </p:sp>
    </p:spTree>
    <p:extLst>
      <p:ext uri="{BB962C8B-B14F-4D97-AF65-F5344CB8AC3E}">
        <p14:creationId xmlns:p14="http://schemas.microsoft.com/office/powerpoint/2010/main" val="2546230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orthography is also strongly co-activated when speaking (and phonology when typing), no larger costs are expected to speaking than to typing.</a:t>
            </a:r>
            <a:endParaRPr lang="el-GR" dirty="0"/>
          </a:p>
          <a:p>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6</a:t>
            </a:fld>
            <a:endParaRPr lang="el-GR"/>
          </a:p>
        </p:txBody>
      </p:sp>
    </p:spTree>
    <p:extLst>
      <p:ext uri="{BB962C8B-B14F-4D97-AF65-F5344CB8AC3E}">
        <p14:creationId xmlns:p14="http://schemas.microsoft.com/office/powerpoint/2010/main" val="1571208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width of the arrows indicates weak or strong co-activation of representations (thin arrow: weak co-activation – thick arrow: strong co-activation).</a:t>
            </a:r>
          </a:p>
          <a:p>
            <a:r>
              <a:rPr lang="en-US" dirty="0"/>
              <a:t>The red boxes indicate the difference in RT/SOT between switch and repeat trials. The symbol in the middle indicates the difference of switch costs in switching from speaking to typing (above) and in switching from typing to speaking (below).</a:t>
            </a:r>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8</a:t>
            </a:fld>
            <a:endParaRPr lang="el-GR"/>
          </a:p>
        </p:txBody>
      </p:sp>
    </p:spTree>
    <p:extLst>
      <p:ext uri="{BB962C8B-B14F-4D97-AF65-F5344CB8AC3E}">
        <p14:creationId xmlns:p14="http://schemas.microsoft.com/office/powerpoint/2010/main" val="2753625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9</a:t>
            </a:fld>
            <a:endParaRPr lang="el-GR"/>
          </a:p>
        </p:txBody>
      </p:sp>
    </p:spTree>
    <p:extLst>
      <p:ext uri="{BB962C8B-B14F-4D97-AF65-F5344CB8AC3E}">
        <p14:creationId xmlns:p14="http://schemas.microsoft.com/office/powerpoint/2010/main" val="2159195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a:t>
            </a:r>
            <a:r>
              <a:rPr lang="en-US" dirty="0" err="1"/>
              <a:t>orthogr</a:t>
            </a:r>
            <a:r>
              <a:rPr lang="en-US" dirty="0"/>
              <a:t>. </a:t>
            </a:r>
          </a:p>
          <a:p>
            <a:r>
              <a:rPr lang="en-US" dirty="0"/>
              <a:t>How do we connect the one </a:t>
            </a:r>
            <a:r>
              <a:rPr lang="en-US"/>
              <a:t>figure with the other? </a:t>
            </a:r>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10</a:t>
            </a:fld>
            <a:endParaRPr lang="el-GR"/>
          </a:p>
        </p:txBody>
      </p:sp>
    </p:spTree>
    <p:extLst>
      <p:ext uri="{BB962C8B-B14F-4D97-AF65-F5344CB8AC3E}">
        <p14:creationId xmlns:p14="http://schemas.microsoft.com/office/powerpoint/2010/main" val="3508656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05589E93-5369-47B5-886D-42AB5367E26B}" type="slidenum">
              <a:rPr lang="el-GR" smtClean="0"/>
              <a:t>11</a:t>
            </a:fld>
            <a:endParaRPr lang="el-GR"/>
          </a:p>
        </p:txBody>
      </p:sp>
    </p:spTree>
    <p:extLst>
      <p:ext uri="{BB962C8B-B14F-4D97-AF65-F5344CB8AC3E}">
        <p14:creationId xmlns:p14="http://schemas.microsoft.com/office/powerpoint/2010/main" val="3313202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8B1B-7584-38B6-6D47-59CF762603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l-GR"/>
          </a:p>
        </p:txBody>
      </p:sp>
      <p:sp>
        <p:nvSpPr>
          <p:cNvPr id="3" name="Subtitle 2">
            <a:extLst>
              <a:ext uri="{FF2B5EF4-FFF2-40B4-BE49-F238E27FC236}">
                <a16:creationId xmlns:a16="http://schemas.microsoft.com/office/drawing/2014/main" id="{F838B599-6FD5-0B36-BE71-542FA412F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l-GR"/>
          </a:p>
        </p:txBody>
      </p:sp>
      <p:sp>
        <p:nvSpPr>
          <p:cNvPr id="4" name="Date Placeholder 3">
            <a:extLst>
              <a:ext uri="{FF2B5EF4-FFF2-40B4-BE49-F238E27FC236}">
                <a16:creationId xmlns:a16="http://schemas.microsoft.com/office/drawing/2014/main" id="{6BAD7A27-05A1-5817-8371-3933FD691945}"/>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5" name="Footer Placeholder 4">
            <a:extLst>
              <a:ext uri="{FF2B5EF4-FFF2-40B4-BE49-F238E27FC236}">
                <a16:creationId xmlns:a16="http://schemas.microsoft.com/office/drawing/2014/main" id="{00334CCC-495B-0611-3607-6752678C9D64}"/>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8BE9ADBE-FCAB-83F9-3087-D645CB906723}"/>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366229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11FB0-C80D-284F-7665-353F7C008E72}"/>
              </a:ext>
            </a:extLst>
          </p:cNvPr>
          <p:cNvSpPr>
            <a:spLocks noGrp="1"/>
          </p:cNvSpPr>
          <p:nvPr>
            <p:ph type="title"/>
          </p:nvPr>
        </p:nvSpPr>
        <p:spPr/>
        <p:txBody>
          <a:bodyPr/>
          <a:lstStyle/>
          <a:p>
            <a:r>
              <a:rPr lang="en-US"/>
              <a:t>Click to edit Master title style</a:t>
            </a:r>
            <a:endParaRPr lang="el-GR"/>
          </a:p>
        </p:txBody>
      </p:sp>
      <p:sp>
        <p:nvSpPr>
          <p:cNvPr id="3" name="Content Placeholder 2">
            <a:extLst>
              <a:ext uri="{FF2B5EF4-FFF2-40B4-BE49-F238E27FC236}">
                <a16:creationId xmlns:a16="http://schemas.microsoft.com/office/drawing/2014/main" id="{227318D7-787E-1F05-8EF1-007D7DAD0C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E0D39942-DB24-FE46-D464-CD57E1B5D5B1}"/>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5" name="Footer Placeholder 4">
            <a:extLst>
              <a:ext uri="{FF2B5EF4-FFF2-40B4-BE49-F238E27FC236}">
                <a16:creationId xmlns:a16="http://schemas.microsoft.com/office/drawing/2014/main" id="{0D6285C2-2C68-FDD4-7178-9E280536E5AF}"/>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9CC789E5-0FAF-6523-3D4A-398575BB8336}"/>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289999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8E359-FDBD-9B97-60B6-A4CCA49E1C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l-GR"/>
          </a:p>
        </p:txBody>
      </p:sp>
      <p:sp>
        <p:nvSpPr>
          <p:cNvPr id="3" name="Text Placeholder 2">
            <a:extLst>
              <a:ext uri="{FF2B5EF4-FFF2-40B4-BE49-F238E27FC236}">
                <a16:creationId xmlns:a16="http://schemas.microsoft.com/office/drawing/2014/main" id="{65DC7F9D-CCD7-3AFD-CD6C-E607DAB717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0160F9-FA3E-F28B-A5E4-84F0ED5F21C1}"/>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5" name="Footer Placeholder 4">
            <a:extLst>
              <a:ext uri="{FF2B5EF4-FFF2-40B4-BE49-F238E27FC236}">
                <a16:creationId xmlns:a16="http://schemas.microsoft.com/office/drawing/2014/main" id="{7F64CB9B-B054-C2DE-73C9-2F9F4A9CD3D0}"/>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C11C094E-FD31-2D3C-36F7-2613469759D0}"/>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4007603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1D9BE-50DD-49AE-B342-A3D11DF038BA}"/>
              </a:ext>
            </a:extLst>
          </p:cNvPr>
          <p:cNvSpPr>
            <a:spLocks noGrp="1"/>
          </p:cNvSpPr>
          <p:nvPr>
            <p:ph type="title"/>
          </p:nvPr>
        </p:nvSpPr>
        <p:spPr/>
        <p:txBody>
          <a:bodyPr/>
          <a:lstStyle/>
          <a:p>
            <a:r>
              <a:rPr lang="en-US"/>
              <a:t>Click to edit Master title style</a:t>
            </a:r>
            <a:endParaRPr lang="el-GR"/>
          </a:p>
        </p:txBody>
      </p:sp>
      <p:sp>
        <p:nvSpPr>
          <p:cNvPr id="3" name="Content Placeholder 2">
            <a:extLst>
              <a:ext uri="{FF2B5EF4-FFF2-40B4-BE49-F238E27FC236}">
                <a16:creationId xmlns:a16="http://schemas.microsoft.com/office/drawing/2014/main" id="{1BA9FCAF-5B46-A687-B049-1A085B8131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a:extLst>
              <a:ext uri="{FF2B5EF4-FFF2-40B4-BE49-F238E27FC236}">
                <a16:creationId xmlns:a16="http://schemas.microsoft.com/office/drawing/2014/main" id="{3F23C907-F238-46F4-E563-E84756471D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a:extLst>
              <a:ext uri="{FF2B5EF4-FFF2-40B4-BE49-F238E27FC236}">
                <a16:creationId xmlns:a16="http://schemas.microsoft.com/office/drawing/2014/main" id="{651B1698-92B7-775D-9843-FDE726FA5F64}"/>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6" name="Footer Placeholder 5">
            <a:extLst>
              <a:ext uri="{FF2B5EF4-FFF2-40B4-BE49-F238E27FC236}">
                <a16:creationId xmlns:a16="http://schemas.microsoft.com/office/drawing/2014/main" id="{0986A988-3175-9D7F-405B-B6C22B915808}"/>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AD26D98C-F1D4-424D-71AF-B56CDA6B8BC8}"/>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3284847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D993C-4B66-E35A-CD29-9FC522B3393F}"/>
              </a:ext>
            </a:extLst>
          </p:cNvPr>
          <p:cNvSpPr>
            <a:spLocks noGrp="1"/>
          </p:cNvSpPr>
          <p:nvPr>
            <p:ph type="title"/>
          </p:nvPr>
        </p:nvSpPr>
        <p:spPr>
          <a:xfrm>
            <a:off x="839788" y="365125"/>
            <a:ext cx="10515600" cy="1325563"/>
          </a:xfrm>
        </p:spPr>
        <p:txBody>
          <a:bodyPr/>
          <a:lstStyle/>
          <a:p>
            <a:r>
              <a:rPr lang="en-US"/>
              <a:t>Click to edit Master title style</a:t>
            </a:r>
            <a:endParaRPr lang="el-GR"/>
          </a:p>
        </p:txBody>
      </p:sp>
      <p:sp>
        <p:nvSpPr>
          <p:cNvPr id="3" name="Text Placeholder 2">
            <a:extLst>
              <a:ext uri="{FF2B5EF4-FFF2-40B4-BE49-F238E27FC236}">
                <a16:creationId xmlns:a16="http://schemas.microsoft.com/office/drawing/2014/main" id="{01C5D47D-BCA9-59C2-F479-D1703B6EF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A96427-DCE7-091C-B652-257429A493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a:extLst>
              <a:ext uri="{FF2B5EF4-FFF2-40B4-BE49-F238E27FC236}">
                <a16:creationId xmlns:a16="http://schemas.microsoft.com/office/drawing/2014/main" id="{F052B4EE-49FC-5BB4-1461-B838E08208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5EE5CC-E8F2-2490-DF9D-9FA9D05D30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a:extLst>
              <a:ext uri="{FF2B5EF4-FFF2-40B4-BE49-F238E27FC236}">
                <a16:creationId xmlns:a16="http://schemas.microsoft.com/office/drawing/2014/main" id="{F677CBD8-18A3-4494-A1B8-B4A8230E3D44}"/>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8" name="Footer Placeholder 7">
            <a:extLst>
              <a:ext uri="{FF2B5EF4-FFF2-40B4-BE49-F238E27FC236}">
                <a16:creationId xmlns:a16="http://schemas.microsoft.com/office/drawing/2014/main" id="{B00C6CC6-11D4-38D7-58D6-1C85BC673E56}"/>
              </a:ext>
            </a:extLst>
          </p:cNvPr>
          <p:cNvSpPr>
            <a:spLocks noGrp="1"/>
          </p:cNvSpPr>
          <p:nvPr>
            <p:ph type="ftr" sz="quarter" idx="11"/>
          </p:nvPr>
        </p:nvSpPr>
        <p:spPr/>
        <p:txBody>
          <a:bodyPr/>
          <a:lstStyle/>
          <a:p>
            <a:endParaRPr lang="el-GR"/>
          </a:p>
        </p:txBody>
      </p:sp>
      <p:sp>
        <p:nvSpPr>
          <p:cNvPr id="9" name="Slide Number Placeholder 8">
            <a:extLst>
              <a:ext uri="{FF2B5EF4-FFF2-40B4-BE49-F238E27FC236}">
                <a16:creationId xmlns:a16="http://schemas.microsoft.com/office/drawing/2014/main" id="{D157F4D9-4D23-775C-6636-009F92955BE1}"/>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91714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3B547-7C08-91EE-950B-B8763B9C5D5A}"/>
              </a:ext>
            </a:extLst>
          </p:cNvPr>
          <p:cNvSpPr>
            <a:spLocks noGrp="1"/>
          </p:cNvSpPr>
          <p:nvPr>
            <p:ph type="title"/>
          </p:nvPr>
        </p:nvSpPr>
        <p:spPr/>
        <p:txBody>
          <a:bodyPr/>
          <a:lstStyle/>
          <a:p>
            <a:r>
              <a:rPr lang="en-US"/>
              <a:t>Click to edit Master title style</a:t>
            </a:r>
            <a:endParaRPr lang="el-GR"/>
          </a:p>
        </p:txBody>
      </p:sp>
      <p:sp>
        <p:nvSpPr>
          <p:cNvPr id="3" name="Date Placeholder 2">
            <a:extLst>
              <a:ext uri="{FF2B5EF4-FFF2-40B4-BE49-F238E27FC236}">
                <a16:creationId xmlns:a16="http://schemas.microsoft.com/office/drawing/2014/main" id="{DDA9B039-65F0-17B1-D410-8D53E534742C}"/>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4" name="Footer Placeholder 3">
            <a:extLst>
              <a:ext uri="{FF2B5EF4-FFF2-40B4-BE49-F238E27FC236}">
                <a16:creationId xmlns:a16="http://schemas.microsoft.com/office/drawing/2014/main" id="{CF49FD1F-6A24-9C25-F166-72E93B7DC1F6}"/>
              </a:ext>
            </a:extLst>
          </p:cNvPr>
          <p:cNvSpPr>
            <a:spLocks noGrp="1"/>
          </p:cNvSpPr>
          <p:nvPr>
            <p:ph type="ftr" sz="quarter" idx="11"/>
          </p:nvPr>
        </p:nvSpPr>
        <p:spPr/>
        <p:txBody>
          <a:bodyPr/>
          <a:lstStyle/>
          <a:p>
            <a:endParaRPr lang="el-GR"/>
          </a:p>
        </p:txBody>
      </p:sp>
      <p:sp>
        <p:nvSpPr>
          <p:cNvPr id="5" name="Slide Number Placeholder 4">
            <a:extLst>
              <a:ext uri="{FF2B5EF4-FFF2-40B4-BE49-F238E27FC236}">
                <a16:creationId xmlns:a16="http://schemas.microsoft.com/office/drawing/2014/main" id="{4173E276-EA9F-9DCD-AF7B-BFF902F1B835}"/>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47437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9596D9-221A-500C-A931-9CD8DCBD9B8A}"/>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3" name="Footer Placeholder 2">
            <a:extLst>
              <a:ext uri="{FF2B5EF4-FFF2-40B4-BE49-F238E27FC236}">
                <a16:creationId xmlns:a16="http://schemas.microsoft.com/office/drawing/2014/main" id="{4CC793CE-457F-A86E-35AB-A14181A87506}"/>
              </a:ext>
            </a:extLst>
          </p:cNvPr>
          <p:cNvSpPr>
            <a:spLocks noGrp="1"/>
          </p:cNvSpPr>
          <p:nvPr>
            <p:ph type="ftr" sz="quarter" idx="11"/>
          </p:nvPr>
        </p:nvSpPr>
        <p:spPr/>
        <p:txBody>
          <a:bodyPr/>
          <a:lstStyle/>
          <a:p>
            <a:endParaRPr lang="el-GR"/>
          </a:p>
        </p:txBody>
      </p:sp>
      <p:sp>
        <p:nvSpPr>
          <p:cNvPr id="4" name="Slide Number Placeholder 3">
            <a:extLst>
              <a:ext uri="{FF2B5EF4-FFF2-40B4-BE49-F238E27FC236}">
                <a16:creationId xmlns:a16="http://schemas.microsoft.com/office/drawing/2014/main" id="{7C189015-904B-A02D-216B-26BDB7CD501B}"/>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3811470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E90A-719D-7DB6-4522-AFE9A6368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Content Placeholder 2">
            <a:extLst>
              <a:ext uri="{FF2B5EF4-FFF2-40B4-BE49-F238E27FC236}">
                <a16:creationId xmlns:a16="http://schemas.microsoft.com/office/drawing/2014/main" id="{BFEDB24A-C656-726D-F585-CD5598912B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a:extLst>
              <a:ext uri="{FF2B5EF4-FFF2-40B4-BE49-F238E27FC236}">
                <a16:creationId xmlns:a16="http://schemas.microsoft.com/office/drawing/2014/main" id="{9CC32203-E1E0-FA38-7C13-CBEEDD634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6274A9-F32C-03AA-D38C-8FBA8B9586C2}"/>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6" name="Footer Placeholder 5">
            <a:extLst>
              <a:ext uri="{FF2B5EF4-FFF2-40B4-BE49-F238E27FC236}">
                <a16:creationId xmlns:a16="http://schemas.microsoft.com/office/drawing/2014/main" id="{A4502493-33AB-43A5-4F5A-1BCC841E8C46}"/>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5D8927C4-4942-4663-8D96-44B6092886B6}"/>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3577308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6135-6F8E-C0E1-9179-ECC961C70F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Picture Placeholder 2">
            <a:extLst>
              <a:ext uri="{FF2B5EF4-FFF2-40B4-BE49-F238E27FC236}">
                <a16:creationId xmlns:a16="http://schemas.microsoft.com/office/drawing/2014/main" id="{773FD4BC-1869-630C-5C83-1E03D1DDF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a:extLst>
              <a:ext uri="{FF2B5EF4-FFF2-40B4-BE49-F238E27FC236}">
                <a16:creationId xmlns:a16="http://schemas.microsoft.com/office/drawing/2014/main" id="{40A0F130-BFC1-DA76-CD23-92BFD4E13D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623F0-65B0-95C5-5F90-51E06D115345}"/>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6" name="Footer Placeholder 5">
            <a:extLst>
              <a:ext uri="{FF2B5EF4-FFF2-40B4-BE49-F238E27FC236}">
                <a16:creationId xmlns:a16="http://schemas.microsoft.com/office/drawing/2014/main" id="{B540601A-EC02-DAC2-7F72-7549D84BD6B3}"/>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4F9B262A-E910-1B58-3B23-AD9CE4135271}"/>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2812035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9B8EB-E100-FF5D-0786-75DCD5C58B27}"/>
              </a:ext>
            </a:extLst>
          </p:cNvPr>
          <p:cNvSpPr>
            <a:spLocks noGrp="1"/>
          </p:cNvSpPr>
          <p:nvPr>
            <p:ph type="title"/>
          </p:nvPr>
        </p:nvSpPr>
        <p:spPr/>
        <p:txBody>
          <a:bodyPr/>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66BCF57A-3475-C4EC-A143-393D8CFF0E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55227B00-5AEE-4497-D0FA-488DD289CF77}"/>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5" name="Footer Placeholder 4">
            <a:extLst>
              <a:ext uri="{FF2B5EF4-FFF2-40B4-BE49-F238E27FC236}">
                <a16:creationId xmlns:a16="http://schemas.microsoft.com/office/drawing/2014/main" id="{189249E3-60E3-D1A8-E039-A0F9436DAA9E}"/>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F3115D77-6D2E-85D7-318E-849C2663B388}"/>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2734879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50B50-37AB-FB21-5004-D445911B94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A0CD08EA-9516-5543-E712-A17BA34558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4750170B-BB16-78D0-9243-768E8100A3A3}"/>
              </a:ext>
            </a:extLst>
          </p:cNvPr>
          <p:cNvSpPr>
            <a:spLocks noGrp="1"/>
          </p:cNvSpPr>
          <p:nvPr>
            <p:ph type="dt" sz="half" idx="10"/>
          </p:nvPr>
        </p:nvSpPr>
        <p:spPr/>
        <p:txBody>
          <a:bodyPr/>
          <a:lstStyle/>
          <a:p>
            <a:fld id="{4D3BEA75-1934-439D-A2BF-E83CDE9EE27E}" type="datetimeFigureOut">
              <a:rPr lang="el-GR" smtClean="0"/>
              <a:t>29/03/2023</a:t>
            </a:fld>
            <a:endParaRPr lang="el-GR"/>
          </a:p>
        </p:txBody>
      </p:sp>
      <p:sp>
        <p:nvSpPr>
          <p:cNvPr id="5" name="Footer Placeholder 4">
            <a:extLst>
              <a:ext uri="{FF2B5EF4-FFF2-40B4-BE49-F238E27FC236}">
                <a16:creationId xmlns:a16="http://schemas.microsoft.com/office/drawing/2014/main" id="{3E503E49-076A-0E30-4194-30C3BCA292BD}"/>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D2D23B68-ACCA-F800-88FF-00880235378D}"/>
              </a:ext>
            </a:extLst>
          </p:cNvPr>
          <p:cNvSpPr>
            <a:spLocks noGrp="1"/>
          </p:cNvSpPr>
          <p:nvPr>
            <p:ph type="sldNum" sz="quarter" idx="12"/>
          </p:nvPr>
        </p:nvSpPr>
        <p:spPr/>
        <p:txBody>
          <a:bodyPr/>
          <a:lstStyle/>
          <a:p>
            <a:fld id="{49537C4B-1379-4283-B79B-A21D07189B28}" type="slidenum">
              <a:rPr lang="el-GR" smtClean="0"/>
              <a:t>‹#›</a:t>
            </a:fld>
            <a:endParaRPr lang="el-GR"/>
          </a:p>
        </p:txBody>
      </p:sp>
    </p:spTree>
    <p:extLst>
      <p:ext uri="{BB962C8B-B14F-4D97-AF65-F5344CB8AC3E}">
        <p14:creationId xmlns:p14="http://schemas.microsoft.com/office/powerpoint/2010/main" val="3456822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0D3276-5356-D24B-4F50-CC6BB642B2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a:extLst>
              <a:ext uri="{FF2B5EF4-FFF2-40B4-BE49-F238E27FC236}">
                <a16:creationId xmlns:a16="http://schemas.microsoft.com/office/drawing/2014/main" id="{31BABE93-BCDE-C377-1103-D9628FC717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3D0EA75C-045E-1014-17D5-37449FA207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3BEA75-1934-439D-A2BF-E83CDE9EE27E}" type="datetimeFigureOut">
              <a:rPr lang="el-GR" smtClean="0"/>
              <a:t>29/03/2023</a:t>
            </a:fld>
            <a:endParaRPr lang="el-GR"/>
          </a:p>
        </p:txBody>
      </p:sp>
      <p:sp>
        <p:nvSpPr>
          <p:cNvPr id="5" name="Footer Placeholder 4">
            <a:extLst>
              <a:ext uri="{FF2B5EF4-FFF2-40B4-BE49-F238E27FC236}">
                <a16:creationId xmlns:a16="http://schemas.microsoft.com/office/drawing/2014/main" id="{23E048B6-5B11-40F6-36DC-8FE0ACB16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Slide Number Placeholder 5">
            <a:extLst>
              <a:ext uri="{FF2B5EF4-FFF2-40B4-BE49-F238E27FC236}">
                <a16:creationId xmlns:a16="http://schemas.microsoft.com/office/drawing/2014/main" id="{CF4CB90E-DC3B-5E11-057B-2C44C3E715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537C4B-1379-4283-B79B-A21D07189B28}" type="slidenum">
              <a:rPr lang="el-GR" smtClean="0"/>
              <a:t>‹#›</a:t>
            </a:fld>
            <a:endParaRPr lang="el-GR"/>
          </a:p>
        </p:txBody>
      </p:sp>
    </p:spTree>
    <p:extLst>
      <p:ext uri="{BB962C8B-B14F-4D97-AF65-F5344CB8AC3E}">
        <p14:creationId xmlns:p14="http://schemas.microsoft.com/office/powerpoint/2010/main" val="3472851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DDF5F3FA-736C-0ACB-9F38-8EC0D00915F8}"/>
              </a:ext>
            </a:extLst>
          </p:cNvPr>
          <p:cNvSpPr/>
          <p:nvPr/>
        </p:nvSpPr>
        <p:spPr>
          <a:xfrm>
            <a:off x="145474" y="238991"/>
            <a:ext cx="5791199" cy="360564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3" name="Rectangle: Rounded Corners 12">
            <a:extLst>
              <a:ext uri="{FF2B5EF4-FFF2-40B4-BE49-F238E27FC236}">
                <a16:creationId xmlns:a16="http://schemas.microsoft.com/office/drawing/2014/main" id="{C1B6BA73-8F8D-59AB-72CE-27515C47012A}"/>
              </a:ext>
            </a:extLst>
          </p:cNvPr>
          <p:cNvSpPr/>
          <p:nvPr/>
        </p:nvSpPr>
        <p:spPr>
          <a:xfrm>
            <a:off x="6165271" y="228597"/>
            <a:ext cx="5881255" cy="360564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5" name="Callout: Down Arrow 14">
            <a:extLst>
              <a:ext uri="{FF2B5EF4-FFF2-40B4-BE49-F238E27FC236}">
                <a16:creationId xmlns:a16="http://schemas.microsoft.com/office/drawing/2014/main" id="{7BA01B45-9F48-1055-3ADA-537A1EE3711C}"/>
              </a:ext>
            </a:extLst>
          </p:cNvPr>
          <p:cNvSpPr/>
          <p:nvPr/>
        </p:nvSpPr>
        <p:spPr>
          <a:xfrm>
            <a:off x="2830006" y="4322613"/>
            <a:ext cx="6531985" cy="1524006"/>
          </a:xfrm>
          <a:prstGeom prst="downArrowCallou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a:t>
            </a:r>
            <a:r>
              <a:rPr lang="en-US" sz="2000" dirty="0" err="1"/>
              <a:t>RT</a:t>
            </a:r>
            <a:r>
              <a:rPr lang="en-US" sz="1600" dirty="0" err="1"/>
              <a:t>Speak</a:t>
            </a:r>
            <a:r>
              <a:rPr lang="en-US" sz="1400" dirty="0"/>
              <a:t>   </a:t>
            </a:r>
            <a:r>
              <a:rPr lang="en-US" sz="2000" dirty="0"/>
              <a:t>-  RT</a:t>
            </a:r>
            <a:r>
              <a:rPr lang="en-US" sz="1600" dirty="0"/>
              <a:t>Speak</a:t>
            </a:r>
            <a:r>
              <a:rPr lang="en-US" sz="1200" dirty="0"/>
              <a:t>2</a:t>
            </a:r>
            <a:r>
              <a:rPr lang="en-US" sz="2000" dirty="0"/>
              <a:t>)</a:t>
            </a:r>
            <a:r>
              <a:rPr lang="en-US" sz="1400" dirty="0"/>
              <a:t>   </a:t>
            </a:r>
            <a:r>
              <a:rPr lang="en-US" sz="2400" b="1" dirty="0"/>
              <a:t>&lt;</a:t>
            </a:r>
            <a:r>
              <a:rPr lang="en-US" sz="2000" dirty="0"/>
              <a:t>   (</a:t>
            </a:r>
            <a:r>
              <a:rPr lang="en-US" sz="2000" dirty="0" err="1"/>
              <a:t>RT</a:t>
            </a:r>
            <a:r>
              <a:rPr lang="en-US" sz="1600" dirty="0" err="1"/>
              <a:t>Type</a:t>
            </a:r>
            <a:r>
              <a:rPr lang="en-US" sz="1400" dirty="0"/>
              <a:t>   </a:t>
            </a:r>
            <a:r>
              <a:rPr lang="en-US" sz="2000" dirty="0"/>
              <a:t>-   RT</a:t>
            </a:r>
            <a:r>
              <a:rPr lang="en-US" sz="1600" dirty="0"/>
              <a:t>Type</a:t>
            </a:r>
            <a:r>
              <a:rPr lang="en-US" sz="1200" dirty="0"/>
              <a:t>2</a:t>
            </a:r>
            <a:r>
              <a:rPr lang="en-US" sz="2000" dirty="0"/>
              <a:t>)</a:t>
            </a:r>
          </a:p>
          <a:p>
            <a:pPr algn="ctr"/>
            <a:r>
              <a:rPr lang="en-US" sz="2000" dirty="0"/>
              <a:t>     50ms </a:t>
            </a:r>
            <a:r>
              <a:rPr lang="en-US" sz="2000" b="1" dirty="0"/>
              <a:t>&lt;</a:t>
            </a:r>
            <a:r>
              <a:rPr lang="en-US" sz="2000" dirty="0"/>
              <a:t>  100ms</a:t>
            </a:r>
            <a:endParaRPr lang="el-GR" sz="2000" dirty="0"/>
          </a:p>
          <a:p>
            <a:pPr algn="ctr"/>
            <a:endParaRPr lang="el-GR" sz="2000" dirty="0"/>
          </a:p>
        </p:txBody>
      </p:sp>
      <p:sp>
        <p:nvSpPr>
          <p:cNvPr id="42" name="TextBox 41">
            <a:extLst>
              <a:ext uri="{FF2B5EF4-FFF2-40B4-BE49-F238E27FC236}">
                <a16:creationId xmlns:a16="http://schemas.microsoft.com/office/drawing/2014/main" id="{9B65ED12-02F4-9879-CC3E-FBBE8910C620}"/>
              </a:ext>
            </a:extLst>
          </p:cNvPr>
          <p:cNvSpPr txBox="1"/>
          <p:nvPr/>
        </p:nvSpPr>
        <p:spPr>
          <a:xfrm>
            <a:off x="4214811" y="5952894"/>
            <a:ext cx="3762377" cy="369332"/>
          </a:xfrm>
          <a:prstGeom prst="rect">
            <a:avLst/>
          </a:prstGeom>
          <a:noFill/>
        </p:spPr>
        <p:txBody>
          <a:bodyPr wrap="square">
            <a:spAutoFit/>
          </a:bodyPr>
          <a:lstStyle/>
          <a:p>
            <a:pPr algn="ctr"/>
            <a:r>
              <a:rPr lang="en-US" b="1" dirty="0"/>
              <a:t>Asymmetrical switch cost </a:t>
            </a:r>
            <a:endParaRPr lang="el-GR" b="1" dirty="0"/>
          </a:p>
        </p:txBody>
      </p:sp>
      <p:pic>
        <p:nvPicPr>
          <p:cNvPr id="3" name="Picture 2">
            <a:extLst>
              <a:ext uri="{FF2B5EF4-FFF2-40B4-BE49-F238E27FC236}">
                <a16:creationId xmlns:a16="http://schemas.microsoft.com/office/drawing/2014/main" id="{5AF31A7E-CF0C-2AFF-D179-0A16C8F2A698}"/>
              </a:ext>
            </a:extLst>
          </p:cNvPr>
          <p:cNvPicPr>
            <a:picLocks noChangeAspect="1"/>
          </p:cNvPicPr>
          <p:nvPr/>
        </p:nvPicPr>
        <p:blipFill rotWithShape="1">
          <a:blip r:embed="rId3">
            <a:extLst>
              <a:ext uri="{28A0092B-C50C-407E-A947-70E740481C1C}">
                <a14:useLocalDpi xmlns:a14="http://schemas.microsoft.com/office/drawing/2010/main" val="0"/>
              </a:ext>
            </a:extLst>
          </a:blip>
          <a:srcRect l="3315" t="5555" r="3890" b="8885"/>
          <a:stretch/>
        </p:blipFill>
        <p:spPr>
          <a:xfrm>
            <a:off x="231671" y="535774"/>
            <a:ext cx="5618803" cy="2914100"/>
          </a:xfrm>
          <a:prstGeom prst="rect">
            <a:avLst/>
          </a:prstGeom>
        </p:spPr>
      </p:pic>
      <p:pic>
        <p:nvPicPr>
          <p:cNvPr id="6" name="Picture 5" descr="Diagram&#10;&#10;Description automatically generated">
            <a:extLst>
              <a:ext uri="{FF2B5EF4-FFF2-40B4-BE49-F238E27FC236}">
                <a16:creationId xmlns:a16="http://schemas.microsoft.com/office/drawing/2014/main" id="{7B1FE882-E0D8-AFB1-6078-EE08C415EF07}"/>
              </a:ext>
            </a:extLst>
          </p:cNvPr>
          <p:cNvPicPr>
            <a:picLocks noChangeAspect="1"/>
          </p:cNvPicPr>
          <p:nvPr/>
        </p:nvPicPr>
        <p:blipFill rotWithShape="1">
          <a:blip r:embed="rId4">
            <a:extLst>
              <a:ext uri="{28A0092B-C50C-407E-A947-70E740481C1C}">
                <a14:useLocalDpi xmlns:a14="http://schemas.microsoft.com/office/drawing/2010/main" val="0"/>
              </a:ext>
            </a:extLst>
          </a:blip>
          <a:srcRect l="3669" t="6835" r="3587" b="7867"/>
          <a:stretch/>
        </p:blipFill>
        <p:spPr>
          <a:xfrm>
            <a:off x="6364060" y="612963"/>
            <a:ext cx="5483675" cy="2836911"/>
          </a:xfrm>
          <a:prstGeom prst="rect">
            <a:avLst/>
          </a:prstGeom>
        </p:spPr>
      </p:pic>
    </p:spTree>
    <p:extLst>
      <p:ext uri="{BB962C8B-B14F-4D97-AF65-F5344CB8AC3E}">
        <p14:creationId xmlns:p14="http://schemas.microsoft.com/office/powerpoint/2010/main" val="194646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DDF5F3FA-736C-0ACB-9F38-8EC0D00915F8}"/>
              </a:ext>
            </a:extLst>
          </p:cNvPr>
          <p:cNvSpPr/>
          <p:nvPr/>
        </p:nvSpPr>
        <p:spPr>
          <a:xfrm>
            <a:off x="145474" y="238991"/>
            <a:ext cx="5791199" cy="360564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3" name="Rectangle: Rounded Corners 12">
            <a:extLst>
              <a:ext uri="{FF2B5EF4-FFF2-40B4-BE49-F238E27FC236}">
                <a16:creationId xmlns:a16="http://schemas.microsoft.com/office/drawing/2014/main" id="{C1B6BA73-8F8D-59AB-72CE-27515C47012A}"/>
              </a:ext>
            </a:extLst>
          </p:cNvPr>
          <p:cNvSpPr/>
          <p:nvPr/>
        </p:nvSpPr>
        <p:spPr>
          <a:xfrm>
            <a:off x="6165271" y="228597"/>
            <a:ext cx="5881255" cy="360564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5" name="Callout: Down Arrow 14">
            <a:extLst>
              <a:ext uri="{FF2B5EF4-FFF2-40B4-BE49-F238E27FC236}">
                <a16:creationId xmlns:a16="http://schemas.microsoft.com/office/drawing/2014/main" id="{7BA01B45-9F48-1055-3ADA-537A1EE3711C}"/>
              </a:ext>
            </a:extLst>
          </p:cNvPr>
          <p:cNvSpPr/>
          <p:nvPr/>
        </p:nvSpPr>
        <p:spPr>
          <a:xfrm>
            <a:off x="2830006" y="4322613"/>
            <a:ext cx="6531985" cy="1524006"/>
          </a:xfrm>
          <a:prstGeom prst="downArrowCallou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a:t>
            </a:r>
            <a:r>
              <a:rPr lang="en-US" sz="2000" dirty="0" err="1"/>
              <a:t>RT</a:t>
            </a:r>
            <a:r>
              <a:rPr lang="en-US" sz="1600" dirty="0" err="1"/>
              <a:t>Speak</a:t>
            </a:r>
            <a:r>
              <a:rPr lang="en-US" sz="1400" dirty="0"/>
              <a:t>   </a:t>
            </a:r>
            <a:r>
              <a:rPr lang="en-US" sz="2000" dirty="0"/>
              <a:t>-  RT</a:t>
            </a:r>
            <a:r>
              <a:rPr lang="en-US" sz="1600" dirty="0"/>
              <a:t>Speak</a:t>
            </a:r>
            <a:r>
              <a:rPr lang="en-US" sz="1200" dirty="0"/>
              <a:t>2</a:t>
            </a:r>
            <a:r>
              <a:rPr lang="en-US" sz="2000" dirty="0"/>
              <a:t>)</a:t>
            </a:r>
            <a:r>
              <a:rPr lang="en-US" sz="1400" dirty="0"/>
              <a:t>   </a:t>
            </a:r>
            <a:r>
              <a:rPr lang="en-US" sz="2400" b="1" dirty="0"/>
              <a:t>&lt;</a:t>
            </a:r>
            <a:r>
              <a:rPr lang="en-US" sz="2000" dirty="0"/>
              <a:t>   (</a:t>
            </a:r>
            <a:r>
              <a:rPr lang="en-US" sz="2000" dirty="0" err="1"/>
              <a:t>RT</a:t>
            </a:r>
            <a:r>
              <a:rPr lang="en-US" sz="1600" dirty="0" err="1"/>
              <a:t>Type</a:t>
            </a:r>
            <a:r>
              <a:rPr lang="en-US" sz="1400" dirty="0"/>
              <a:t>   </a:t>
            </a:r>
            <a:r>
              <a:rPr lang="en-US" sz="2000" dirty="0"/>
              <a:t>-   RT</a:t>
            </a:r>
            <a:r>
              <a:rPr lang="en-US" sz="1600" dirty="0"/>
              <a:t>Type</a:t>
            </a:r>
            <a:r>
              <a:rPr lang="en-US" sz="1200" dirty="0"/>
              <a:t>2</a:t>
            </a:r>
            <a:r>
              <a:rPr lang="en-US" sz="2000" dirty="0"/>
              <a:t>)</a:t>
            </a:r>
          </a:p>
          <a:p>
            <a:pPr algn="ctr"/>
            <a:r>
              <a:rPr lang="en-US" sz="2000" dirty="0"/>
              <a:t>   50ms </a:t>
            </a:r>
            <a:r>
              <a:rPr lang="en-US" sz="2000" b="1" dirty="0"/>
              <a:t>&lt;</a:t>
            </a:r>
            <a:r>
              <a:rPr lang="en-US" sz="2000" dirty="0"/>
              <a:t>  70ms</a:t>
            </a:r>
            <a:endParaRPr lang="el-GR" sz="2000" dirty="0"/>
          </a:p>
          <a:p>
            <a:pPr algn="ctr"/>
            <a:endParaRPr lang="el-GR" sz="2000" dirty="0"/>
          </a:p>
        </p:txBody>
      </p:sp>
      <p:sp>
        <p:nvSpPr>
          <p:cNvPr id="42" name="TextBox 41">
            <a:extLst>
              <a:ext uri="{FF2B5EF4-FFF2-40B4-BE49-F238E27FC236}">
                <a16:creationId xmlns:a16="http://schemas.microsoft.com/office/drawing/2014/main" id="{9B65ED12-02F4-9879-CC3E-FBBE8910C620}"/>
              </a:ext>
            </a:extLst>
          </p:cNvPr>
          <p:cNvSpPr txBox="1"/>
          <p:nvPr/>
        </p:nvSpPr>
        <p:spPr>
          <a:xfrm>
            <a:off x="4214811" y="5952894"/>
            <a:ext cx="3762377" cy="369332"/>
          </a:xfrm>
          <a:prstGeom prst="rect">
            <a:avLst/>
          </a:prstGeom>
          <a:noFill/>
        </p:spPr>
        <p:txBody>
          <a:bodyPr wrap="square">
            <a:spAutoFit/>
          </a:bodyPr>
          <a:lstStyle/>
          <a:p>
            <a:pPr algn="ctr"/>
            <a:r>
              <a:rPr lang="en-US" b="1" dirty="0"/>
              <a:t>Asymmetrical switch cost </a:t>
            </a:r>
            <a:endParaRPr lang="el-GR" b="1" dirty="0"/>
          </a:p>
        </p:txBody>
      </p:sp>
      <p:pic>
        <p:nvPicPr>
          <p:cNvPr id="4" name="Picture 3" descr="Diagram&#10;&#10;Description automatically generated">
            <a:extLst>
              <a:ext uri="{FF2B5EF4-FFF2-40B4-BE49-F238E27FC236}">
                <a16:creationId xmlns:a16="http://schemas.microsoft.com/office/drawing/2014/main" id="{B2C64533-9A5A-4DC4-8640-E37EEE584C9B}"/>
              </a:ext>
            </a:extLst>
          </p:cNvPr>
          <p:cNvPicPr>
            <a:picLocks noChangeAspect="1"/>
          </p:cNvPicPr>
          <p:nvPr/>
        </p:nvPicPr>
        <p:blipFill rotWithShape="1">
          <a:blip r:embed="rId3">
            <a:extLst>
              <a:ext uri="{28A0092B-C50C-407E-A947-70E740481C1C}">
                <a14:useLocalDpi xmlns:a14="http://schemas.microsoft.com/office/drawing/2010/main" val="0"/>
              </a:ext>
            </a:extLst>
          </a:blip>
          <a:srcRect l="3078" t="6608" r="3906" b="7871"/>
          <a:stretch/>
        </p:blipFill>
        <p:spPr>
          <a:xfrm>
            <a:off x="318654" y="633845"/>
            <a:ext cx="5444837" cy="2815936"/>
          </a:xfrm>
          <a:prstGeom prst="rect">
            <a:avLst/>
          </a:prstGeom>
        </p:spPr>
      </p:pic>
      <p:pic>
        <p:nvPicPr>
          <p:cNvPr id="7" name="Picture 6" descr="Diagram&#10;&#10;Description automatically generated">
            <a:extLst>
              <a:ext uri="{FF2B5EF4-FFF2-40B4-BE49-F238E27FC236}">
                <a16:creationId xmlns:a16="http://schemas.microsoft.com/office/drawing/2014/main" id="{11BBBCD4-D02B-B690-AF28-5CA95B188FA2}"/>
              </a:ext>
            </a:extLst>
          </p:cNvPr>
          <p:cNvPicPr>
            <a:picLocks noChangeAspect="1"/>
          </p:cNvPicPr>
          <p:nvPr/>
        </p:nvPicPr>
        <p:blipFill rotWithShape="1">
          <a:blip r:embed="rId4">
            <a:extLst>
              <a:ext uri="{28A0092B-C50C-407E-A947-70E740481C1C}">
                <a14:useLocalDpi xmlns:a14="http://schemas.microsoft.com/office/drawing/2010/main" val="0"/>
              </a:ext>
            </a:extLst>
          </a:blip>
          <a:srcRect l="3143" t="6677" r="4255" b="6196"/>
          <a:stretch/>
        </p:blipFill>
        <p:spPr>
          <a:xfrm>
            <a:off x="6254717" y="535774"/>
            <a:ext cx="5663094" cy="2997135"/>
          </a:xfrm>
          <a:prstGeom prst="rect">
            <a:avLst/>
          </a:prstGeom>
        </p:spPr>
      </p:pic>
    </p:spTree>
    <p:extLst>
      <p:ext uri="{BB962C8B-B14F-4D97-AF65-F5344CB8AC3E}">
        <p14:creationId xmlns:p14="http://schemas.microsoft.com/office/powerpoint/2010/main" val="126126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911" y="1665142"/>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8820" y="1693851"/>
            <a:ext cx="856982" cy="843131"/>
          </a:xfrm>
          <a:prstGeom prst="rect">
            <a:avLst/>
          </a:prstGeom>
        </p:spPr>
      </p:pic>
      <p:sp>
        <p:nvSpPr>
          <p:cNvPr id="14" name="Arrow: Right 13">
            <a:extLst>
              <a:ext uri="{FF2B5EF4-FFF2-40B4-BE49-F238E27FC236}">
                <a16:creationId xmlns:a16="http://schemas.microsoft.com/office/drawing/2014/main" id="{30C3DA05-C931-2DD6-7D9A-CD7B781AF301}"/>
              </a:ext>
            </a:extLst>
          </p:cNvPr>
          <p:cNvSpPr/>
          <p:nvPr/>
        </p:nvSpPr>
        <p:spPr>
          <a:xfrm rot="3460689">
            <a:off x="7755934" y="2834303"/>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Arrow: Right 14">
            <a:extLst>
              <a:ext uri="{FF2B5EF4-FFF2-40B4-BE49-F238E27FC236}">
                <a16:creationId xmlns:a16="http://schemas.microsoft.com/office/drawing/2014/main" id="{C6045A99-6E5D-82B7-9191-338A125E0DEA}"/>
              </a:ext>
            </a:extLst>
          </p:cNvPr>
          <p:cNvSpPr/>
          <p:nvPr/>
        </p:nvSpPr>
        <p:spPr>
          <a:xfrm rot="7548208">
            <a:off x="9514971" y="2831773"/>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9640378" y="1163347"/>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p>
        </p:txBody>
      </p:sp>
      <p:sp>
        <p:nvSpPr>
          <p:cNvPr id="25" name="Rectangle 24">
            <a:extLst>
              <a:ext uri="{FF2B5EF4-FFF2-40B4-BE49-F238E27FC236}">
                <a16:creationId xmlns:a16="http://schemas.microsoft.com/office/drawing/2014/main" id="{24E7E408-B441-09B3-45C8-734F53C57BF7}"/>
              </a:ext>
            </a:extLst>
          </p:cNvPr>
          <p:cNvSpPr/>
          <p:nvPr/>
        </p:nvSpPr>
        <p:spPr>
          <a:xfrm>
            <a:off x="7084813" y="1149855"/>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p>
        </p:txBody>
      </p:sp>
      <p:sp>
        <p:nvSpPr>
          <p:cNvPr id="33" name="TextBox 32">
            <a:extLst>
              <a:ext uri="{FF2B5EF4-FFF2-40B4-BE49-F238E27FC236}">
                <a16:creationId xmlns:a16="http://schemas.microsoft.com/office/drawing/2014/main" id="{FBC62830-498F-C12D-14A9-03C9EA6AC5E2}"/>
              </a:ext>
            </a:extLst>
          </p:cNvPr>
          <p:cNvSpPr txBox="1"/>
          <p:nvPr/>
        </p:nvSpPr>
        <p:spPr>
          <a:xfrm>
            <a:off x="6609615" y="3524435"/>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9329251" y="3490189"/>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8091187" y="3490189"/>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10994866" y="3503677"/>
            <a:ext cx="690228" cy="369332"/>
          </a:xfrm>
          <a:prstGeom prst="rect">
            <a:avLst/>
          </a:prstGeom>
          <a:noFill/>
        </p:spPr>
        <p:txBody>
          <a:bodyPr wrap="square" rtlCol="0">
            <a:spAutoFit/>
          </a:bodyPr>
          <a:lstStyle/>
          <a:p>
            <a:r>
              <a:rPr lang="en-US" dirty="0"/>
              <a:t>Orth</a:t>
            </a:r>
            <a:endParaRPr lang="el-GR" dirty="0"/>
          </a:p>
        </p:txBody>
      </p:sp>
      <p:sp>
        <p:nvSpPr>
          <p:cNvPr id="6" name="Arrow: Right 5">
            <a:extLst>
              <a:ext uri="{FF2B5EF4-FFF2-40B4-BE49-F238E27FC236}">
                <a16:creationId xmlns:a16="http://schemas.microsoft.com/office/drawing/2014/main" id="{5C40282F-D605-6ECA-719A-1F9040DA8E7C}"/>
              </a:ext>
            </a:extLst>
          </p:cNvPr>
          <p:cNvSpPr/>
          <p:nvPr/>
        </p:nvSpPr>
        <p:spPr>
          <a:xfrm rot="3460689">
            <a:off x="10635375" y="3008845"/>
            <a:ext cx="718980" cy="210154"/>
          </a:xfrm>
          <a:custGeom>
            <a:avLst/>
            <a:gdLst>
              <a:gd name="connsiteX0" fmla="*/ 0 w 718980"/>
              <a:gd name="connsiteY0" fmla="*/ 52539 h 210154"/>
              <a:gd name="connsiteX1" fmla="*/ 319230 w 718980"/>
              <a:gd name="connsiteY1" fmla="*/ 52539 h 210154"/>
              <a:gd name="connsiteX2" fmla="*/ 613903 w 718980"/>
              <a:gd name="connsiteY2" fmla="*/ 52539 h 210154"/>
              <a:gd name="connsiteX3" fmla="*/ 613903 w 718980"/>
              <a:gd name="connsiteY3" fmla="*/ 0 h 210154"/>
              <a:gd name="connsiteX4" fmla="*/ 718980 w 718980"/>
              <a:gd name="connsiteY4" fmla="*/ 105077 h 210154"/>
              <a:gd name="connsiteX5" fmla="*/ 613903 w 718980"/>
              <a:gd name="connsiteY5" fmla="*/ 210154 h 210154"/>
              <a:gd name="connsiteX6" fmla="*/ 613903 w 718980"/>
              <a:gd name="connsiteY6" fmla="*/ 157616 h 210154"/>
              <a:gd name="connsiteX7" fmla="*/ 306952 w 718980"/>
              <a:gd name="connsiteY7" fmla="*/ 157616 h 210154"/>
              <a:gd name="connsiteX8" fmla="*/ 0 w 718980"/>
              <a:gd name="connsiteY8" fmla="*/ 157616 h 210154"/>
              <a:gd name="connsiteX9" fmla="*/ 0 w 718980"/>
              <a:gd name="connsiteY9" fmla="*/ 52539 h 21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210154" fill="none" extrusionOk="0">
                <a:moveTo>
                  <a:pt x="0" y="52539"/>
                </a:moveTo>
                <a:cubicBezTo>
                  <a:pt x="128550" y="22277"/>
                  <a:pt x="195853" y="83647"/>
                  <a:pt x="319230" y="52539"/>
                </a:cubicBezTo>
                <a:cubicBezTo>
                  <a:pt x="442607" y="21431"/>
                  <a:pt x="479552" y="63411"/>
                  <a:pt x="613903" y="52539"/>
                </a:cubicBezTo>
                <a:cubicBezTo>
                  <a:pt x="609654" y="26535"/>
                  <a:pt x="617879" y="11892"/>
                  <a:pt x="613903" y="0"/>
                </a:cubicBezTo>
                <a:cubicBezTo>
                  <a:pt x="652607" y="31661"/>
                  <a:pt x="663453" y="67674"/>
                  <a:pt x="718980" y="105077"/>
                </a:cubicBezTo>
                <a:cubicBezTo>
                  <a:pt x="678644" y="149565"/>
                  <a:pt x="632699" y="186515"/>
                  <a:pt x="613903" y="210154"/>
                </a:cubicBezTo>
                <a:cubicBezTo>
                  <a:pt x="610067" y="190396"/>
                  <a:pt x="619796" y="174466"/>
                  <a:pt x="613903" y="157616"/>
                </a:cubicBezTo>
                <a:cubicBezTo>
                  <a:pt x="522270" y="180903"/>
                  <a:pt x="405748" y="155565"/>
                  <a:pt x="306952" y="157616"/>
                </a:cubicBezTo>
                <a:cubicBezTo>
                  <a:pt x="208156" y="159667"/>
                  <a:pt x="118974" y="153984"/>
                  <a:pt x="0" y="157616"/>
                </a:cubicBezTo>
                <a:cubicBezTo>
                  <a:pt x="-11245" y="112319"/>
                  <a:pt x="9881" y="89358"/>
                  <a:pt x="0" y="52539"/>
                </a:cubicBezTo>
                <a:close/>
              </a:path>
              <a:path w="718980" h="210154" stroke="0" extrusionOk="0">
                <a:moveTo>
                  <a:pt x="0" y="52539"/>
                </a:moveTo>
                <a:cubicBezTo>
                  <a:pt x="115691" y="49992"/>
                  <a:pt x="249082" y="74371"/>
                  <a:pt x="319230" y="52539"/>
                </a:cubicBezTo>
                <a:cubicBezTo>
                  <a:pt x="389378" y="30707"/>
                  <a:pt x="518899" y="61032"/>
                  <a:pt x="613903" y="52539"/>
                </a:cubicBezTo>
                <a:cubicBezTo>
                  <a:pt x="608832" y="31908"/>
                  <a:pt x="615301" y="23519"/>
                  <a:pt x="613903" y="0"/>
                </a:cubicBezTo>
                <a:cubicBezTo>
                  <a:pt x="641131" y="17983"/>
                  <a:pt x="674293" y="60767"/>
                  <a:pt x="718980" y="105077"/>
                </a:cubicBezTo>
                <a:cubicBezTo>
                  <a:pt x="692800" y="150840"/>
                  <a:pt x="648861" y="159321"/>
                  <a:pt x="613903" y="210154"/>
                </a:cubicBezTo>
                <a:cubicBezTo>
                  <a:pt x="612143" y="184726"/>
                  <a:pt x="617836" y="169948"/>
                  <a:pt x="613903" y="157616"/>
                </a:cubicBezTo>
                <a:cubicBezTo>
                  <a:pt x="531652" y="171450"/>
                  <a:pt x="410930" y="122820"/>
                  <a:pt x="319230" y="157616"/>
                </a:cubicBezTo>
                <a:cubicBezTo>
                  <a:pt x="227530" y="192412"/>
                  <a:pt x="156487" y="145813"/>
                  <a:pt x="0" y="157616"/>
                </a:cubicBezTo>
                <a:cubicBezTo>
                  <a:pt x="-5787" y="121967"/>
                  <a:pt x="8931" y="104643"/>
                  <a:pt x="0" y="52539"/>
                </a:cubicBezTo>
                <a:close/>
              </a:path>
            </a:pathLst>
          </a:custGeom>
          <a:solidFill>
            <a:schemeClr val="tx1">
              <a:lumMod val="75000"/>
              <a:lumOff val="25000"/>
            </a:schemeClr>
          </a:solidFill>
          <a:ln w="19050">
            <a:solidFill>
              <a:schemeClr val="tx1">
                <a:lumMod val="75000"/>
                <a:lumOff val="25000"/>
              </a:schemeClr>
            </a:solidFill>
            <a:prstDash val="solid"/>
            <a:extLst>
              <a:ext uri="{C807C97D-BFC1-408E-A445-0C87EB9F89A2}">
                <ask:lineSketchStyleProps xmlns:ask="http://schemas.microsoft.com/office/drawing/2018/sketchyshapes" sd="146513842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7" name="Picture 6" descr="A picture containing diagram&#10;&#10;Description automatically generated">
            <a:extLst>
              <a:ext uri="{FF2B5EF4-FFF2-40B4-BE49-F238E27FC236}">
                <a16:creationId xmlns:a16="http://schemas.microsoft.com/office/drawing/2014/main" id="{A682D5DD-1594-F93D-9BB5-B5AA733B8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512" y="1706706"/>
            <a:ext cx="856982" cy="843131"/>
          </a:xfrm>
          <a:prstGeom prst="rect">
            <a:avLst/>
          </a:prstGeom>
        </p:spPr>
      </p:pic>
      <p:sp>
        <p:nvSpPr>
          <p:cNvPr id="10" name="Arrow: Right 9">
            <a:extLst>
              <a:ext uri="{FF2B5EF4-FFF2-40B4-BE49-F238E27FC236}">
                <a16:creationId xmlns:a16="http://schemas.microsoft.com/office/drawing/2014/main" id="{F20CCDC7-6D27-FEF8-393F-C952CF5A3DE8}"/>
              </a:ext>
            </a:extLst>
          </p:cNvPr>
          <p:cNvSpPr/>
          <p:nvPr/>
        </p:nvSpPr>
        <p:spPr>
          <a:xfrm rot="7548208">
            <a:off x="739255" y="2837058"/>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1" name="Rectangle 10">
            <a:extLst>
              <a:ext uri="{FF2B5EF4-FFF2-40B4-BE49-F238E27FC236}">
                <a16:creationId xmlns:a16="http://schemas.microsoft.com/office/drawing/2014/main" id="{FE716DC7-5B14-F235-B266-490598D3F065}"/>
              </a:ext>
            </a:extLst>
          </p:cNvPr>
          <p:cNvSpPr/>
          <p:nvPr/>
        </p:nvSpPr>
        <p:spPr>
          <a:xfrm>
            <a:off x="846070" y="1157632"/>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r>
              <a:rPr lang="en-US" sz="1600" b="1" dirty="0">
                <a:ln w="22225">
                  <a:solidFill>
                    <a:srgbClr val="00B050"/>
                  </a:solidFill>
                  <a:prstDash val="solid"/>
                </a:ln>
                <a:solidFill>
                  <a:srgbClr val="00B050"/>
                </a:solidFill>
              </a:rPr>
              <a:t>1</a:t>
            </a:r>
            <a:endParaRPr lang="en-US" sz="2400" b="1" dirty="0">
              <a:ln w="22225">
                <a:solidFill>
                  <a:srgbClr val="00B050"/>
                </a:solidFill>
                <a:prstDash val="solid"/>
              </a:ln>
              <a:solidFill>
                <a:srgbClr val="00B050"/>
              </a:solidFill>
            </a:endParaRPr>
          </a:p>
        </p:txBody>
      </p:sp>
      <p:sp>
        <p:nvSpPr>
          <p:cNvPr id="17" name="TextBox 16">
            <a:extLst>
              <a:ext uri="{FF2B5EF4-FFF2-40B4-BE49-F238E27FC236}">
                <a16:creationId xmlns:a16="http://schemas.microsoft.com/office/drawing/2014/main" id="{217D213A-9240-DA2A-C217-AEEF1DAD809D}"/>
              </a:ext>
            </a:extLst>
          </p:cNvPr>
          <p:cNvSpPr txBox="1"/>
          <p:nvPr/>
        </p:nvSpPr>
        <p:spPr>
          <a:xfrm>
            <a:off x="587216" y="3565999"/>
            <a:ext cx="690228" cy="369332"/>
          </a:xfrm>
          <a:prstGeom prst="rect">
            <a:avLst/>
          </a:prstGeom>
          <a:noFill/>
        </p:spPr>
        <p:txBody>
          <a:bodyPr wrap="square" rtlCol="0">
            <a:spAutoFit/>
          </a:bodyPr>
          <a:lstStyle/>
          <a:p>
            <a:r>
              <a:rPr lang="en-US" dirty="0" err="1"/>
              <a:t>Phon</a:t>
            </a:r>
            <a:endParaRPr lang="el-GR" dirty="0"/>
          </a:p>
        </p:txBody>
      </p:sp>
      <p:sp>
        <p:nvSpPr>
          <p:cNvPr id="21" name="TextBox 20">
            <a:extLst>
              <a:ext uri="{FF2B5EF4-FFF2-40B4-BE49-F238E27FC236}">
                <a16:creationId xmlns:a16="http://schemas.microsoft.com/office/drawing/2014/main" id="{962B6257-47AC-B85B-0BEC-4181A565BC85}"/>
              </a:ext>
            </a:extLst>
          </p:cNvPr>
          <p:cNvSpPr txBox="1"/>
          <p:nvPr/>
        </p:nvSpPr>
        <p:spPr>
          <a:xfrm>
            <a:off x="2068788" y="3531753"/>
            <a:ext cx="690228" cy="369332"/>
          </a:xfrm>
          <a:prstGeom prst="rect">
            <a:avLst/>
          </a:prstGeom>
          <a:noFill/>
        </p:spPr>
        <p:txBody>
          <a:bodyPr wrap="square" rtlCol="0">
            <a:spAutoFit/>
          </a:bodyPr>
          <a:lstStyle/>
          <a:p>
            <a:r>
              <a:rPr lang="en-US" dirty="0"/>
              <a:t>Orth</a:t>
            </a:r>
            <a:endParaRPr lang="el-GR" dirty="0"/>
          </a:p>
        </p:txBody>
      </p:sp>
      <p:sp>
        <p:nvSpPr>
          <p:cNvPr id="22" name="Arrow: Right 21">
            <a:extLst>
              <a:ext uri="{FF2B5EF4-FFF2-40B4-BE49-F238E27FC236}">
                <a16:creationId xmlns:a16="http://schemas.microsoft.com/office/drawing/2014/main" id="{48B3CDF5-CC46-7037-08C3-07FA5BC61783}"/>
              </a:ext>
            </a:extLst>
          </p:cNvPr>
          <p:cNvSpPr/>
          <p:nvPr/>
        </p:nvSpPr>
        <p:spPr>
          <a:xfrm rot="3460689">
            <a:off x="1817186" y="3008845"/>
            <a:ext cx="718980" cy="210154"/>
          </a:xfrm>
          <a:prstGeom prst="rightArrow">
            <a:avLst/>
          </a:prstGeom>
          <a:noFill/>
          <a:ln w="19050">
            <a:solidFill>
              <a:schemeClr val="tx1">
                <a:lumMod val="75000"/>
                <a:lumOff val="25000"/>
              </a:schemeClr>
            </a:solidFill>
            <a:prstDash val="sysDash"/>
            <a:extLst>
              <a:ext uri="{C807C97D-BFC1-408E-A445-0C87EB9F89A2}">
                <ask:lineSketchStyleProps xmlns:ask="http://schemas.microsoft.com/office/drawing/2018/sketchyshapes" sd="1465138424">
                  <a:custGeom>
                    <a:avLst/>
                    <a:gdLst>
                      <a:gd name="connsiteX0" fmla="*/ 0 w 718980"/>
                      <a:gd name="connsiteY0" fmla="*/ 41171 h 164685"/>
                      <a:gd name="connsiteX1" fmla="*/ 331052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18319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141782" y="10202"/>
                          <a:pt x="248439" y="58735"/>
                          <a:pt x="331052" y="41171"/>
                        </a:cubicBezTo>
                        <a:cubicBezTo>
                          <a:pt x="413665" y="23607"/>
                          <a:pt x="557301" y="55702"/>
                          <a:pt x="636638" y="41171"/>
                        </a:cubicBezTo>
                        <a:cubicBezTo>
                          <a:pt x="635610" y="20984"/>
                          <a:pt x="641210" y="12434"/>
                          <a:pt x="636638" y="0"/>
                        </a:cubicBezTo>
                        <a:cubicBezTo>
                          <a:pt x="657852" y="16163"/>
                          <a:pt x="680571" y="50176"/>
                          <a:pt x="718980" y="82343"/>
                        </a:cubicBezTo>
                        <a:cubicBezTo>
                          <a:pt x="683000" y="124800"/>
                          <a:pt x="659827" y="132774"/>
                          <a:pt x="636638" y="164685"/>
                        </a:cubicBezTo>
                        <a:cubicBezTo>
                          <a:pt x="633650" y="151901"/>
                          <a:pt x="639907" y="135639"/>
                          <a:pt x="636638" y="123514"/>
                        </a:cubicBezTo>
                        <a:cubicBezTo>
                          <a:pt x="515057" y="132937"/>
                          <a:pt x="408101" y="96358"/>
                          <a:pt x="318319" y="123514"/>
                        </a:cubicBezTo>
                        <a:cubicBezTo>
                          <a:pt x="228537" y="150670"/>
                          <a:pt x="99981" y="89805"/>
                          <a:pt x="0" y="123514"/>
                        </a:cubicBezTo>
                        <a:cubicBezTo>
                          <a:pt x="-4406" y="96648"/>
                          <a:pt x="4670" y="66043"/>
                          <a:pt x="0" y="41171"/>
                        </a:cubicBezTo>
                        <a:close/>
                      </a:path>
                      <a:path w="718980" h="164685" stroke="0" extrusionOk="0">
                        <a:moveTo>
                          <a:pt x="0" y="41171"/>
                        </a:moveTo>
                        <a:cubicBezTo>
                          <a:pt x="150633" y="2943"/>
                          <a:pt x="221432" y="49488"/>
                          <a:pt x="331052" y="41171"/>
                        </a:cubicBezTo>
                        <a:cubicBezTo>
                          <a:pt x="440672" y="32854"/>
                          <a:pt x="559028" y="45006"/>
                          <a:pt x="636638" y="41171"/>
                        </a:cubicBezTo>
                        <a:cubicBezTo>
                          <a:pt x="631909" y="27594"/>
                          <a:pt x="640374" y="17028"/>
                          <a:pt x="636638" y="0"/>
                        </a:cubicBezTo>
                        <a:cubicBezTo>
                          <a:pt x="667008" y="24445"/>
                          <a:pt x="691800" y="55950"/>
                          <a:pt x="718980" y="82343"/>
                        </a:cubicBezTo>
                        <a:cubicBezTo>
                          <a:pt x="689032" y="128521"/>
                          <a:pt x="656266" y="143706"/>
                          <a:pt x="636638" y="164685"/>
                        </a:cubicBezTo>
                        <a:cubicBezTo>
                          <a:pt x="633150" y="156294"/>
                          <a:pt x="640453" y="141939"/>
                          <a:pt x="636638" y="123514"/>
                        </a:cubicBezTo>
                        <a:cubicBezTo>
                          <a:pt x="516154" y="137412"/>
                          <a:pt x="416780" y="95159"/>
                          <a:pt x="331052" y="123514"/>
                        </a:cubicBezTo>
                        <a:cubicBezTo>
                          <a:pt x="245324" y="151869"/>
                          <a:pt x="96678" y="121015"/>
                          <a:pt x="0" y="123514"/>
                        </a:cubicBezTo>
                        <a:cubicBezTo>
                          <a:pt x="-2965" y="94571"/>
                          <a:pt x="804" y="72451"/>
                          <a:pt x="0" y="41171"/>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24" name="Picture 23" descr="A picture containing diagram&#10;&#10;Description automatically generated">
            <a:extLst>
              <a:ext uri="{FF2B5EF4-FFF2-40B4-BE49-F238E27FC236}">
                <a16:creationId xmlns:a16="http://schemas.microsoft.com/office/drawing/2014/main" id="{B2D33CA7-BA0E-4011-CCCC-862D2306C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896" y="1730125"/>
            <a:ext cx="856982" cy="843131"/>
          </a:xfrm>
          <a:prstGeom prst="rect">
            <a:avLst/>
          </a:prstGeom>
        </p:spPr>
      </p:pic>
      <p:sp>
        <p:nvSpPr>
          <p:cNvPr id="26" name="Arrow: Right 25">
            <a:extLst>
              <a:ext uri="{FF2B5EF4-FFF2-40B4-BE49-F238E27FC236}">
                <a16:creationId xmlns:a16="http://schemas.microsoft.com/office/drawing/2014/main" id="{6D9CB499-1E39-6770-4F32-2E704ADF7B24}"/>
              </a:ext>
            </a:extLst>
          </p:cNvPr>
          <p:cNvSpPr/>
          <p:nvPr/>
        </p:nvSpPr>
        <p:spPr>
          <a:xfrm rot="7548208">
            <a:off x="3579639" y="2860477"/>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7" name="Rectangle 26">
            <a:extLst>
              <a:ext uri="{FF2B5EF4-FFF2-40B4-BE49-F238E27FC236}">
                <a16:creationId xmlns:a16="http://schemas.microsoft.com/office/drawing/2014/main" id="{12003371-3FCF-2CE2-9E81-5DF5EE334338}"/>
              </a:ext>
            </a:extLst>
          </p:cNvPr>
          <p:cNvSpPr/>
          <p:nvPr/>
        </p:nvSpPr>
        <p:spPr>
          <a:xfrm>
            <a:off x="3647829" y="1156180"/>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r>
              <a:rPr lang="en-US" sz="1600" b="1" dirty="0">
                <a:ln w="22225">
                  <a:solidFill>
                    <a:srgbClr val="00B050"/>
                  </a:solidFill>
                  <a:prstDash val="solid"/>
                </a:ln>
                <a:solidFill>
                  <a:srgbClr val="00B050"/>
                </a:solidFill>
              </a:rPr>
              <a:t>2</a:t>
            </a:r>
            <a:endParaRPr lang="en-US" sz="2400" b="1" dirty="0">
              <a:ln w="22225">
                <a:solidFill>
                  <a:srgbClr val="00B050"/>
                </a:solidFill>
                <a:prstDash val="solid"/>
              </a:ln>
              <a:solidFill>
                <a:srgbClr val="00B050"/>
              </a:solidFill>
            </a:endParaRPr>
          </a:p>
        </p:txBody>
      </p:sp>
      <p:sp>
        <p:nvSpPr>
          <p:cNvPr id="28" name="TextBox 27">
            <a:extLst>
              <a:ext uri="{FF2B5EF4-FFF2-40B4-BE49-F238E27FC236}">
                <a16:creationId xmlns:a16="http://schemas.microsoft.com/office/drawing/2014/main" id="{E8A3676C-AFF4-C20B-BD97-848E8B5C153D}"/>
              </a:ext>
            </a:extLst>
          </p:cNvPr>
          <p:cNvSpPr txBox="1"/>
          <p:nvPr/>
        </p:nvSpPr>
        <p:spPr>
          <a:xfrm>
            <a:off x="3427600" y="3589418"/>
            <a:ext cx="690228" cy="369332"/>
          </a:xfrm>
          <a:prstGeom prst="rect">
            <a:avLst/>
          </a:prstGeom>
          <a:noFill/>
        </p:spPr>
        <p:txBody>
          <a:bodyPr wrap="square" rtlCol="0">
            <a:spAutoFit/>
          </a:bodyPr>
          <a:lstStyle/>
          <a:p>
            <a:r>
              <a:rPr lang="en-US" dirty="0" err="1"/>
              <a:t>Phon</a:t>
            </a:r>
            <a:endParaRPr lang="el-GR" dirty="0"/>
          </a:p>
        </p:txBody>
      </p:sp>
      <p:sp>
        <p:nvSpPr>
          <p:cNvPr id="29" name="TextBox 28">
            <a:extLst>
              <a:ext uri="{FF2B5EF4-FFF2-40B4-BE49-F238E27FC236}">
                <a16:creationId xmlns:a16="http://schemas.microsoft.com/office/drawing/2014/main" id="{15048472-E1D6-4537-C17B-9CD816BD323D}"/>
              </a:ext>
            </a:extLst>
          </p:cNvPr>
          <p:cNvSpPr txBox="1"/>
          <p:nvPr/>
        </p:nvSpPr>
        <p:spPr>
          <a:xfrm>
            <a:off x="4909172" y="3555172"/>
            <a:ext cx="690228" cy="369332"/>
          </a:xfrm>
          <a:prstGeom prst="rect">
            <a:avLst/>
          </a:prstGeom>
          <a:noFill/>
        </p:spPr>
        <p:txBody>
          <a:bodyPr wrap="square" rtlCol="0">
            <a:spAutoFit/>
          </a:bodyPr>
          <a:lstStyle/>
          <a:p>
            <a:r>
              <a:rPr lang="en-US" dirty="0"/>
              <a:t>Orth</a:t>
            </a:r>
            <a:endParaRPr lang="el-GR" dirty="0"/>
          </a:p>
        </p:txBody>
      </p:sp>
      <p:sp>
        <p:nvSpPr>
          <p:cNvPr id="31" name="Rectangle: Rounded Corners 30">
            <a:extLst>
              <a:ext uri="{FF2B5EF4-FFF2-40B4-BE49-F238E27FC236}">
                <a16:creationId xmlns:a16="http://schemas.microsoft.com/office/drawing/2014/main" id="{D1EA1FCF-1333-2EA3-9F3A-1BCFA9018B6C}"/>
              </a:ext>
            </a:extLst>
          </p:cNvPr>
          <p:cNvSpPr/>
          <p:nvPr/>
        </p:nvSpPr>
        <p:spPr>
          <a:xfrm>
            <a:off x="498763" y="1070223"/>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dirty="0"/>
          </a:p>
        </p:txBody>
      </p:sp>
      <p:sp>
        <p:nvSpPr>
          <p:cNvPr id="32" name="Rectangle: Rounded Corners 31">
            <a:extLst>
              <a:ext uri="{FF2B5EF4-FFF2-40B4-BE49-F238E27FC236}">
                <a16:creationId xmlns:a16="http://schemas.microsoft.com/office/drawing/2014/main" id="{C5DD1142-B304-8D20-B5B1-D3E4E7427862}"/>
              </a:ext>
            </a:extLst>
          </p:cNvPr>
          <p:cNvSpPr/>
          <p:nvPr/>
        </p:nvSpPr>
        <p:spPr>
          <a:xfrm>
            <a:off x="6526838" y="1062507"/>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35" name="TextBox 34">
            <a:extLst>
              <a:ext uri="{FF2B5EF4-FFF2-40B4-BE49-F238E27FC236}">
                <a16:creationId xmlns:a16="http://schemas.microsoft.com/office/drawing/2014/main" id="{EB9F9CB0-DE6D-F6D4-9B4A-F24D84306BD7}"/>
              </a:ext>
            </a:extLst>
          </p:cNvPr>
          <p:cNvSpPr txBox="1"/>
          <p:nvPr/>
        </p:nvSpPr>
        <p:spPr>
          <a:xfrm>
            <a:off x="2396101" y="372185"/>
            <a:ext cx="1290353" cy="523220"/>
          </a:xfrm>
          <a:prstGeom prst="rect">
            <a:avLst/>
          </a:prstGeom>
          <a:noFill/>
        </p:spPr>
        <p:txBody>
          <a:bodyPr wrap="square" rtlCol="0">
            <a:spAutoFit/>
          </a:bodyPr>
          <a:lstStyle/>
          <a:p>
            <a:r>
              <a:rPr lang="en-US" sz="2800" b="1" dirty="0">
                <a:solidFill>
                  <a:srgbClr val="0070C0"/>
                </a:solidFill>
              </a:rPr>
              <a:t>REPEAT</a:t>
            </a:r>
            <a:endParaRPr lang="el-GR" sz="2800" b="1" dirty="0">
              <a:solidFill>
                <a:srgbClr val="0070C0"/>
              </a:solidFill>
            </a:endParaRPr>
          </a:p>
        </p:txBody>
      </p:sp>
      <p:sp>
        <p:nvSpPr>
          <p:cNvPr id="36" name="TextBox 35">
            <a:extLst>
              <a:ext uri="{FF2B5EF4-FFF2-40B4-BE49-F238E27FC236}">
                <a16:creationId xmlns:a16="http://schemas.microsoft.com/office/drawing/2014/main" id="{157CC28C-FBB0-178F-E1C0-001048963584}"/>
              </a:ext>
            </a:extLst>
          </p:cNvPr>
          <p:cNvSpPr txBox="1"/>
          <p:nvPr/>
        </p:nvSpPr>
        <p:spPr>
          <a:xfrm>
            <a:off x="8472184" y="377652"/>
            <a:ext cx="1360372" cy="523220"/>
          </a:xfrm>
          <a:prstGeom prst="rect">
            <a:avLst/>
          </a:prstGeom>
          <a:noFill/>
        </p:spPr>
        <p:txBody>
          <a:bodyPr wrap="none" rtlCol="0">
            <a:spAutoFit/>
          </a:bodyPr>
          <a:lstStyle/>
          <a:p>
            <a:r>
              <a:rPr lang="en-US" sz="2800" b="1" dirty="0">
                <a:solidFill>
                  <a:srgbClr val="C00000"/>
                </a:solidFill>
              </a:rPr>
              <a:t>SWITCH</a:t>
            </a:r>
            <a:endParaRPr lang="el-GR" sz="2800" b="1" dirty="0">
              <a:solidFill>
                <a:srgbClr val="C00000"/>
              </a:solidFill>
            </a:endParaRPr>
          </a:p>
        </p:txBody>
      </p:sp>
      <p:sp>
        <p:nvSpPr>
          <p:cNvPr id="37" name="Arrow: Right 36">
            <a:extLst>
              <a:ext uri="{FF2B5EF4-FFF2-40B4-BE49-F238E27FC236}">
                <a16:creationId xmlns:a16="http://schemas.microsoft.com/office/drawing/2014/main" id="{3C89C782-83CA-B1F0-2DA6-748438EC5065}"/>
              </a:ext>
            </a:extLst>
          </p:cNvPr>
          <p:cNvSpPr/>
          <p:nvPr/>
        </p:nvSpPr>
        <p:spPr>
          <a:xfrm rot="7219235">
            <a:off x="6860343" y="2994771"/>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1" name="Arrow: Chevron 40">
            <a:extLst>
              <a:ext uri="{FF2B5EF4-FFF2-40B4-BE49-F238E27FC236}">
                <a16:creationId xmlns:a16="http://schemas.microsoft.com/office/drawing/2014/main" id="{D94C5A68-A92A-9C5C-161C-4AC9E068C053}"/>
              </a:ext>
            </a:extLst>
          </p:cNvPr>
          <p:cNvSpPr/>
          <p:nvPr/>
        </p:nvSpPr>
        <p:spPr>
          <a:xfrm rot="5400000">
            <a:off x="2798961" y="4478482"/>
            <a:ext cx="484632" cy="484632"/>
          </a:xfrm>
          <a:prstGeom prst="chevron">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l-GR">
              <a:solidFill>
                <a:schemeClr val="tx1"/>
              </a:solidFill>
            </a:endParaRPr>
          </a:p>
        </p:txBody>
      </p:sp>
      <p:sp>
        <p:nvSpPr>
          <p:cNvPr id="42" name="Callout: Down Arrow 41">
            <a:extLst>
              <a:ext uri="{FF2B5EF4-FFF2-40B4-BE49-F238E27FC236}">
                <a16:creationId xmlns:a16="http://schemas.microsoft.com/office/drawing/2014/main" id="{96A8A612-7967-BDE1-5BB2-8CAD455FC75F}"/>
              </a:ext>
            </a:extLst>
          </p:cNvPr>
          <p:cNvSpPr/>
          <p:nvPr/>
        </p:nvSpPr>
        <p:spPr>
          <a:xfrm>
            <a:off x="8375325" y="4478482"/>
            <a:ext cx="1550796" cy="484632"/>
          </a:xfrm>
          <a:prstGeom prst="downArrowCallou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solidFill>
                  <a:schemeClr val="tx1"/>
                </a:solidFill>
              </a:rPr>
              <a:t>Switch cost</a:t>
            </a:r>
            <a:endParaRPr lang="el-GR" b="1" dirty="0">
              <a:solidFill>
                <a:schemeClr val="tx1"/>
              </a:solidFill>
            </a:endParaRPr>
          </a:p>
        </p:txBody>
      </p:sp>
      <p:sp>
        <p:nvSpPr>
          <p:cNvPr id="45" name="TextBox 44">
            <a:extLst>
              <a:ext uri="{FF2B5EF4-FFF2-40B4-BE49-F238E27FC236}">
                <a16:creationId xmlns:a16="http://schemas.microsoft.com/office/drawing/2014/main" id="{6EFB88B3-B447-D25C-806E-7751D24C9F29}"/>
              </a:ext>
            </a:extLst>
          </p:cNvPr>
          <p:cNvSpPr txBox="1"/>
          <p:nvPr/>
        </p:nvSpPr>
        <p:spPr>
          <a:xfrm>
            <a:off x="1608043" y="5482804"/>
            <a:ext cx="2836718" cy="400110"/>
          </a:xfrm>
          <a:prstGeom prst="rect">
            <a:avLst/>
          </a:prstGeom>
          <a:noFill/>
        </p:spPr>
        <p:txBody>
          <a:bodyPr wrap="square" rtlCol="0">
            <a:spAutoFit/>
          </a:bodyPr>
          <a:lstStyle/>
          <a:p>
            <a:pPr algn="ctr"/>
            <a:r>
              <a:rPr lang="en-US" sz="2000" b="1" dirty="0"/>
              <a:t>RT</a:t>
            </a:r>
            <a:r>
              <a:rPr lang="en-US" sz="1600" b="1" dirty="0"/>
              <a:t>Speak</a:t>
            </a:r>
            <a:r>
              <a:rPr lang="en-US" sz="1200" b="1" dirty="0"/>
              <a:t>2</a:t>
            </a:r>
            <a:r>
              <a:rPr lang="en-US" sz="1400" b="1" dirty="0"/>
              <a:t>   </a:t>
            </a:r>
            <a:r>
              <a:rPr lang="en-US" sz="2000" b="1" dirty="0"/>
              <a:t>≤   RT</a:t>
            </a:r>
            <a:r>
              <a:rPr lang="en-US" sz="1600" b="1" dirty="0"/>
              <a:t>Speak</a:t>
            </a:r>
            <a:r>
              <a:rPr lang="en-US" sz="1200" b="1" dirty="0"/>
              <a:t>1</a:t>
            </a:r>
            <a:endParaRPr lang="el-GR" sz="1400" b="1" dirty="0"/>
          </a:p>
        </p:txBody>
      </p:sp>
      <p:sp>
        <p:nvSpPr>
          <p:cNvPr id="48" name="TextBox 47">
            <a:extLst>
              <a:ext uri="{FF2B5EF4-FFF2-40B4-BE49-F238E27FC236}">
                <a16:creationId xmlns:a16="http://schemas.microsoft.com/office/drawing/2014/main" id="{D34D1DFA-3794-C7C3-45B5-C79044BBAAD3}"/>
              </a:ext>
            </a:extLst>
          </p:cNvPr>
          <p:cNvSpPr txBox="1"/>
          <p:nvPr/>
        </p:nvSpPr>
        <p:spPr>
          <a:xfrm>
            <a:off x="7732364" y="5482804"/>
            <a:ext cx="2836718" cy="400110"/>
          </a:xfrm>
          <a:prstGeom prst="rect">
            <a:avLst/>
          </a:prstGeom>
          <a:noFill/>
        </p:spPr>
        <p:txBody>
          <a:bodyPr wrap="square" rtlCol="0">
            <a:spAutoFit/>
          </a:bodyPr>
          <a:lstStyle/>
          <a:p>
            <a:pPr algn="ctr"/>
            <a:r>
              <a:rPr lang="en-US" sz="2000" b="1" dirty="0"/>
              <a:t>(</a:t>
            </a:r>
            <a:r>
              <a:rPr lang="en-US" sz="2000" b="1" dirty="0" err="1"/>
              <a:t>RT</a:t>
            </a:r>
            <a:r>
              <a:rPr lang="en-US" sz="1600" b="1" dirty="0" err="1"/>
              <a:t>Speak</a:t>
            </a:r>
            <a:r>
              <a:rPr lang="en-US" sz="1400" b="1" dirty="0"/>
              <a:t>   </a:t>
            </a:r>
            <a:r>
              <a:rPr lang="en-US" sz="2000" b="1" dirty="0"/>
              <a:t>-  RT</a:t>
            </a:r>
            <a:r>
              <a:rPr lang="en-US" sz="1600" b="1" dirty="0"/>
              <a:t>Speak</a:t>
            </a:r>
            <a:r>
              <a:rPr lang="en-US" sz="1200" b="1" dirty="0"/>
              <a:t>2</a:t>
            </a:r>
            <a:r>
              <a:rPr lang="en-US" sz="2000" b="1" dirty="0"/>
              <a:t>)</a:t>
            </a:r>
            <a:endParaRPr lang="el-GR" sz="1400" b="1" dirty="0"/>
          </a:p>
        </p:txBody>
      </p:sp>
      <p:sp>
        <p:nvSpPr>
          <p:cNvPr id="3" name="TextBox 2">
            <a:extLst>
              <a:ext uri="{FF2B5EF4-FFF2-40B4-BE49-F238E27FC236}">
                <a16:creationId xmlns:a16="http://schemas.microsoft.com/office/drawing/2014/main" id="{C9B6C079-628C-10F4-B037-E1FB6A0C7E61}"/>
              </a:ext>
            </a:extLst>
          </p:cNvPr>
          <p:cNvSpPr txBox="1"/>
          <p:nvPr/>
        </p:nvSpPr>
        <p:spPr>
          <a:xfrm>
            <a:off x="1083673" y="4090912"/>
            <a:ext cx="1118657" cy="338554"/>
          </a:xfrm>
          <a:prstGeom prst="rect">
            <a:avLst/>
          </a:prstGeom>
          <a:noFill/>
        </p:spPr>
        <p:txBody>
          <a:bodyPr wrap="square" rtlCol="0">
            <a:spAutoFit/>
          </a:bodyPr>
          <a:lstStyle/>
          <a:p>
            <a:pPr algn="ctr"/>
            <a:r>
              <a:rPr lang="en-US" sz="1600" dirty="0"/>
              <a:t>800ms</a:t>
            </a:r>
            <a:endParaRPr lang="el-GR" sz="1600" dirty="0"/>
          </a:p>
        </p:txBody>
      </p:sp>
      <p:sp>
        <p:nvSpPr>
          <p:cNvPr id="4" name="TextBox 3">
            <a:extLst>
              <a:ext uri="{FF2B5EF4-FFF2-40B4-BE49-F238E27FC236}">
                <a16:creationId xmlns:a16="http://schemas.microsoft.com/office/drawing/2014/main" id="{F88BFCA7-1E76-3703-CCE6-FE1A1F1388FE}"/>
              </a:ext>
            </a:extLst>
          </p:cNvPr>
          <p:cNvSpPr txBox="1"/>
          <p:nvPr/>
        </p:nvSpPr>
        <p:spPr>
          <a:xfrm>
            <a:off x="3885432" y="4099756"/>
            <a:ext cx="1118657" cy="338554"/>
          </a:xfrm>
          <a:prstGeom prst="rect">
            <a:avLst/>
          </a:prstGeom>
          <a:noFill/>
        </p:spPr>
        <p:txBody>
          <a:bodyPr wrap="square" rtlCol="0">
            <a:spAutoFit/>
          </a:bodyPr>
          <a:lstStyle/>
          <a:p>
            <a:pPr algn="ctr"/>
            <a:r>
              <a:rPr lang="en-US" sz="1600" dirty="0"/>
              <a:t>650ms</a:t>
            </a:r>
            <a:endParaRPr lang="el-GR" sz="1600" dirty="0"/>
          </a:p>
        </p:txBody>
      </p:sp>
      <p:sp>
        <p:nvSpPr>
          <p:cNvPr id="9" name="TextBox 8">
            <a:extLst>
              <a:ext uri="{FF2B5EF4-FFF2-40B4-BE49-F238E27FC236}">
                <a16:creationId xmlns:a16="http://schemas.microsoft.com/office/drawing/2014/main" id="{8A9F37CC-AA9D-8CF0-2F8F-43129D26D809}"/>
              </a:ext>
            </a:extLst>
          </p:cNvPr>
          <p:cNvSpPr txBox="1"/>
          <p:nvPr/>
        </p:nvSpPr>
        <p:spPr>
          <a:xfrm>
            <a:off x="7193874" y="4099756"/>
            <a:ext cx="1118657" cy="338554"/>
          </a:xfrm>
          <a:prstGeom prst="rect">
            <a:avLst/>
          </a:prstGeom>
          <a:noFill/>
        </p:spPr>
        <p:txBody>
          <a:bodyPr wrap="square" rtlCol="0">
            <a:spAutoFit/>
          </a:bodyPr>
          <a:lstStyle/>
          <a:p>
            <a:pPr algn="ctr"/>
            <a:r>
              <a:rPr lang="en-US" sz="1600" dirty="0"/>
              <a:t>1050ms</a:t>
            </a:r>
            <a:endParaRPr lang="el-GR" sz="1600" dirty="0"/>
          </a:p>
        </p:txBody>
      </p:sp>
      <p:sp>
        <p:nvSpPr>
          <p:cNvPr id="12" name="TextBox 11">
            <a:extLst>
              <a:ext uri="{FF2B5EF4-FFF2-40B4-BE49-F238E27FC236}">
                <a16:creationId xmlns:a16="http://schemas.microsoft.com/office/drawing/2014/main" id="{425598F5-9D99-1558-23EB-E1EFB4168959}"/>
              </a:ext>
            </a:extLst>
          </p:cNvPr>
          <p:cNvSpPr txBox="1"/>
          <p:nvPr/>
        </p:nvSpPr>
        <p:spPr>
          <a:xfrm>
            <a:off x="9824902" y="4115636"/>
            <a:ext cx="1118657" cy="338554"/>
          </a:xfrm>
          <a:prstGeom prst="rect">
            <a:avLst/>
          </a:prstGeom>
          <a:noFill/>
        </p:spPr>
        <p:txBody>
          <a:bodyPr wrap="square" rtlCol="0">
            <a:spAutoFit/>
          </a:bodyPr>
          <a:lstStyle/>
          <a:p>
            <a:pPr algn="ctr"/>
            <a:r>
              <a:rPr lang="en-US" sz="1600" dirty="0"/>
              <a:t>700ms</a:t>
            </a:r>
            <a:endParaRPr lang="el-GR" sz="1600" dirty="0"/>
          </a:p>
        </p:txBody>
      </p:sp>
      <p:sp>
        <p:nvSpPr>
          <p:cNvPr id="13" name="TextBox 12">
            <a:extLst>
              <a:ext uri="{FF2B5EF4-FFF2-40B4-BE49-F238E27FC236}">
                <a16:creationId xmlns:a16="http://schemas.microsoft.com/office/drawing/2014/main" id="{056FBEA8-31B4-DC7C-07F0-7C555EB1C172}"/>
              </a:ext>
            </a:extLst>
          </p:cNvPr>
          <p:cNvSpPr txBox="1"/>
          <p:nvPr/>
        </p:nvSpPr>
        <p:spPr>
          <a:xfrm>
            <a:off x="7753631" y="5902813"/>
            <a:ext cx="2836718" cy="400110"/>
          </a:xfrm>
          <a:prstGeom prst="rect">
            <a:avLst/>
          </a:prstGeom>
          <a:noFill/>
        </p:spPr>
        <p:txBody>
          <a:bodyPr wrap="square" rtlCol="0">
            <a:spAutoFit/>
          </a:bodyPr>
          <a:lstStyle/>
          <a:p>
            <a:pPr algn="ctr"/>
            <a:r>
              <a:rPr lang="en-US" sz="2000" dirty="0"/>
              <a:t>700 – 650 = 50ms</a:t>
            </a:r>
            <a:endParaRPr lang="el-GR" sz="1400" dirty="0"/>
          </a:p>
        </p:txBody>
      </p:sp>
      <p:sp>
        <p:nvSpPr>
          <p:cNvPr id="2" name="Arrow: Right 1">
            <a:extLst>
              <a:ext uri="{FF2B5EF4-FFF2-40B4-BE49-F238E27FC236}">
                <a16:creationId xmlns:a16="http://schemas.microsoft.com/office/drawing/2014/main" id="{3A1CFF3E-A4FE-B0BC-28A9-8D19CE542B43}"/>
              </a:ext>
            </a:extLst>
          </p:cNvPr>
          <p:cNvSpPr/>
          <p:nvPr/>
        </p:nvSpPr>
        <p:spPr>
          <a:xfrm rot="3460689">
            <a:off x="4659070" y="3025141"/>
            <a:ext cx="718980" cy="210154"/>
          </a:xfrm>
          <a:prstGeom prst="rightArrow">
            <a:avLst/>
          </a:prstGeom>
          <a:noFill/>
          <a:ln w="19050">
            <a:solidFill>
              <a:schemeClr val="tx1">
                <a:lumMod val="75000"/>
                <a:lumOff val="25000"/>
              </a:schemeClr>
            </a:solidFill>
            <a:prstDash val="sysDash"/>
            <a:extLst>
              <a:ext uri="{C807C97D-BFC1-408E-A445-0C87EB9F89A2}">
                <ask:lineSketchStyleProps xmlns:ask="http://schemas.microsoft.com/office/drawing/2018/sketchyshapes" sd="1465138424">
                  <a:custGeom>
                    <a:avLst/>
                    <a:gdLst>
                      <a:gd name="connsiteX0" fmla="*/ 0 w 718980"/>
                      <a:gd name="connsiteY0" fmla="*/ 41171 h 164685"/>
                      <a:gd name="connsiteX1" fmla="*/ 331052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18319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141782" y="10202"/>
                          <a:pt x="248439" y="58735"/>
                          <a:pt x="331052" y="41171"/>
                        </a:cubicBezTo>
                        <a:cubicBezTo>
                          <a:pt x="413665" y="23607"/>
                          <a:pt x="557301" y="55702"/>
                          <a:pt x="636638" y="41171"/>
                        </a:cubicBezTo>
                        <a:cubicBezTo>
                          <a:pt x="635610" y="20984"/>
                          <a:pt x="641210" y="12434"/>
                          <a:pt x="636638" y="0"/>
                        </a:cubicBezTo>
                        <a:cubicBezTo>
                          <a:pt x="657852" y="16163"/>
                          <a:pt x="680571" y="50176"/>
                          <a:pt x="718980" y="82343"/>
                        </a:cubicBezTo>
                        <a:cubicBezTo>
                          <a:pt x="683000" y="124800"/>
                          <a:pt x="659827" y="132774"/>
                          <a:pt x="636638" y="164685"/>
                        </a:cubicBezTo>
                        <a:cubicBezTo>
                          <a:pt x="633650" y="151901"/>
                          <a:pt x="639907" y="135639"/>
                          <a:pt x="636638" y="123514"/>
                        </a:cubicBezTo>
                        <a:cubicBezTo>
                          <a:pt x="515057" y="132937"/>
                          <a:pt x="408101" y="96358"/>
                          <a:pt x="318319" y="123514"/>
                        </a:cubicBezTo>
                        <a:cubicBezTo>
                          <a:pt x="228537" y="150670"/>
                          <a:pt x="99981" y="89805"/>
                          <a:pt x="0" y="123514"/>
                        </a:cubicBezTo>
                        <a:cubicBezTo>
                          <a:pt x="-4406" y="96648"/>
                          <a:pt x="4670" y="66043"/>
                          <a:pt x="0" y="41171"/>
                        </a:cubicBezTo>
                        <a:close/>
                      </a:path>
                      <a:path w="718980" h="164685" stroke="0" extrusionOk="0">
                        <a:moveTo>
                          <a:pt x="0" y="41171"/>
                        </a:moveTo>
                        <a:cubicBezTo>
                          <a:pt x="150633" y="2943"/>
                          <a:pt x="221432" y="49488"/>
                          <a:pt x="331052" y="41171"/>
                        </a:cubicBezTo>
                        <a:cubicBezTo>
                          <a:pt x="440672" y="32854"/>
                          <a:pt x="559028" y="45006"/>
                          <a:pt x="636638" y="41171"/>
                        </a:cubicBezTo>
                        <a:cubicBezTo>
                          <a:pt x="631909" y="27594"/>
                          <a:pt x="640374" y="17028"/>
                          <a:pt x="636638" y="0"/>
                        </a:cubicBezTo>
                        <a:cubicBezTo>
                          <a:pt x="667008" y="24445"/>
                          <a:pt x="691800" y="55950"/>
                          <a:pt x="718980" y="82343"/>
                        </a:cubicBezTo>
                        <a:cubicBezTo>
                          <a:pt x="689032" y="128521"/>
                          <a:pt x="656266" y="143706"/>
                          <a:pt x="636638" y="164685"/>
                        </a:cubicBezTo>
                        <a:cubicBezTo>
                          <a:pt x="633150" y="156294"/>
                          <a:pt x="640453" y="141939"/>
                          <a:pt x="636638" y="123514"/>
                        </a:cubicBezTo>
                        <a:cubicBezTo>
                          <a:pt x="516154" y="137412"/>
                          <a:pt x="416780" y="95159"/>
                          <a:pt x="331052" y="123514"/>
                        </a:cubicBezTo>
                        <a:cubicBezTo>
                          <a:pt x="245324" y="151869"/>
                          <a:pt x="96678" y="121015"/>
                          <a:pt x="0" y="123514"/>
                        </a:cubicBezTo>
                        <a:cubicBezTo>
                          <a:pt x="-2965" y="94571"/>
                          <a:pt x="804" y="72451"/>
                          <a:pt x="0" y="41171"/>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2819988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911" y="1665142"/>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8820" y="1693851"/>
            <a:ext cx="856982" cy="843131"/>
          </a:xfrm>
          <a:prstGeom prst="rect">
            <a:avLst/>
          </a:prstGeom>
        </p:spPr>
      </p:pic>
      <p:sp>
        <p:nvSpPr>
          <p:cNvPr id="15" name="Arrow: Right 14">
            <a:extLst>
              <a:ext uri="{FF2B5EF4-FFF2-40B4-BE49-F238E27FC236}">
                <a16:creationId xmlns:a16="http://schemas.microsoft.com/office/drawing/2014/main" id="{C6045A99-6E5D-82B7-9191-338A125E0DEA}"/>
              </a:ext>
            </a:extLst>
          </p:cNvPr>
          <p:cNvSpPr/>
          <p:nvPr/>
        </p:nvSpPr>
        <p:spPr>
          <a:xfrm rot="7548208">
            <a:off x="6761654" y="2795494"/>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6868469" y="1101420"/>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p>
        </p:txBody>
      </p:sp>
      <p:sp>
        <p:nvSpPr>
          <p:cNvPr id="25" name="Rectangle 24">
            <a:extLst>
              <a:ext uri="{FF2B5EF4-FFF2-40B4-BE49-F238E27FC236}">
                <a16:creationId xmlns:a16="http://schemas.microsoft.com/office/drawing/2014/main" id="{24E7E408-B441-09B3-45C8-734F53C57BF7}"/>
              </a:ext>
            </a:extLst>
          </p:cNvPr>
          <p:cNvSpPr/>
          <p:nvPr/>
        </p:nvSpPr>
        <p:spPr>
          <a:xfrm>
            <a:off x="9856722" y="1102970"/>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p>
        </p:txBody>
      </p:sp>
      <p:sp>
        <p:nvSpPr>
          <p:cNvPr id="33" name="TextBox 32">
            <a:extLst>
              <a:ext uri="{FF2B5EF4-FFF2-40B4-BE49-F238E27FC236}">
                <a16:creationId xmlns:a16="http://schemas.microsoft.com/office/drawing/2014/main" id="{FBC62830-498F-C12D-14A9-03C9EA6AC5E2}"/>
              </a:ext>
            </a:extLst>
          </p:cNvPr>
          <p:cNvSpPr txBox="1"/>
          <p:nvPr/>
        </p:nvSpPr>
        <p:spPr>
          <a:xfrm>
            <a:off x="6609615" y="3524435"/>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9329251" y="3490189"/>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8091187" y="3490189"/>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10994866" y="3503677"/>
            <a:ext cx="690228" cy="369332"/>
          </a:xfrm>
          <a:prstGeom prst="rect">
            <a:avLst/>
          </a:prstGeom>
          <a:noFill/>
        </p:spPr>
        <p:txBody>
          <a:bodyPr wrap="square" rtlCol="0">
            <a:spAutoFit/>
          </a:bodyPr>
          <a:lstStyle/>
          <a:p>
            <a:r>
              <a:rPr lang="en-US" dirty="0"/>
              <a:t>Orth</a:t>
            </a:r>
            <a:endParaRPr lang="el-GR" dirty="0"/>
          </a:p>
        </p:txBody>
      </p:sp>
      <p:sp>
        <p:nvSpPr>
          <p:cNvPr id="6" name="Arrow: Right 5">
            <a:extLst>
              <a:ext uri="{FF2B5EF4-FFF2-40B4-BE49-F238E27FC236}">
                <a16:creationId xmlns:a16="http://schemas.microsoft.com/office/drawing/2014/main" id="{5C40282F-D605-6ECA-719A-1F9040DA8E7C}"/>
              </a:ext>
            </a:extLst>
          </p:cNvPr>
          <p:cNvSpPr/>
          <p:nvPr/>
        </p:nvSpPr>
        <p:spPr>
          <a:xfrm rot="3460689">
            <a:off x="7839585" y="2967281"/>
            <a:ext cx="718980" cy="210154"/>
          </a:xfrm>
          <a:prstGeom prst="rightArrow">
            <a:avLst/>
          </a:prstGeom>
          <a:noFill/>
          <a:ln w="19050">
            <a:solidFill>
              <a:schemeClr val="tx1">
                <a:lumMod val="75000"/>
                <a:lumOff val="25000"/>
              </a:schemeClr>
            </a:solidFill>
            <a:prstDash val="sysDash"/>
            <a:extLst>
              <a:ext uri="{C807C97D-BFC1-408E-A445-0C87EB9F89A2}">
                <ask:lineSketchStyleProps xmlns:ask="http://schemas.microsoft.com/office/drawing/2018/sketchyshapes" sd="1465138424">
                  <a:custGeom>
                    <a:avLst/>
                    <a:gdLst>
                      <a:gd name="connsiteX0" fmla="*/ 0 w 718980"/>
                      <a:gd name="connsiteY0" fmla="*/ 41171 h 164685"/>
                      <a:gd name="connsiteX1" fmla="*/ 331052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18319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141782" y="10202"/>
                          <a:pt x="248439" y="58735"/>
                          <a:pt x="331052" y="41171"/>
                        </a:cubicBezTo>
                        <a:cubicBezTo>
                          <a:pt x="413665" y="23607"/>
                          <a:pt x="557301" y="55702"/>
                          <a:pt x="636638" y="41171"/>
                        </a:cubicBezTo>
                        <a:cubicBezTo>
                          <a:pt x="635610" y="20984"/>
                          <a:pt x="641210" y="12434"/>
                          <a:pt x="636638" y="0"/>
                        </a:cubicBezTo>
                        <a:cubicBezTo>
                          <a:pt x="657852" y="16163"/>
                          <a:pt x="680571" y="50176"/>
                          <a:pt x="718980" y="82343"/>
                        </a:cubicBezTo>
                        <a:cubicBezTo>
                          <a:pt x="683000" y="124800"/>
                          <a:pt x="659827" y="132774"/>
                          <a:pt x="636638" y="164685"/>
                        </a:cubicBezTo>
                        <a:cubicBezTo>
                          <a:pt x="633650" y="151901"/>
                          <a:pt x="639907" y="135639"/>
                          <a:pt x="636638" y="123514"/>
                        </a:cubicBezTo>
                        <a:cubicBezTo>
                          <a:pt x="515057" y="132937"/>
                          <a:pt x="408101" y="96358"/>
                          <a:pt x="318319" y="123514"/>
                        </a:cubicBezTo>
                        <a:cubicBezTo>
                          <a:pt x="228537" y="150670"/>
                          <a:pt x="99981" y="89805"/>
                          <a:pt x="0" y="123514"/>
                        </a:cubicBezTo>
                        <a:cubicBezTo>
                          <a:pt x="-4406" y="96648"/>
                          <a:pt x="4670" y="66043"/>
                          <a:pt x="0" y="41171"/>
                        </a:cubicBezTo>
                        <a:close/>
                      </a:path>
                      <a:path w="718980" h="164685" stroke="0" extrusionOk="0">
                        <a:moveTo>
                          <a:pt x="0" y="41171"/>
                        </a:moveTo>
                        <a:cubicBezTo>
                          <a:pt x="150633" y="2943"/>
                          <a:pt x="221432" y="49488"/>
                          <a:pt x="331052" y="41171"/>
                        </a:cubicBezTo>
                        <a:cubicBezTo>
                          <a:pt x="440672" y="32854"/>
                          <a:pt x="559028" y="45006"/>
                          <a:pt x="636638" y="41171"/>
                        </a:cubicBezTo>
                        <a:cubicBezTo>
                          <a:pt x="631909" y="27594"/>
                          <a:pt x="640374" y="17028"/>
                          <a:pt x="636638" y="0"/>
                        </a:cubicBezTo>
                        <a:cubicBezTo>
                          <a:pt x="667008" y="24445"/>
                          <a:pt x="691800" y="55950"/>
                          <a:pt x="718980" y="82343"/>
                        </a:cubicBezTo>
                        <a:cubicBezTo>
                          <a:pt x="689032" y="128521"/>
                          <a:pt x="656266" y="143706"/>
                          <a:pt x="636638" y="164685"/>
                        </a:cubicBezTo>
                        <a:cubicBezTo>
                          <a:pt x="633150" y="156294"/>
                          <a:pt x="640453" y="141939"/>
                          <a:pt x="636638" y="123514"/>
                        </a:cubicBezTo>
                        <a:cubicBezTo>
                          <a:pt x="516154" y="137412"/>
                          <a:pt x="416780" y="95159"/>
                          <a:pt x="331052" y="123514"/>
                        </a:cubicBezTo>
                        <a:cubicBezTo>
                          <a:pt x="245324" y="151869"/>
                          <a:pt x="96678" y="121015"/>
                          <a:pt x="0" y="123514"/>
                        </a:cubicBezTo>
                        <a:cubicBezTo>
                          <a:pt x="-2965" y="94571"/>
                          <a:pt x="804" y="72451"/>
                          <a:pt x="0" y="41171"/>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7" name="Picture 6" descr="A picture containing diagram&#10;&#10;Description automatically generated">
            <a:extLst>
              <a:ext uri="{FF2B5EF4-FFF2-40B4-BE49-F238E27FC236}">
                <a16:creationId xmlns:a16="http://schemas.microsoft.com/office/drawing/2014/main" id="{A682D5DD-1594-F93D-9BB5-B5AA733B8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512" y="1706706"/>
            <a:ext cx="856982" cy="843131"/>
          </a:xfrm>
          <a:prstGeom prst="rect">
            <a:avLst/>
          </a:prstGeom>
        </p:spPr>
      </p:pic>
      <p:pic>
        <p:nvPicPr>
          <p:cNvPr id="24" name="Picture 23" descr="A picture containing diagram&#10;&#10;Description automatically generated">
            <a:extLst>
              <a:ext uri="{FF2B5EF4-FFF2-40B4-BE49-F238E27FC236}">
                <a16:creationId xmlns:a16="http://schemas.microsoft.com/office/drawing/2014/main" id="{B2D33CA7-BA0E-4011-CCCC-862D2306C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896" y="1730125"/>
            <a:ext cx="856982" cy="843131"/>
          </a:xfrm>
          <a:prstGeom prst="rect">
            <a:avLst/>
          </a:prstGeom>
        </p:spPr>
      </p:pic>
      <p:sp>
        <p:nvSpPr>
          <p:cNvPr id="31" name="Rectangle: Rounded Corners 30">
            <a:extLst>
              <a:ext uri="{FF2B5EF4-FFF2-40B4-BE49-F238E27FC236}">
                <a16:creationId xmlns:a16="http://schemas.microsoft.com/office/drawing/2014/main" id="{D1EA1FCF-1333-2EA3-9F3A-1BCFA9018B6C}"/>
              </a:ext>
            </a:extLst>
          </p:cNvPr>
          <p:cNvSpPr/>
          <p:nvPr/>
        </p:nvSpPr>
        <p:spPr>
          <a:xfrm>
            <a:off x="498763" y="1070223"/>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32" name="Rectangle: Rounded Corners 31">
            <a:extLst>
              <a:ext uri="{FF2B5EF4-FFF2-40B4-BE49-F238E27FC236}">
                <a16:creationId xmlns:a16="http://schemas.microsoft.com/office/drawing/2014/main" id="{C5DD1142-B304-8D20-B5B1-D3E4E7427862}"/>
              </a:ext>
            </a:extLst>
          </p:cNvPr>
          <p:cNvSpPr/>
          <p:nvPr/>
        </p:nvSpPr>
        <p:spPr>
          <a:xfrm>
            <a:off x="6526838" y="1062507"/>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35" name="TextBox 34">
            <a:extLst>
              <a:ext uri="{FF2B5EF4-FFF2-40B4-BE49-F238E27FC236}">
                <a16:creationId xmlns:a16="http://schemas.microsoft.com/office/drawing/2014/main" id="{EB9F9CB0-DE6D-F6D4-9B4A-F24D84306BD7}"/>
              </a:ext>
            </a:extLst>
          </p:cNvPr>
          <p:cNvSpPr txBox="1"/>
          <p:nvPr/>
        </p:nvSpPr>
        <p:spPr>
          <a:xfrm>
            <a:off x="2396101" y="372185"/>
            <a:ext cx="1290353" cy="523220"/>
          </a:xfrm>
          <a:prstGeom prst="rect">
            <a:avLst/>
          </a:prstGeom>
          <a:noFill/>
        </p:spPr>
        <p:txBody>
          <a:bodyPr wrap="none" rtlCol="0">
            <a:spAutoFit/>
          </a:bodyPr>
          <a:lstStyle/>
          <a:p>
            <a:r>
              <a:rPr lang="en-US" sz="2800" b="1" dirty="0">
                <a:solidFill>
                  <a:srgbClr val="0070C0"/>
                </a:solidFill>
              </a:rPr>
              <a:t>REPEAT</a:t>
            </a:r>
            <a:endParaRPr lang="el-GR" sz="2800" b="1" dirty="0">
              <a:solidFill>
                <a:srgbClr val="0070C0"/>
              </a:solidFill>
            </a:endParaRPr>
          </a:p>
        </p:txBody>
      </p:sp>
      <p:sp>
        <p:nvSpPr>
          <p:cNvPr id="36" name="TextBox 35">
            <a:extLst>
              <a:ext uri="{FF2B5EF4-FFF2-40B4-BE49-F238E27FC236}">
                <a16:creationId xmlns:a16="http://schemas.microsoft.com/office/drawing/2014/main" id="{157CC28C-FBB0-178F-E1C0-001048963584}"/>
              </a:ext>
            </a:extLst>
          </p:cNvPr>
          <p:cNvSpPr txBox="1"/>
          <p:nvPr/>
        </p:nvSpPr>
        <p:spPr>
          <a:xfrm>
            <a:off x="8472184" y="377652"/>
            <a:ext cx="1360372" cy="523220"/>
          </a:xfrm>
          <a:prstGeom prst="rect">
            <a:avLst/>
          </a:prstGeom>
          <a:noFill/>
        </p:spPr>
        <p:txBody>
          <a:bodyPr wrap="none" rtlCol="0">
            <a:spAutoFit/>
          </a:bodyPr>
          <a:lstStyle/>
          <a:p>
            <a:r>
              <a:rPr lang="en-US" sz="2800" b="1" dirty="0">
                <a:solidFill>
                  <a:srgbClr val="C00000"/>
                </a:solidFill>
              </a:rPr>
              <a:t>SWITCH</a:t>
            </a:r>
            <a:endParaRPr lang="el-GR" sz="2800" b="1" dirty="0">
              <a:solidFill>
                <a:srgbClr val="C00000"/>
              </a:solidFill>
            </a:endParaRPr>
          </a:p>
        </p:txBody>
      </p:sp>
      <p:sp>
        <p:nvSpPr>
          <p:cNvPr id="2" name="Rectangle 1">
            <a:extLst>
              <a:ext uri="{FF2B5EF4-FFF2-40B4-BE49-F238E27FC236}">
                <a16:creationId xmlns:a16="http://schemas.microsoft.com/office/drawing/2014/main" id="{C392F5E8-0EF5-D03C-4FDE-F5E4EC0F93CF}"/>
              </a:ext>
            </a:extLst>
          </p:cNvPr>
          <p:cNvSpPr/>
          <p:nvPr/>
        </p:nvSpPr>
        <p:spPr>
          <a:xfrm>
            <a:off x="1062414" y="1104229"/>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r>
              <a:rPr lang="en-US" sz="1600" b="1" dirty="0">
                <a:ln w="22225">
                  <a:solidFill>
                    <a:srgbClr val="B82AB1"/>
                  </a:solidFill>
                  <a:prstDash val="solid"/>
                </a:ln>
                <a:solidFill>
                  <a:srgbClr val="B82AB1"/>
                </a:solidFill>
              </a:rPr>
              <a:t>1</a:t>
            </a:r>
            <a:endParaRPr lang="en-US" sz="2400" b="1" dirty="0">
              <a:ln w="22225">
                <a:solidFill>
                  <a:srgbClr val="B82AB1"/>
                </a:solidFill>
                <a:prstDash val="solid"/>
              </a:ln>
              <a:solidFill>
                <a:srgbClr val="B82AB1"/>
              </a:solidFill>
            </a:endParaRPr>
          </a:p>
        </p:txBody>
      </p:sp>
      <p:sp>
        <p:nvSpPr>
          <p:cNvPr id="4" name="Rectangle 3">
            <a:extLst>
              <a:ext uri="{FF2B5EF4-FFF2-40B4-BE49-F238E27FC236}">
                <a16:creationId xmlns:a16="http://schemas.microsoft.com/office/drawing/2014/main" id="{98199165-6F17-E2FB-AD2D-FCE699F18570}"/>
              </a:ext>
            </a:extLst>
          </p:cNvPr>
          <p:cNvSpPr/>
          <p:nvPr/>
        </p:nvSpPr>
        <p:spPr>
          <a:xfrm>
            <a:off x="3902798" y="1122897"/>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r>
              <a:rPr lang="en-US" sz="1600" b="1" dirty="0">
                <a:ln w="22225">
                  <a:solidFill>
                    <a:srgbClr val="B82AB1"/>
                  </a:solidFill>
                  <a:prstDash val="solid"/>
                </a:ln>
                <a:solidFill>
                  <a:srgbClr val="B82AB1"/>
                </a:solidFill>
              </a:rPr>
              <a:t>2</a:t>
            </a:r>
            <a:endParaRPr lang="en-US" sz="2400" b="1" dirty="0">
              <a:ln w="22225">
                <a:solidFill>
                  <a:srgbClr val="B82AB1"/>
                </a:solidFill>
                <a:prstDash val="solid"/>
              </a:ln>
              <a:solidFill>
                <a:srgbClr val="B82AB1"/>
              </a:solidFill>
            </a:endParaRPr>
          </a:p>
        </p:txBody>
      </p:sp>
      <p:sp>
        <p:nvSpPr>
          <p:cNvPr id="12" name="Arrow: Right 11">
            <a:extLst>
              <a:ext uri="{FF2B5EF4-FFF2-40B4-BE49-F238E27FC236}">
                <a16:creationId xmlns:a16="http://schemas.microsoft.com/office/drawing/2014/main" id="{A5B8288A-53CF-A0F7-1DB0-BD4B29E3B232}"/>
              </a:ext>
            </a:extLst>
          </p:cNvPr>
          <p:cNvSpPr/>
          <p:nvPr/>
        </p:nvSpPr>
        <p:spPr>
          <a:xfrm rot="3460689">
            <a:off x="1857979" y="2777746"/>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TextBox 12">
            <a:extLst>
              <a:ext uri="{FF2B5EF4-FFF2-40B4-BE49-F238E27FC236}">
                <a16:creationId xmlns:a16="http://schemas.microsoft.com/office/drawing/2014/main" id="{6AC6C83E-21EA-A9F3-E234-568033222FB0}"/>
              </a:ext>
            </a:extLst>
          </p:cNvPr>
          <p:cNvSpPr txBox="1"/>
          <p:nvPr/>
        </p:nvSpPr>
        <p:spPr>
          <a:xfrm>
            <a:off x="683471" y="3489033"/>
            <a:ext cx="690228" cy="369332"/>
          </a:xfrm>
          <a:prstGeom prst="rect">
            <a:avLst/>
          </a:prstGeom>
          <a:noFill/>
        </p:spPr>
        <p:txBody>
          <a:bodyPr wrap="square" rtlCol="0">
            <a:spAutoFit/>
          </a:bodyPr>
          <a:lstStyle/>
          <a:p>
            <a:r>
              <a:rPr lang="en-US" dirty="0" err="1"/>
              <a:t>Phon</a:t>
            </a:r>
            <a:endParaRPr lang="el-GR" dirty="0"/>
          </a:p>
        </p:txBody>
      </p:sp>
      <p:sp>
        <p:nvSpPr>
          <p:cNvPr id="16" name="TextBox 15">
            <a:extLst>
              <a:ext uri="{FF2B5EF4-FFF2-40B4-BE49-F238E27FC236}">
                <a16:creationId xmlns:a16="http://schemas.microsoft.com/office/drawing/2014/main" id="{B5AB0976-3105-D3D4-D52A-E0DE7F0BE787}"/>
              </a:ext>
            </a:extLst>
          </p:cNvPr>
          <p:cNvSpPr txBox="1"/>
          <p:nvPr/>
        </p:nvSpPr>
        <p:spPr>
          <a:xfrm>
            <a:off x="2221881" y="3503677"/>
            <a:ext cx="690228" cy="369332"/>
          </a:xfrm>
          <a:prstGeom prst="rect">
            <a:avLst/>
          </a:prstGeom>
          <a:noFill/>
        </p:spPr>
        <p:txBody>
          <a:bodyPr wrap="square" rtlCol="0">
            <a:spAutoFit/>
          </a:bodyPr>
          <a:lstStyle/>
          <a:p>
            <a:r>
              <a:rPr lang="en-US" dirty="0"/>
              <a:t>Orth</a:t>
            </a:r>
            <a:endParaRPr lang="el-GR" dirty="0"/>
          </a:p>
        </p:txBody>
      </p:sp>
      <p:sp>
        <p:nvSpPr>
          <p:cNvPr id="18" name="Arrow: Right 17">
            <a:extLst>
              <a:ext uri="{FF2B5EF4-FFF2-40B4-BE49-F238E27FC236}">
                <a16:creationId xmlns:a16="http://schemas.microsoft.com/office/drawing/2014/main" id="{DFAA7DBD-AAAD-4AD5-EA7A-62889834C5D1}"/>
              </a:ext>
            </a:extLst>
          </p:cNvPr>
          <p:cNvSpPr/>
          <p:nvPr/>
        </p:nvSpPr>
        <p:spPr>
          <a:xfrm rot="7219235">
            <a:off x="855021" y="2973788"/>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Arrow: Right 18">
            <a:extLst>
              <a:ext uri="{FF2B5EF4-FFF2-40B4-BE49-F238E27FC236}">
                <a16:creationId xmlns:a16="http://schemas.microsoft.com/office/drawing/2014/main" id="{30C47AC8-BA58-CA9D-E42D-CF7391BA053F}"/>
              </a:ext>
            </a:extLst>
          </p:cNvPr>
          <p:cNvSpPr/>
          <p:nvPr/>
        </p:nvSpPr>
        <p:spPr>
          <a:xfrm rot="3460689">
            <a:off x="4568166" y="2822937"/>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0" name="TextBox 19">
            <a:extLst>
              <a:ext uri="{FF2B5EF4-FFF2-40B4-BE49-F238E27FC236}">
                <a16:creationId xmlns:a16="http://schemas.microsoft.com/office/drawing/2014/main" id="{760E8597-1FCC-3DD7-0B3D-C3805CD176C5}"/>
              </a:ext>
            </a:extLst>
          </p:cNvPr>
          <p:cNvSpPr txBox="1"/>
          <p:nvPr/>
        </p:nvSpPr>
        <p:spPr>
          <a:xfrm>
            <a:off x="3443632" y="3503677"/>
            <a:ext cx="690228" cy="369332"/>
          </a:xfrm>
          <a:prstGeom prst="rect">
            <a:avLst/>
          </a:prstGeom>
          <a:noFill/>
        </p:spPr>
        <p:txBody>
          <a:bodyPr wrap="square" rtlCol="0">
            <a:spAutoFit/>
          </a:bodyPr>
          <a:lstStyle/>
          <a:p>
            <a:r>
              <a:rPr lang="en-US" dirty="0" err="1"/>
              <a:t>Phon</a:t>
            </a:r>
            <a:endParaRPr lang="el-GR" dirty="0"/>
          </a:p>
        </p:txBody>
      </p:sp>
      <p:sp>
        <p:nvSpPr>
          <p:cNvPr id="37" name="TextBox 36">
            <a:extLst>
              <a:ext uri="{FF2B5EF4-FFF2-40B4-BE49-F238E27FC236}">
                <a16:creationId xmlns:a16="http://schemas.microsoft.com/office/drawing/2014/main" id="{0C3DBCD6-6709-42CC-61CD-E52CC0DB17AC}"/>
              </a:ext>
            </a:extLst>
          </p:cNvPr>
          <p:cNvSpPr txBox="1"/>
          <p:nvPr/>
        </p:nvSpPr>
        <p:spPr>
          <a:xfrm>
            <a:off x="4932068" y="3548868"/>
            <a:ext cx="690228" cy="369332"/>
          </a:xfrm>
          <a:prstGeom prst="rect">
            <a:avLst/>
          </a:prstGeom>
          <a:noFill/>
        </p:spPr>
        <p:txBody>
          <a:bodyPr wrap="square" rtlCol="0">
            <a:spAutoFit/>
          </a:bodyPr>
          <a:lstStyle/>
          <a:p>
            <a:r>
              <a:rPr lang="en-US" dirty="0"/>
              <a:t>Orth</a:t>
            </a:r>
            <a:endParaRPr lang="el-GR" dirty="0"/>
          </a:p>
        </p:txBody>
      </p:sp>
      <p:sp>
        <p:nvSpPr>
          <p:cNvPr id="39" name="Arrow: Chevron 38">
            <a:extLst>
              <a:ext uri="{FF2B5EF4-FFF2-40B4-BE49-F238E27FC236}">
                <a16:creationId xmlns:a16="http://schemas.microsoft.com/office/drawing/2014/main" id="{1E57F283-AF8B-0EF4-7422-FEA0638F433C}"/>
              </a:ext>
            </a:extLst>
          </p:cNvPr>
          <p:cNvSpPr/>
          <p:nvPr/>
        </p:nvSpPr>
        <p:spPr>
          <a:xfrm rot="5400000">
            <a:off x="2798961" y="4478482"/>
            <a:ext cx="484632" cy="484632"/>
          </a:xfrm>
          <a:prstGeom prst="chevron">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l-GR">
              <a:solidFill>
                <a:schemeClr val="tx1"/>
              </a:solidFill>
            </a:endParaRPr>
          </a:p>
        </p:txBody>
      </p:sp>
      <p:sp>
        <p:nvSpPr>
          <p:cNvPr id="46" name="TextBox 45">
            <a:extLst>
              <a:ext uri="{FF2B5EF4-FFF2-40B4-BE49-F238E27FC236}">
                <a16:creationId xmlns:a16="http://schemas.microsoft.com/office/drawing/2014/main" id="{A28D9381-A997-6DDF-DC75-8C10451D125A}"/>
              </a:ext>
            </a:extLst>
          </p:cNvPr>
          <p:cNvSpPr txBox="1"/>
          <p:nvPr/>
        </p:nvSpPr>
        <p:spPr>
          <a:xfrm>
            <a:off x="1643002" y="5463820"/>
            <a:ext cx="2836718" cy="400110"/>
          </a:xfrm>
          <a:prstGeom prst="rect">
            <a:avLst/>
          </a:prstGeom>
          <a:noFill/>
        </p:spPr>
        <p:txBody>
          <a:bodyPr wrap="square" rtlCol="0">
            <a:spAutoFit/>
          </a:bodyPr>
          <a:lstStyle/>
          <a:p>
            <a:pPr algn="ctr"/>
            <a:r>
              <a:rPr lang="en-US" sz="2000" b="1" dirty="0"/>
              <a:t>RT</a:t>
            </a:r>
            <a:r>
              <a:rPr lang="en-US" sz="1600" b="1" dirty="0"/>
              <a:t>Type</a:t>
            </a:r>
            <a:r>
              <a:rPr lang="en-US" sz="1200" b="1" dirty="0"/>
              <a:t>2</a:t>
            </a:r>
            <a:r>
              <a:rPr lang="en-US" sz="1400" b="1" dirty="0"/>
              <a:t>   </a:t>
            </a:r>
            <a:r>
              <a:rPr lang="en-US" sz="2000" b="1" dirty="0"/>
              <a:t>≤   RT</a:t>
            </a:r>
            <a:r>
              <a:rPr lang="en-US" sz="1600" b="1" dirty="0"/>
              <a:t>Type</a:t>
            </a:r>
            <a:r>
              <a:rPr lang="en-US" sz="1200" b="1" dirty="0"/>
              <a:t>1</a:t>
            </a:r>
            <a:endParaRPr lang="el-GR" sz="1400" b="1" dirty="0"/>
          </a:p>
        </p:txBody>
      </p:sp>
      <p:sp>
        <p:nvSpPr>
          <p:cNvPr id="47" name="TextBox 46">
            <a:extLst>
              <a:ext uri="{FF2B5EF4-FFF2-40B4-BE49-F238E27FC236}">
                <a16:creationId xmlns:a16="http://schemas.microsoft.com/office/drawing/2014/main" id="{958701D1-137B-DC58-EA4B-E86A7BE619C7}"/>
              </a:ext>
            </a:extLst>
          </p:cNvPr>
          <p:cNvSpPr txBox="1"/>
          <p:nvPr/>
        </p:nvSpPr>
        <p:spPr>
          <a:xfrm>
            <a:off x="7630914" y="5475864"/>
            <a:ext cx="2836718" cy="400110"/>
          </a:xfrm>
          <a:prstGeom prst="rect">
            <a:avLst/>
          </a:prstGeom>
          <a:noFill/>
        </p:spPr>
        <p:txBody>
          <a:bodyPr wrap="square" rtlCol="0">
            <a:spAutoFit/>
          </a:bodyPr>
          <a:lstStyle/>
          <a:p>
            <a:pPr algn="ctr"/>
            <a:r>
              <a:rPr lang="en-US" sz="2000" b="1" dirty="0"/>
              <a:t>(</a:t>
            </a:r>
            <a:r>
              <a:rPr lang="en-US" sz="2000" b="1" dirty="0" err="1"/>
              <a:t>RT</a:t>
            </a:r>
            <a:r>
              <a:rPr lang="en-US" sz="1600" b="1" dirty="0" err="1"/>
              <a:t>Type</a:t>
            </a:r>
            <a:r>
              <a:rPr lang="en-US" sz="1400" b="1" dirty="0"/>
              <a:t>   </a:t>
            </a:r>
            <a:r>
              <a:rPr lang="en-US" sz="2000" b="1" dirty="0"/>
              <a:t>-   RT</a:t>
            </a:r>
            <a:r>
              <a:rPr lang="en-US" sz="1600" b="1" dirty="0"/>
              <a:t>Type</a:t>
            </a:r>
            <a:r>
              <a:rPr lang="en-US" sz="1200" b="1" dirty="0"/>
              <a:t>2</a:t>
            </a:r>
            <a:r>
              <a:rPr lang="en-US" sz="2000" b="1" dirty="0"/>
              <a:t>)</a:t>
            </a:r>
            <a:endParaRPr lang="el-GR" sz="1400" b="1" dirty="0"/>
          </a:p>
        </p:txBody>
      </p:sp>
      <p:sp>
        <p:nvSpPr>
          <p:cNvPr id="11" name="Callout: Down Arrow 10">
            <a:extLst>
              <a:ext uri="{FF2B5EF4-FFF2-40B4-BE49-F238E27FC236}">
                <a16:creationId xmlns:a16="http://schemas.microsoft.com/office/drawing/2014/main" id="{3F7F1199-349F-D4FF-B406-ED43AA66A8AF}"/>
              </a:ext>
            </a:extLst>
          </p:cNvPr>
          <p:cNvSpPr/>
          <p:nvPr/>
        </p:nvSpPr>
        <p:spPr>
          <a:xfrm>
            <a:off x="8375325" y="4478482"/>
            <a:ext cx="1550796" cy="484632"/>
          </a:xfrm>
          <a:prstGeom prst="downArrowCallou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solidFill>
                  <a:schemeClr val="tx1"/>
                </a:solidFill>
              </a:rPr>
              <a:t>Switch cost</a:t>
            </a:r>
            <a:endParaRPr lang="el-GR" b="1" dirty="0">
              <a:solidFill>
                <a:schemeClr val="tx1"/>
              </a:solidFill>
            </a:endParaRPr>
          </a:p>
        </p:txBody>
      </p:sp>
      <p:sp>
        <p:nvSpPr>
          <p:cNvPr id="22" name="TextBox 21">
            <a:extLst>
              <a:ext uri="{FF2B5EF4-FFF2-40B4-BE49-F238E27FC236}">
                <a16:creationId xmlns:a16="http://schemas.microsoft.com/office/drawing/2014/main" id="{56486E1C-E75D-6B45-1358-13F33FF5E23F}"/>
              </a:ext>
            </a:extLst>
          </p:cNvPr>
          <p:cNvSpPr txBox="1"/>
          <p:nvPr/>
        </p:nvSpPr>
        <p:spPr>
          <a:xfrm>
            <a:off x="1083673" y="4090912"/>
            <a:ext cx="1118657" cy="338554"/>
          </a:xfrm>
          <a:prstGeom prst="rect">
            <a:avLst/>
          </a:prstGeom>
          <a:noFill/>
        </p:spPr>
        <p:txBody>
          <a:bodyPr wrap="square" rtlCol="0">
            <a:spAutoFit/>
          </a:bodyPr>
          <a:lstStyle/>
          <a:p>
            <a:pPr algn="ctr"/>
            <a:r>
              <a:rPr lang="en-US" sz="1600" dirty="0"/>
              <a:t>1050ms</a:t>
            </a:r>
            <a:endParaRPr lang="el-GR" sz="1600" dirty="0"/>
          </a:p>
        </p:txBody>
      </p:sp>
      <p:sp>
        <p:nvSpPr>
          <p:cNvPr id="26" name="TextBox 25">
            <a:extLst>
              <a:ext uri="{FF2B5EF4-FFF2-40B4-BE49-F238E27FC236}">
                <a16:creationId xmlns:a16="http://schemas.microsoft.com/office/drawing/2014/main" id="{816D9A0A-4703-8DA9-8083-90E71D11BDAD}"/>
              </a:ext>
            </a:extLst>
          </p:cNvPr>
          <p:cNvSpPr txBox="1"/>
          <p:nvPr/>
        </p:nvSpPr>
        <p:spPr>
          <a:xfrm>
            <a:off x="3885432" y="4099756"/>
            <a:ext cx="1118657" cy="338554"/>
          </a:xfrm>
          <a:prstGeom prst="rect">
            <a:avLst/>
          </a:prstGeom>
          <a:noFill/>
        </p:spPr>
        <p:txBody>
          <a:bodyPr wrap="square" rtlCol="0">
            <a:spAutoFit/>
          </a:bodyPr>
          <a:lstStyle/>
          <a:p>
            <a:pPr algn="ctr"/>
            <a:r>
              <a:rPr lang="en-US" sz="1600" dirty="0"/>
              <a:t>850ms</a:t>
            </a:r>
            <a:endParaRPr lang="el-GR" sz="1600" dirty="0"/>
          </a:p>
        </p:txBody>
      </p:sp>
      <p:sp>
        <p:nvSpPr>
          <p:cNvPr id="27" name="TextBox 26">
            <a:extLst>
              <a:ext uri="{FF2B5EF4-FFF2-40B4-BE49-F238E27FC236}">
                <a16:creationId xmlns:a16="http://schemas.microsoft.com/office/drawing/2014/main" id="{1C433592-FA1D-9DD6-5360-97E96829D35E}"/>
              </a:ext>
            </a:extLst>
          </p:cNvPr>
          <p:cNvSpPr txBox="1"/>
          <p:nvPr/>
        </p:nvSpPr>
        <p:spPr>
          <a:xfrm>
            <a:off x="7193874" y="4099756"/>
            <a:ext cx="1118657" cy="338554"/>
          </a:xfrm>
          <a:prstGeom prst="rect">
            <a:avLst/>
          </a:prstGeom>
          <a:noFill/>
        </p:spPr>
        <p:txBody>
          <a:bodyPr wrap="square" rtlCol="0">
            <a:spAutoFit/>
          </a:bodyPr>
          <a:lstStyle/>
          <a:p>
            <a:pPr algn="ctr"/>
            <a:r>
              <a:rPr lang="en-US" sz="1600" dirty="0"/>
              <a:t>650ms</a:t>
            </a:r>
            <a:endParaRPr lang="el-GR" sz="1600" dirty="0"/>
          </a:p>
        </p:txBody>
      </p:sp>
      <p:sp>
        <p:nvSpPr>
          <p:cNvPr id="28" name="TextBox 27">
            <a:extLst>
              <a:ext uri="{FF2B5EF4-FFF2-40B4-BE49-F238E27FC236}">
                <a16:creationId xmlns:a16="http://schemas.microsoft.com/office/drawing/2014/main" id="{2C6973C1-9672-0C50-A10C-7CF2019B4B21}"/>
              </a:ext>
            </a:extLst>
          </p:cNvPr>
          <p:cNvSpPr txBox="1"/>
          <p:nvPr/>
        </p:nvSpPr>
        <p:spPr>
          <a:xfrm>
            <a:off x="9824902" y="4115636"/>
            <a:ext cx="1118657" cy="338554"/>
          </a:xfrm>
          <a:prstGeom prst="rect">
            <a:avLst/>
          </a:prstGeom>
          <a:noFill/>
        </p:spPr>
        <p:txBody>
          <a:bodyPr wrap="square" rtlCol="0">
            <a:spAutoFit/>
          </a:bodyPr>
          <a:lstStyle/>
          <a:p>
            <a:pPr algn="ctr"/>
            <a:r>
              <a:rPr lang="en-US" sz="1600" dirty="0"/>
              <a:t>950ms</a:t>
            </a:r>
            <a:endParaRPr lang="el-GR" sz="1600" dirty="0"/>
          </a:p>
        </p:txBody>
      </p:sp>
      <p:sp>
        <p:nvSpPr>
          <p:cNvPr id="29" name="TextBox 28">
            <a:extLst>
              <a:ext uri="{FF2B5EF4-FFF2-40B4-BE49-F238E27FC236}">
                <a16:creationId xmlns:a16="http://schemas.microsoft.com/office/drawing/2014/main" id="{6F9AD0F1-1FCF-63BB-4B26-16D5B753C01F}"/>
              </a:ext>
            </a:extLst>
          </p:cNvPr>
          <p:cNvSpPr txBox="1"/>
          <p:nvPr/>
        </p:nvSpPr>
        <p:spPr>
          <a:xfrm>
            <a:off x="7658798" y="5984788"/>
            <a:ext cx="2836718" cy="400110"/>
          </a:xfrm>
          <a:prstGeom prst="rect">
            <a:avLst/>
          </a:prstGeom>
          <a:noFill/>
        </p:spPr>
        <p:txBody>
          <a:bodyPr wrap="square" rtlCol="0">
            <a:spAutoFit/>
          </a:bodyPr>
          <a:lstStyle/>
          <a:p>
            <a:pPr algn="ctr"/>
            <a:r>
              <a:rPr lang="en-US" sz="2000" dirty="0"/>
              <a:t>950 – 850 = 100ms</a:t>
            </a:r>
            <a:endParaRPr lang="el-GR" sz="1400" dirty="0"/>
          </a:p>
        </p:txBody>
      </p:sp>
      <p:sp>
        <p:nvSpPr>
          <p:cNvPr id="30" name="Arrow: Right 29">
            <a:extLst>
              <a:ext uri="{FF2B5EF4-FFF2-40B4-BE49-F238E27FC236}">
                <a16:creationId xmlns:a16="http://schemas.microsoft.com/office/drawing/2014/main" id="{CC863559-3AD7-E813-3493-F8C813F5C45F}"/>
              </a:ext>
            </a:extLst>
          </p:cNvPr>
          <p:cNvSpPr/>
          <p:nvPr/>
        </p:nvSpPr>
        <p:spPr>
          <a:xfrm rot="7219235">
            <a:off x="3543308" y="2956124"/>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Arrow: Right 39">
            <a:extLst>
              <a:ext uri="{FF2B5EF4-FFF2-40B4-BE49-F238E27FC236}">
                <a16:creationId xmlns:a16="http://schemas.microsoft.com/office/drawing/2014/main" id="{B6FE1BB1-1C34-CCC1-15F1-E326432AF351}"/>
              </a:ext>
            </a:extLst>
          </p:cNvPr>
          <p:cNvSpPr/>
          <p:nvPr/>
        </p:nvSpPr>
        <p:spPr>
          <a:xfrm rot="7219235">
            <a:off x="9567438" y="3001553"/>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1" name="Arrow: Right 40">
            <a:extLst>
              <a:ext uri="{FF2B5EF4-FFF2-40B4-BE49-F238E27FC236}">
                <a16:creationId xmlns:a16="http://schemas.microsoft.com/office/drawing/2014/main" id="{7A2A508D-560A-ED29-107B-F2C96FBEA534}"/>
              </a:ext>
            </a:extLst>
          </p:cNvPr>
          <p:cNvSpPr/>
          <p:nvPr/>
        </p:nvSpPr>
        <p:spPr>
          <a:xfrm rot="3460689">
            <a:off x="10570045" y="2861174"/>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4152073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911" y="1665142"/>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8820" y="1693851"/>
            <a:ext cx="856982" cy="843131"/>
          </a:xfrm>
          <a:prstGeom prst="rect">
            <a:avLst/>
          </a:prstGeom>
        </p:spPr>
      </p:pic>
      <p:sp>
        <p:nvSpPr>
          <p:cNvPr id="14" name="Arrow: Right 13">
            <a:extLst>
              <a:ext uri="{FF2B5EF4-FFF2-40B4-BE49-F238E27FC236}">
                <a16:creationId xmlns:a16="http://schemas.microsoft.com/office/drawing/2014/main" id="{30C3DA05-C931-2DD6-7D9A-CD7B781AF301}"/>
              </a:ext>
            </a:extLst>
          </p:cNvPr>
          <p:cNvSpPr/>
          <p:nvPr/>
        </p:nvSpPr>
        <p:spPr>
          <a:xfrm rot="3460689">
            <a:off x="7755934" y="2834303"/>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Arrow: Right 14">
            <a:extLst>
              <a:ext uri="{FF2B5EF4-FFF2-40B4-BE49-F238E27FC236}">
                <a16:creationId xmlns:a16="http://schemas.microsoft.com/office/drawing/2014/main" id="{C6045A99-6E5D-82B7-9191-338A125E0DEA}"/>
              </a:ext>
            </a:extLst>
          </p:cNvPr>
          <p:cNvSpPr/>
          <p:nvPr/>
        </p:nvSpPr>
        <p:spPr>
          <a:xfrm rot="7548208">
            <a:off x="9514971" y="2831773"/>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9640378" y="1163347"/>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p>
        </p:txBody>
      </p:sp>
      <p:sp>
        <p:nvSpPr>
          <p:cNvPr id="25" name="Rectangle 24">
            <a:extLst>
              <a:ext uri="{FF2B5EF4-FFF2-40B4-BE49-F238E27FC236}">
                <a16:creationId xmlns:a16="http://schemas.microsoft.com/office/drawing/2014/main" id="{24E7E408-B441-09B3-45C8-734F53C57BF7}"/>
              </a:ext>
            </a:extLst>
          </p:cNvPr>
          <p:cNvSpPr/>
          <p:nvPr/>
        </p:nvSpPr>
        <p:spPr>
          <a:xfrm>
            <a:off x="7084813" y="1149855"/>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p>
        </p:txBody>
      </p:sp>
      <p:sp>
        <p:nvSpPr>
          <p:cNvPr id="33" name="TextBox 32">
            <a:extLst>
              <a:ext uri="{FF2B5EF4-FFF2-40B4-BE49-F238E27FC236}">
                <a16:creationId xmlns:a16="http://schemas.microsoft.com/office/drawing/2014/main" id="{FBC62830-498F-C12D-14A9-03C9EA6AC5E2}"/>
              </a:ext>
            </a:extLst>
          </p:cNvPr>
          <p:cNvSpPr txBox="1"/>
          <p:nvPr/>
        </p:nvSpPr>
        <p:spPr>
          <a:xfrm>
            <a:off x="6609615" y="3524435"/>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9329251" y="3490189"/>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8091187" y="3490189"/>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10994866" y="3503677"/>
            <a:ext cx="690228" cy="369332"/>
          </a:xfrm>
          <a:prstGeom prst="rect">
            <a:avLst/>
          </a:prstGeom>
          <a:noFill/>
        </p:spPr>
        <p:txBody>
          <a:bodyPr wrap="square" rtlCol="0">
            <a:spAutoFit/>
          </a:bodyPr>
          <a:lstStyle/>
          <a:p>
            <a:r>
              <a:rPr lang="en-US" dirty="0"/>
              <a:t>Orth</a:t>
            </a:r>
            <a:endParaRPr lang="el-GR" dirty="0"/>
          </a:p>
        </p:txBody>
      </p:sp>
      <p:sp>
        <p:nvSpPr>
          <p:cNvPr id="6" name="Arrow: Right 5">
            <a:extLst>
              <a:ext uri="{FF2B5EF4-FFF2-40B4-BE49-F238E27FC236}">
                <a16:creationId xmlns:a16="http://schemas.microsoft.com/office/drawing/2014/main" id="{5C40282F-D605-6ECA-719A-1F9040DA8E7C}"/>
              </a:ext>
            </a:extLst>
          </p:cNvPr>
          <p:cNvSpPr/>
          <p:nvPr/>
        </p:nvSpPr>
        <p:spPr>
          <a:xfrm rot="3460689">
            <a:off x="10635375" y="3008845"/>
            <a:ext cx="718980" cy="210154"/>
          </a:xfrm>
          <a:custGeom>
            <a:avLst/>
            <a:gdLst>
              <a:gd name="connsiteX0" fmla="*/ 0 w 718980"/>
              <a:gd name="connsiteY0" fmla="*/ 52539 h 210154"/>
              <a:gd name="connsiteX1" fmla="*/ 319230 w 718980"/>
              <a:gd name="connsiteY1" fmla="*/ 52539 h 210154"/>
              <a:gd name="connsiteX2" fmla="*/ 613903 w 718980"/>
              <a:gd name="connsiteY2" fmla="*/ 52539 h 210154"/>
              <a:gd name="connsiteX3" fmla="*/ 613903 w 718980"/>
              <a:gd name="connsiteY3" fmla="*/ 0 h 210154"/>
              <a:gd name="connsiteX4" fmla="*/ 718980 w 718980"/>
              <a:gd name="connsiteY4" fmla="*/ 105077 h 210154"/>
              <a:gd name="connsiteX5" fmla="*/ 613903 w 718980"/>
              <a:gd name="connsiteY5" fmla="*/ 210154 h 210154"/>
              <a:gd name="connsiteX6" fmla="*/ 613903 w 718980"/>
              <a:gd name="connsiteY6" fmla="*/ 157616 h 210154"/>
              <a:gd name="connsiteX7" fmla="*/ 306952 w 718980"/>
              <a:gd name="connsiteY7" fmla="*/ 157616 h 210154"/>
              <a:gd name="connsiteX8" fmla="*/ 0 w 718980"/>
              <a:gd name="connsiteY8" fmla="*/ 157616 h 210154"/>
              <a:gd name="connsiteX9" fmla="*/ 0 w 718980"/>
              <a:gd name="connsiteY9" fmla="*/ 52539 h 21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210154" fill="none" extrusionOk="0">
                <a:moveTo>
                  <a:pt x="0" y="52539"/>
                </a:moveTo>
                <a:cubicBezTo>
                  <a:pt x="128550" y="22277"/>
                  <a:pt x="195853" y="83647"/>
                  <a:pt x="319230" y="52539"/>
                </a:cubicBezTo>
                <a:cubicBezTo>
                  <a:pt x="442607" y="21431"/>
                  <a:pt x="479552" y="63411"/>
                  <a:pt x="613903" y="52539"/>
                </a:cubicBezTo>
                <a:cubicBezTo>
                  <a:pt x="609654" y="26535"/>
                  <a:pt x="617879" y="11892"/>
                  <a:pt x="613903" y="0"/>
                </a:cubicBezTo>
                <a:cubicBezTo>
                  <a:pt x="652607" y="31661"/>
                  <a:pt x="663453" y="67674"/>
                  <a:pt x="718980" y="105077"/>
                </a:cubicBezTo>
                <a:cubicBezTo>
                  <a:pt x="678644" y="149565"/>
                  <a:pt x="632699" y="186515"/>
                  <a:pt x="613903" y="210154"/>
                </a:cubicBezTo>
                <a:cubicBezTo>
                  <a:pt x="610067" y="190396"/>
                  <a:pt x="619796" y="174466"/>
                  <a:pt x="613903" y="157616"/>
                </a:cubicBezTo>
                <a:cubicBezTo>
                  <a:pt x="522270" y="180903"/>
                  <a:pt x="405748" y="155565"/>
                  <a:pt x="306952" y="157616"/>
                </a:cubicBezTo>
                <a:cubicBezTo>
                  <a:pt x="208156" y="159667"/>
                  <a:pt x="118974" y="153984"/>
                  <a:pt x="0" y="157616"/>
                </a:cubicBezTo>
                <a:cubicBezTo>
                  <a:pt x="-11245" y="112319"/>
                  <a:pt x="9881" y="89358"/>
                  <a:pt x="0" y="52539"/>
                </a:cubicBezTo>
                <a:close/>
              </a:path>
              <a:path w="718980" h="210154" stroke="0" extrusionOk="0">
                <a:moveTo>
                  <a:pt x="0" y="52539"/>
                </a:moveTo>
                <a:cubicBezTo>
                  <a:pt x="115691" y="49992"/>
                  <a:pt x="249082" y="74371"/>
                  <a:pt x="319230" y="52539"/>
                </a:cubicBezTo>
                <a:cubicBezTo>
                  <a:pt x="389378" y="30707"/>
                  <a:pt x="518899" y="61032"/>
                  <a:pt x="613903" y="52539"/>
                </a:cubicBezTo>
                <a:cubicBezTo>
                  <a:pt x="608832" y="31908"/>
                  <a:pt x="615301" y="23519"/>
                  <a:pt x="613903" y="0"/>
                </a:cubicBezTo>
                <a:cubicBezTo>
                  <a:pt x="641131" y="17983"/>
                  <a:pt x="674293" y="60767"/>
                  <a:pt x="718980" y="105077"/>
                </a:cubicBezTo>
                <a:cubicBezTo>
                  <a:pt x="692800" y="150840"/>
                  <a:pt x="648861" y="159321"/>
                  <a:pt x="613903" y="210154"/>
                </a:cubicBezTo>
                <a:cubicBezTo>
                  <a:pt x="612143" y="184726"/>
                  <a:pt x="617836" y="169948"/>
                  <a:pt x="613903" y="157616"/>
                </a:cubicBezTo>
                <a:cubicBezTo>
                  <a:pt x="531652" y="171450"/>
                  <a:pt x="410930" y="122820"/>
                  <a:pt x="319230" y="157616"/>
                </a:cubicBezTo>
                <a:cubicBezTo>
                  <a:pt x="227530" y="192412"/>
                  <a:pt x="156487" y="145813"/>
                  <a:pt x="0" y="157616"/>
                </a:cubicBezTo>
                <a:cubicBezTo>
                  <a:pt x="-5787" y="121967"/>
                  <a:pt x="8931" y="104643"/>
                  <a:pt x="0" y="52539"/>
                </a:cubicBezTo>
                <a:close/>
              </a:path>
            </a:pathLst>
          </a:custGeom>
          <a:solidFill>
            <a:schemeClr val="tx1">
              <a:lumMod val="75000"/>
              <a:lumOff val="25000"/>
            </a:schemeClr>
          </a:solidFill>
          <a:ln w="19050">
            <a:solidFill>
              <a:schemeClr val="tx1">
                <a:lumMod val="75000"/>
                <a:lumOff val="25000"/>
              </a:schemeClr>
            </a:solidFill>
            <a:prstDash val="solid"/>
            <a:extLst>
              <a:ext uri="{C807C97D-BFC1-408E-A445-0C87EB9F89A2}">
                <ask:lineSketchStyleProps xmlns:ask="http://schemas.microsoft.com/office/drawing/2018/sketchyshapes" sd="146513842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7" name="Picture 6" descr="A picture containing diagram&#10;&#10;Description automatically generated">
            <a:extLst>
              <a:ext uri="{FF2B5EF4-FFF2-40B4-BE49-F238E27FC236}">
                <a16:creationId xmlns:a16="http://schemas.microsoft.com/office/drawing/2014/main" id="{A682D5DD-1594-F93D-9BB5-B5AA733B8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512" y="1706706"/>
            <a:ext cx="856982" cy="843131"/>
          </a:xfrm>
          <a:prstGeom prst="rect">
            <a:avLst/>
          </a:prstGeom>
        </p:spPr>
      </p:pic>
      <p:sp>
        <p:nvSpPr>
          <p:cNvPr id="10" name="Arrow: Right 9">
            <a:extLst>
              <a:ext uri="{FF2B5EF4-FFF2-40B4-BE49-F238E27FC236}">
                <a16:creationId xmlns:a16="http://schemas.microsoft.com/office/drawing/2014/main" id="{F20CCDC7-6D27-FEF8-393F-C952CF5A3DE8}"/>
              </a:ext>
            </a:extLst>
          </p:cNvPr>
          <p:cNvSpPr/>
          <p:nvPr/>
        </p:nvSpPr>
        <p:spPr>
          <a:xfrm rot="7548208">
            <a:off x="739255" y="2837058"/>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1" name="Rectangle 10">
            <a:extLst>
              <a:ext uri="{FF2B5EF4-FFF2-40B4-BE49-F238E27FC236}">
                <a16:creationId xmlns:a16="http://schemas.microsoft.com/office/drawing/2014/main" id="{FE716DC7-5B14-F235-B266-490598D3F065}"/>
              </a:ext>
            </a:extLst>
          </p:cNvPr>
          <p:cNvSpPr/>
          <p:nvPr/>
        </p:nvSpPr>
        <p:spPr>
          <a:xfrm>
            <a:off x="846070" y="1157632"/>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p>
        </p:txBody>
      </p:sp>
      <p:sp>
        <p:nvSpPr>
          <p:cNvPr id="17" name="TextBox 16">
            <a:extLst>
              <a:ext uri="{FF2B5EF4-FFF2-40B4-BE49-F238E27FC236}">
                <a16:creationId xmlns:a16="http://schemas.microsoft.com/office/drawing/2014/main" id="{217D213A-9240-DA2A-C217-AEEF1DAD809D}"/>
              </a:ext>
            </a:extLst>
          </p:cNvPr>
          <p:cNvSpPr txBox="1"/>
          <p:nvPr/>
        </p:nvSpPr>
        <p:spPr>
          <a:xfrm>
            <a:off x="587216" y="3565999"/>
            <a:ext cx="690228" cy="369332"/>
          </a:xfrm>
          <a:prstGeom prst="rect">
            <a:avLst/>
          </a:prstGeom>
          <a:noFill/>
        </p:spPr>
        <p:txBody>
          <a:bodyPr wrap="square" rtlCol="0">
            <a:spAutoFit/>
          </a:bodyPr>
          <a:lstStyle/>
          <a:p>
            <a:r>
              <a:rPr lang="en-US" dirty="0" err="1"/>
              <a:t>Phon</a:t>
            </a:r>
            <a:endParaRPr lang="el-GR" dirty="0"/>
          </a:p>
        </p:txBody>
      </p:sp>
      <p:sp>
        <p:nvSpPr>
          <p:cNvPr id="21" name="TextBox 20">
            <a:extLst>
              <a:ext uri="{FF2B5EF4-FFF2-40B4-BE49-F238E27FC236}">
                <a16:creationId xmlns:a16="http://schemas.microsoft.com/office/drawing/2014/main" id="{962B6257-47AC-B85B-0BEC-4181A565BC85}"/>
              </a:ext>
            </a:extLst>
          </p:cNvPr>
          <p:cNvSpPr txBox="1"/>
          <p:nvPr/>
        </p:nvSpPr>
        <p:spPr>
          <a:xfrm>
            <a:off x="2068788" y="3531753"/>
            <a:ext cx="690228" cy="369332"/>
          </a:xfrm>
          <a:prstGeom prst="rect">
            <a:avLst/>
          </a:prstGeom>
          <a:noFill/>
        </p:spPr>
        <p:txBody>
          <a:bodyPr wrap="square" rtlCol="0">
            <a:spAutoFit/>
          </a:bodyPr>
          <a:lstStyle/>
          <a:p>
            <a:r>
              <a:rPr lang="en-US" dirty="0"/>
              <a:t>Orth</a:t>
            </a:r>
            <a:endParaRPr lang="el-GR" dirty="0"/>
          </a:p>
        </p:txBody>
      </p:sp>
      <p:pic>
        <p:nvPicPr>
          <p:cNvPr id="24" name="Picture 23" descr="A picture containing diagram&#10;&#10;Description automatically generated">
            <a:extLst>
              <a:ext uri="{FF2B5EF4-FFF2-40B4-BE49-F238E27FC236}">
                <a16:creationId xmlns:a16="http://schemas.microsoft.com/office/drawing/2014/main" id="{B2D33CA7-BA0E-4011-CCCC-862D2306C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896" y="1730125"/>
            <a:ext cx="856982" cy="843131"/>
          </a:xfrm>
          <a:prstGeom prst="rect">
            <a:avLst/>
          </a:prstGeom>
        </p:spPr>
      </p:pic>
      <p:sp>
        <p:nvSpPr>
          <p:cNvPr id="26" name="Arrow: Right 25">
            <a:extLst>
              <a:ext uri="{FF2B5EF4-FFF2-40B4-BE49-F238E27FC236}">
                <a16:creationId xmlns:a16="http://schemas.microsoft.com/office/drawing/2014/main" id="{6D9CB499-1E39-6770-4F32-2E704ADF7B24}"/>
              </a:ext>
            </a:extLst>
          </p:cNvPr>
          <p:cNvSpPr/>
          <p:nvPr/>
        </p:nvSpPr>
        <p:spPr>
          <a:xfrm rot="7548208">
            <a:off x="3579639" y="2860477"/>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7" name="Rectangle 26">
            <a:extLst>
              <a:ext uri="{FF2B5EF4-FFF2-40B4-BE49-F238E27FC236}">
                <a16:creationId xmlns:a16="http://schemas.microsoft.com/office/drawing/2014/main" id="{12003371-3FCF-2CE2-9E81-5DF5EE334338}"/>
              </a:ext>
            </a:extLst>
          </p:cNvPr>
          <p:cNvSpPr/>
          <p:nvPr/>
        </p:nvSpPr>
        <p:spPr>
          <a:xfrm>
            <a:off x="3647829" y="1156180"/>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p>
        </p:txBody>
      </p:sp>
      <p:sp>
        <p:nvSpPr>
          <p:cNvPr id="28" name="TextBox 27">
            <a:extLst>
              <a:ext uri="{FF2B5EF4-FFF2-40B4-BE49-F238E27FC236}">
                <a16:creationId xmlns:a16="http://schemas.microsoft.com/office/drawing/2014/main" id="{E8A3676C-AFF4-C20B-BD97-848E8B5C153D}"/>
              </a:ext>
            </a:extLst>
          </p:cNvPr>
          <p:cNvSpPr txBox="1"/>
          <p:nvPr/>
        </p:nvSpPr>
        <p:spPr>
          <a:xfrm>
            <a:off x="3427600" y="3589418"/>
            <a:ext cx="690228" cy="369332"/>
          </a:xfrm>
          <a:prstGeom prst="rect">
            <a:avLst/>
          </a:prstGeom>
          <a:noFill/>
        </p:spPr>
        <p:txBody>
          <a:bodyPr wrap="square" rtlCol="0">
            <a:spAutoFit/>
          </a:bodyPr>
          <a:lstStyle/>
          <a:p>
            <a:r>
              <a:rPr lang="en-US" dirty="0" err="1"/>
              <a:t>Phon</a:t>
            </a:r>
            <a:endParaRPr lang="el-GR" dirty="0"/>
          </a:p>
        </p:txBody>
      </p:sp>
      <p:sp>
        <p:nvSpPr>
          <p:cNvPr id="29" name="TextBox 28">
            <a:extLst>
              <a:ext uri="{FF2B5EF4-FFF2-40B4-BE49-F238E27FC236}">
                <a16:creationId xmlns:a16="http://schemas.microsoft.com/office/drawing/2014/main" id="{15048472-E1D6-4537-C17B-9CD816BD323D}"/>
              </a:ext>
            </a:extLst>
          </p:cNvPr>
          <p:cNvSpPr txBox="1"/>
          <p:nvPr/>
        </p:nvSpPr>
        <p:spPr>
          <a:xfrm>
            <a:off x="4909172" y="3555172"/>
            <a:ext cx="690228" cy="369332"/>
          </a:xfrm>
          <a:prstGeom prst="rect">
            <a:avLst/>
          </a:prstGeom>
          <a:noFill/>
        </p:spPr>
        <p:txBody>
          <a:bodyPr wrap="square" rtlCol="0">
            <a:spAutoFit/>
          </a:bodyPr>
          <a:lstStyle/>
          <a:p>
            <a:r>
              <a:rPr lang="en-US" dirty="0"/>
              <a:t>Orth</a:t>
            </a:r>
            <a:endParaRPr lang="el-GR" dirty="0"/>
          </a:p>
        </p:txBody>
      </p:sp>
      <p:sp>
        <p:nvSpPr>
          <p:cNvPr id="30" name="Arrow: Right 29">
            <a:extLst>
              <a:ext uri="{FF2B5EF4-FFF2-40B4-BE49-F238E27FC236}">
                <a16:creationId xmlns:a16="http://schemas.microsoft.com/office/drawing/2014/main" id="{9AFB3FC8-F818-8892-4240-65B8A858E8A0}"/>
              </a:ext>
            </a:extLst>
          </p:cNvPr>
          <p:cNvSpPr/>
          <p:nvPr/>
        </p:nvSpPr>
        <p:spPr>
          <a:xfrm rot="3460689">
            <a:off x="4657570" y="3032264"/>
            <a:ext cx="718980" cy="210154"/>
          </a:xfrm>
          <a:custGeom>
            <a:avLst/>
            <a:gdLst>
              <a:gd name="connsiteX0" fmla="*/ 0 w 718980"/>
              <a:gd name="connsiteY0" fmla="*/ 52539 h 210154"/>
              <a:gd name="connsiteX1" fmla="*/ 319230 w 718980"/>
              <a:gd name="connsiteY1" fmla="*/ 52539 h 210154"/>
              <a:gd name="connsiteX2" fmla="*/ 613903 w 718980"/>
              <a:gd name="connsiteY2" fmla="*/ 52539 h 210154"/>
              <a:gd name="connsiteX3" fmla="*/ 613903 w 718980"/>
              <a:gd name="connsiteY3" fmla="*/ 0 h 210154"/>
              <a:gd name="connsiteX4" fmla="*/ 718980 w 718980"/>
              <a:gd name="connsiteY4" fmla="*/ 105077 h 210154"/>
              <a:gd name="connsiteX5" fmla="*/ 613903 w 718980"/>
              <a:gd name="connsiteY5" fmla="*/ 210154 h 210154"/>
              <a:gd name="connsiteX6" fmla="*/ 613903 w 718980"/>
              <a:gd name="connsiteY6" fmla="*/ 157616 h 210154"/>
              <a:gd name="connsiteX7" fmla="*/ 306952 w 718980"/>
              <a:gd name="connsiteY7" fmla="*/ 157616 h 210154"/>
              <a:gd name="connsiteX8" fmla="*/ 0 w 718980"/>
              <a:gd name="connsiteY8" fmla="*/ 157616 h 210154"/>
              <a:gd name="connsiteX9" fmla="*/ 0 w 718980"/>
              <a:gd name="connsiteY9" fmla="*/ 52539 h 21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210154" fill="none" extrusionOk="0">
                <a:moveTo>
                  <a:pt x="0" y="52539"/>
                </a:moveTo>
                <a:cubicBezTo>
                  <a:pt x="128550" y="22277"/>
                  <a:pt x="195853" y="83647"/>
                  <a:pt x="319230" y="52539"/>
                </a:cubicBezTo>
                <a:cubicBezTo>
                  <a:pt x="442607" y="21431"/>
                  <a:pt x="479552" y="63411"/>
                  <a:pt x="613903" y="52539"/>
                </a:cubicBezTo>
                <a:cubicBezTo>
                  <a:pt x="609654" y="26535"/>
                  <a:pt x="617879" y="11892"/>
                  <a:pt x="613903" y="0"/>
                </a:cubicBezTo>
                <a:cubicBezTo>
                  <a:pt x="652607" y="31661"/>
                  <a:pt x="663453" y="67674"/>
                  <a:pt x="718980" y="105077"/>
                </a:cubicBezTo>
                <a:cubicBezTo>
                  <a:pt x="678644" y="149565"/>
                  <a:pt x="632699" y="186515"/>
                  <a:pt x="613903" y="210154"/>
                </a:cubicBezTo>
                <a:cubicBezTo>
                  <a:pt x="610067" y="190396"/>
                  <a:pt x="619796" y="174466"/>
                  <a:pt x="613903" y="157616"/>
                </a:cubicBezTo>
                <a:cubicBezTo>
                  <a:pt x="522270" y="180903"/>
                  <a:pt x="405748" y="155565"/>
                  <a:pt x="306952" y="157616"/>
                </a:cubicBezTo>
                <a:cubicBezTo>
                  <a:pt x="208156" y="159667"/>
                  <a:pt x="118974" y="153984"/>
                  <a:pt x="0" y="157616"/>
                </a:cubicBezTo>
                <a:cubicBezTo>
                  <a:pt x="-11245" y="112319"/>
                  <a:pt x="9881" y="89358"/>
                  <a:pt x="0" y="52539"/>
                </a:cubicBezTo>
                <a:close/>
              </a:path>
              <a:path w="718980" h="210154" stroke="0" extrusionOk="0">
                <a:moveTo>
                  <a:pt x="0" y="52539"/>
                </a:moveTo>
                <a:cubicBezTo>
                  <a:pt x="115691" y="49992"/>
                  <a:pt x="249082" y="74371"/>
                  <a:pt x="319230" y="52539"/>
                </a:cubicBezTo>
                <a:cubicBezTo>
                  <a:pt x="389378" y="30707"/>
                  <a:pt x="518899" y="61032"/>
                  <a:pt x="613903" y="52539"/>
                </a:cubicBezTo>
                <a:cubicBezTo>
                  <a:pt x="608832" y="31908"/>
                  <a:pt x="615301" y="23519"/>
                  <a:pt x="613903" y="0"/>
                </a:cubicBezTo>
                <a:cubicBezTo>
                  <a:pt x="641131" y="17983"/>
                  <a:pt x="674293" y="60767"/>
                  <a:pt x="718980" y="105077"/>
                </a:cubicBezTo>
                <a:cubicBezTo>
                  <a:pt x="692800" y="150840"/>
                  <a:pt x="648861" y="159321"/>
                  <a:pt x="613903" y="210154"/>
                </a:cubicBezTo>
                <a:cubicBezTo>
                  <a:pt x="612143" y="184726"/>
                  <a:pt x="617836" y="169948"/>
                  <a:pt x="613903" y="157616"/>
                </a:cubicBezTo>
                <a:cubicBezTo>
                  <a:pt x="531652" y="171450"/>
                  <a:pt x="410930" y="122820"/>
                  <a:pt x="319230" y="157616"/>
                </a:cubicBezTo>
                <a:cubicBezTo>
                  <a:pt x="227530" y="192412"/>
                  <a:pt x="156487" y="145813"/>
                  <a:pt x="0" y="157616"/>
                </a:cubicBezTo>
                <a:cubicBezTo>
                  <a:pt x="-5787" y="121967"/>
                  <a:pt x="8931" y="104643"/>
                  <a:pt x="0" y="52539"/>
                </a:cubicBezTo>
                <a:close/>
              </a:path>
            </a:pathLst>
          </a:custGeom>
          <a:solidFill>
            <a:schemeClr val="tx1">
              <a:lumMod val="75000"/>
              <a:lumOff val="25000"/>
            </a:schemeClr>
          </a:solidFill>
          <a:ln w="19050">
            <a:solidFill>
              <a:schemeClr val="tx1">
                <a:lumMod val="75000"/>
                <a:lumOff val="25000"/>
              </a:schemeClr>
            </a:solidFill>
            <a:prstDash val="solid"/>
            <a:extLst>
              <a:ext uri="{C807C97D-BFC1-408E-A445-0C87EB9F89A2}">
                <ask:lineSketchStyleProps xmlns:ask="http://schemas.microsoft.com/office/drawing/2018/sketchyshapes" sd="146513842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1" name="Rectangle: Rounded Corners 30">
            <a:extLst>
              <a:ext uri="{FF2B5EF4-FFF2-40B4-BE49-F238E27FC236}">
                <a16:creationId xmlns:a16="http://schemas.microsoft.com/office/drawing/2014/main" id="{D1EA1FCF-1333-2EA3-9F3A-1BCFA9018B6C}"/>
              </a:ext>
            </a:extLst>
          </p:cNvPr>
          <p:cNvSpPr/>
          <p:nvPr/>
        </p:nvSpPr>
        <p:spPr>
          <a:xfrm>
            <a:off x="498763" y="1070223"/>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dirty="0"/>
          </a:p>
        </p:txBody>
      </p:sp>
      <p:sp>
        <p:nvSpPr>
          <p:cNvPr id="32" name="Rectangle: Rounded Corners 31">
            <a:extLst>
              <a:ext uri="{FF2B5EF4-FFF2-40B4-BE49-F238E27FC236}">
                <a16:creationId xmlns:a16="http://schemas.microsoft.com/office/drawing/2014/main" id="{C5DD1142-B304-8D20-B5B1-D3E4E7427862}"/>
              </a:ext>
            </a:extLst>
          </p:cNvPr>
          <p:cNvSpPr/>
          <p:nvPr/>
        </p:nvSpPr>
        <p:spPr>
          <a:xfrm>
            <a:off x="6526838" y="1062507"/>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35" name="TextBox 34">
            <a:extLst>
              <a:ext uri="{FF2B5EF4-FFF2-40B4-BE49-F238E27FC236}">
                <a16:creationId xmlns:a16="http://schemas.microsoft.com/office/drawing/2014/main" id="{EB9F9CB0-DE6D-F6D4-9B4A-F24D84306BD7}"/>
              </a:ext>
            </a:extLst>
          </p:cNvPr>
          <p:cNvSpPr txBox="1"/>
          <p:nvPr/>
        </p:nvSpPr>
        <p:spPr>
          <a:xfrm>
            <a:off x="2396101" y="372185"/>
            <a:ext cx="1290353" cy="523220"/>
          </a:xfrm>
          <a:prstGeom prst="rect">
            <a:avLst/>
          </a:prstGeom>
          <a:noFill/>
        </p:spPr>
        <p:txBody>
          <a:bodyPr wrap="square" rtlCol="0">
            <a:spAutoFit/>
          </a:bodyPr>
          <a:lstStyle/>
          <a:p>
            <a:r>
              <a:rPr lang="en-US" sz="2800" b="1" dirty="0">
                <a:solidFill>
                  <a:srgbClr val="0070C0"/>
                </a:solidFill>
              </a:rPr>
              <a:t>REPEAT</a:t>
            </a:r>
            <a:endParaRPr lang="el-GR" sz="2800" b="1" dirty="0">
              <a:solidFill>
                <a:srgbClr val="0070C0"/>
              </a:solidFill>
            </a:endParaRPr>
          </a:p>
        </p:txBody>
      </p:sp>
      <p:sp>
        <p:nvSpPr>
          <p:cNvPr id="36" name="TextBox 35">
            <a:extLst>
              <a:ext uri="{FF2B5EF4-FFF2-40B4-BE49-F238E27FC236}">
                <a16:creationId xmlns:a16="http://schemas.microsoft.com/office/drawing/2014/main" id="{157CC28C-FBB0-178F-E1C0-001048963584}"/>
              </a:ext>
            </a:extLst>
          </p:cNvPr>
          <p:cNvSpPr txBox="1"/>
          <p:nvPr/>
        </p:nvSpPr>
        <p:spPr>
          <a:xfrm>
            <a:off x="8472184" y="377652"/>
            <a:ext cx="1360372" cy="523220"/>
          </a:xfrm>
          <a:prstGeom prst="rect">
            <a:avLst/>
          </a:prstGeom>
          <a:noFill/>
        </p:spPr>
        <p:txBody>
          <a:bodyPr wrap="none" rtlCol="0">
            <a:spAutoFit/>
          </a:bodyPr>
          <a:lstStyle/>
          <a:p>
            <a:r>
              <a:rPr lang="en-US" sz="2800" b="1" dirty="0">
                <a:solidFill>
                  <a:srgbClr val="C00000"/>
                </a:solidFill>
              </a:rPr>
              <a:t>SWITCH</a:t>
            </a:r>
            <a:endParaRPr lang="el-GR" sz="2800" b="1" dirty="0">
              <a:solidFill>
                <a:srgbClr val="C00000"/>
              </a:solidFill>
            </a:endParaRPr>
          </a:p>
        </p:txBody>
      </p:sp>
      <p:sp>
        <p:nvSpPr>
          <p:cNvPr id="37" name="Arrow: Right 36">
            <a:extLst>
              <a:ext uri="{FF2B5EF4-FFF2-40B4-BE49-F238E27FC236}">
                <a16:creationId xmlns:a16="http://schemas.microsoft.com/office/drawing/2014/main" id="{3C89C782-83CA-B1F0-2DA6-748438EC5065}"/>
              </a:ext>
            </a:extLst>
          </p:cNvPr>
          <p:cNvSpPr/>
          <p:nvPr/>
        </p:nvSpPr>
        <p:spPr>
          <a:xfrm rot="7219235">
            <a:off x="6860343" y="2994771"/>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1" name="Arrow: Chevron 40">
            <a:extLst>
              <a:ext uri="{FF2B5EF4-FFF2-40B4-BE49-F238E27FC236}">
                <a16:creationId xmlns:a16="http://schemas.microsoft.com/office/drawing/2014/main" id="{D94C5A68-A92A-9C5C-161C-4AC9E068C053}"/>
              </a:ext>
            </a:extLst>
          </p:cNvPr>
          <p:cNvSpPr/>
          <p:nvPr/>
        </p:nvSpPr>
        <p:spPr>
          <a:xfrm rot="5400000">
            <a:off x="2798961" y="4478482"/>
            <a:ext cx="484632" cy="484632"/>
          </a:xfrm>
          <a:prstGeom prst="chevron">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l-GR">
              <a:solidFill>
                <a:schemeClr val="tx1"/>
              </a:solidFill>
            </a:endParaRPr>
          </a:p>
        </p:txBody>
      </p:sp>
      <p:sp>
        <p:nvSpPr>
          <p:cNvPr id="42" name="Callout: Down Arrow 41">
            <a:extLst>
              <a:ext uri="{FF2B5EF4-FFF2-40B4-BE49-F238E27FC236}">
                <a16:creationId xmlns:a16="http://schemas.microsoft.com/office/drawing/2014/main" id="{96A8A612-7967-BDE1-5BB2-8CAD455FC75F}"/>
              </a:ext>
            </a:extLst>
          </p:cNvPr>
          <p:cNvSpPr/>
          <p:nvPr/>
        </p:nvSpPr>
        <p:spPr>
          <a:xfrm>
            <a:off x="8375325" y="4478482"/>
            <a:ext cx="1550796" cy="484632"/>
          </a:xfrm>
          <a:prstGeom prst="downArrowCallou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solidFill>
                  <a:schemeClr val="tx1"/>
                </a:solidFill>
              </a:rPr>
              <a:t>Switch cost</a:t>
            </a:r>
            <a:endParaRPr lang="el-GR" b="1" dirty="0">
              <a:solidFill>
                <a:schemeClr val="tx1"/>
              </a:solidFill>
            </a:endParaRPr>
          </a:p>
        </p:txBody>
      </p:sp>
      <p:sp>
        <p:nvSpPr>
          <p:cNvPr id="45" name="TextBox 44">
            <a:extLst>
              <a:ext uri="{FF2B5EF4-FFF2-40B4-BE49-F238E27FC236}">
                <a16:creationId xmlns:a16="http://schemas.microsoft.com/office/drawing/2014/main" id="{6EFB88B3-B447-D25C-806E-7751D24C9F29}"/>
              </a:ext>
            </a:extLst>
          </p:cNvPr>
          <p:cNvSpPr txBox="1"/>
          <p:nvPr/>
        </p:nvSpPr>
        <p:spPr>
          <a:xfrm>
            <a:off x="1608043" y="5482804"/>
            <a:ext cx="2836718" cy="400110"/>
          </a:xfrm>
          <a:prstGeom prst="rect">
            <a:avLst/>
          </a:prstGeom>
          <a:noFill/>
        </p:spPr>
        <p:txBody>
          <a:bodyPr wrap="square" rtlCol="0">
            <a:spAutoFit/>
          </a:bodyPr>
          <a:lstStyle/>
          <a:p>
            <a:pPr algn="ctr"/>
            <a:r>
              <a:rPr lang="en-US" sz="2000" b="1" dirty="0"/>
              <a:t>RT</a:t>
            </a:r>
            <a:r>
              <a:rPr lang="en-US" sz="1600" b="1" dirty="0"/>
              <a:t>Speak</a:t>
            </a:r>
            <a:r>
              <a:rPr lang="en-US" sz="1200" b="1" dirty="0"/>
              <a:t>2</a:t>
            </a:r>
            <a:r>
              <a:rPr lang="en-US" sz="1400" b="1" dirty="0"/>
              <a:t>   </a:t>
            </a:r>
            <a:r>
              <a:rPr lang="en-US" sz="2000" b="1" dirty="0"/>
              <a:t>≤   RT</a:t>
            </a:r>
            <a:r>
              <a:rPr lang="en-US" sz="1600" b="1" dirty="0"/>
              <a:t>Speak</a:t>
            </a:r>
            <a:r>
              <a:rPr lang="en-US" sz="1200" b="1" dirty="0"/>
              <a:t>1</a:t>
            </a:r>
            <a:endParaRPr lang="el-GR" sz="1400" b="1" dirty="0"/>
          </a:p>
        </p:txBody>
      </p:sp>
      <p:sp>
        <p:nvSpPr>
          <p:cNvPr id="48" name="TextBox 47">
            <a:extLst>
              <a:ext uri="{FF2B5EF4-FFF2-40B4-BE49-F238E27FC236}">
                <a16:creationId xmlns:a16="http://schemas.microsoft.com/office/drawing/2014/main" id="{D34D1DFA-3794-C7C3-45B5-C79044BBAAD3}"/>
              </a:ext>
            </a:extLst>
          </p:cNvPr>
          <p:cNvSpPr txBox="1"/>
          <p:nvPr/>
        </p:nvSpPr>
        <p:spPr>
          <a:xfrm>
            <a:off x="7732364" y="5482804"/>
            <a:ext cx="2836718" cy="400110"/>
          </a:xfrm>
          <a:prstGeom prst="rect">
            <a:avLst/>
          </a:prstGeom>
          <a:noFill/>
        </p:spPr>
        <p:txBody>
          <a:bodyPr wrap="square" rtlCol="0">
            <a:spAutoFit/>
          </a:bodyPr>
          <a:lstStyle/>
          <a:p>
            <a:pPr algn="ctr"/>
            <a:r>
              <a:rPr lang="en-US" sz="2000" b="1" dirty="0"/>
              <a:t>(</a:t>
            </a:r>
            <a:r>
              <a:rPr lang="en-US" sz="2000" b="1" dirty="0" err="1"/>
              <a:t>RT</a:t>
            </a:r>
            <a:r>
              <a:rPr lang="en-US" sz="1600" b="1" dirty="0" err="1"/>
              <a:t>Speak</a:t>
            </a:r>
            <a:r>
              <a:rPr lang="en-US" sz="1400" b="1" dirty="0"/>
              <a:t>   </a:t>
            </a:r>
            <a:r>
              <a:rPr lang="en-US" sz="2000" b="1" dirty="0"/>
              <a:t>-  RT</a:t>
            </a:r>
            <a:r>
              <a:rPr lang="en-US" sz="1600" b="1" dirty="0"/>
              <a:t>Speak</a:t>
            </a:r>
            <a:r>
              <a:rPr lang="en-US" sz="1200" b="1" dirty="0"/>
              <a:t>2</a:t>
            </a:r>
            <a:r>
              <a:rPr lang="en-US" sz="2000" b="1" dirty="0"/>
              <a:t>)</a:t>
            </a:r>
            <a:endParaRPr lang="el-GR" sz="1400" b="1" dirty="0"/>
          </a:p>
        </p:txBody>
      </p:sp>
      <p:sp>
        <p:nvSpPr>
          <p:cNvPr id="3" name="TextBox 2">
            <a:extLst>
              <a:ext uri="{FF2B5EF4-FFF2-40B4-BE49-F238E27FC236}">
                <a16:creationId xmlns:a16="http://schemas.microsoft.com/office/drawing/2014/main" id="{C9B6C079-628C-10F4-B037-E1FB6A0C7E61}"/>
              </a:ext>
            </a:extLst>
          </p:cNvPr>
          <p:cNvSpPr txBox="1"/>
          <p:nvPr/>
        </p:nvSpPr>
        <p:spPr>
          <a:xfrm>
            <a:off x="1083673" y="4090912"/>
            <a:ext cx="1118657" cy="338554"/>
          </a:xfrm>
          <a:prstGeom prst="rect">
            <a:avLst/>
          </a:prstGeom>
          <a:noFill/>
        </p:spPr>
        <p:txBody>
          <a:bodyPr wrap="square" rtlCol="0">
            <a:spAutoFit/>
          </a:bodyPr>
          <a:lstStyle/>
          <a:p>
            <a:pPr algn="ctr"/>
            <a:r>
              <a:rPr lang="en-US" sz="1600" dirty="0"/>
              <a:t>800ms</a:t>
            </a:r>
            <a:endParaRPr lang="el-GR" sz="1600" dirty="0"/>
          </a:p>
        </p:txBody>
      </p:sp>
      <p:sp>
        <p:nvSpPr>
          <p:cNvPr id="4" name="TextBox 3">
            <a:extLst>
              <a:ext uri="{FF2B5EF4-FFF2-40B4-BE49-F238E27FC236}">
                <a16:creationId xmlns:a16="http://schemas.microsoft.com/office/drawing/2014/main" id="{F88BFCA7-1E76-3703-CCE6-FE1A1F1388FE}"/>
              </a:ext>
            </a:extLst>
          </p:cNvPr>
          <p:cNvSpPr txBox="1"/>
          <p:nvPr/>
        </p:nvSpPr>
        <p:spPr>
          <a:xfrm>
            <a:off x="3885432" y="4099756"/>
            <a:ext cx="1118657" cy="338554"/>
          </a:xfrm>
          <a:prstGeom prst="rect">
            <a:avLst/>
          </a:prstGeom>
          <a:noFill/>
        </p:spPr>
        <p:txBody>
          <a:bodyPr wrap="square" rtlCol="0">
            <a:spAutoFit/>
          </a:bodyPr>
          <a:lstStyle/>
          <a:p>
            <a:pPr algn="ctr"/>
            <a:r>
              <a:rPr lang="en-US" sz="1600" dirty="0"/>
              <a:t>650ms</a:t>
            </a:r>
            <a:endParaRPr lang="el-GR" sz="1600" dirty="0"/>
          </a:p>
        </p:txBody>
      </p:sp>
      <p:sp>
        <p:nvSpPr>
          <p:cNvPr id="9" name="TextBox 8">
            <a:extLst>
              <a:ext uri="{FF2B5EF4-FFF2-40B4-BE49-F238E27FC236}">
                <a16:creationId xmlns:a16="http://schemas.microsoft.com/office/drawing/2014/main" id="{8A9F37CC-AA9D-8CF0-2F8F-43129D26D809}"/>
              </a:ext>
            </a:extLst>
          </p:cNvPr>
          <p:cNvSpPr txBox="1"/>
          <p:nvPr/>
        </p:nvSpPr>
        <p:spPr>
          <a:xfrm>
            <a:off x="7193874" y="4099756"/>
            <a:ext cx="1118657" cy="338554"/>
          </a:xfrm>
          <a:prstGeom prst="rect">
            <a:avLst/>
          </a:prstGeom>
          <a:noFill/>
        </p:spPr>
        <p:txBody>
          <a:bodyPr wrap="square" rtlCol="0">
            <a:spAutoFit/>
          </a:bodyPr>
          <a:lstStyle/>
          <a:p>
            <a:pPr algn="ctr"/>
            <a:r>
              <a:rPr lang="en-US" sz="1600" dirty="0"/>
              <a:t>1050ms</a:t>
            </a:r>
            <a:endParaRPr lang="el-GR" sz="1600" dirty="0"/>
          </a:p>
        </p:txBody>
      </p:sp>
      <p:sp>
        <p:nvSpPr>
          <p:cNvPr id="12" name="TextBox 11">
            <a:extLst>
              <a:ext uri="{FF2B5EF4-FFF2-40B4-BE49-F238E27FC236}">
                <a16:creationId xmlns:a16="http://schemas.microsoft.com/office/drawing/2014/main" id="{425598F5-9D99-1558-23EB-E1EFB4168959}"/>
              </a:ext>
            </a:extLst>
          </p:cNvPr>
          <p:cNvSpPr txBox="1"/>
          <p:nvPr/>
        </p:nvSpPr>
        <p:spPr>
          <a:xfrm>
            <a:off x="9824902" y="4115636"/>
            <a:ext cx="1118657" cy="338554"/>
          </a:xfrm>
          <a:prstGeom prst="rect">
            <a:avLst/>
          </a:prstGeom>
          <a:noFill/>
        </p:spPr>
        <p:txBody>
          <a:bodyPr wrap="square" rtlCol="0">
            <a:spAutoFit/>
          </a:bodyPr>
          <a:lstStyle/>
          <a:p>
            <a:pPr algn="ctr"/>
            <a:r>
              <a:rPr lang="en-US" sz="1600" dirty="0"/>
              <a:t>700ms</a:t>
            </a:r>
            <a:endParaRPr lang="el-GR" sz="1600" dirty="0"/>
          </a:p>
        </p:txBody>
      </p:sp>
      <p:sp>
        <p:nvSpPr>
          <p:cNvPr id="13" name="TextBox 12">
            <a:extLst>
              <a:ext uri="{FF2B5EF4-FFF2-40B4-BE49-F238E27FC236}">
                <a16:creationId xmlns:a16="http://schemas.microsoft.com/office/drawing/2014/main" id="{056FBEA8-31B4-DC7C-07F0-7C555EB1C172}"/>
              </a:ext>
            </a:extLst>
          </p:cNvPr>
          <p:cNvSpPr txBox="1"/>
          <p:nvPr/>
        </p:nvSpPr>
        <p:spPr>
          <a:xfrm>
            <a:off x="7753631" y="5902813"/>
            <a:ext cx="2836718" cy="400110"/>
          </a:xfrm>
          <a:prstGeom prst="rect">
            <a:avLst/>
          </a:prstGeom>
          <a:noFill/>
        </p:spPr>
        <p:txBody>
          <a:bodyPr wrap="square" rtlCol="0">
            <a:spAutoFit/>
          </a:bodyPr>
          <a:lstStyle/>
          <a:p>
            <a:pPr algn="ctr"/>
            <a:r>
              <a:rPr lang="en-US" sz="2000" dirty="0"/>
              <a:t>700 – 650 = 50ms</a:t>
            </a:r>
            <a:endParaRPr lang="el-GR" sz="1400" dirty="0"/>
          </a:p>
        </p:txBody>
      </p:sp>
      <p:sp>
        <p:nvSpPr>
          <p:cNvPr id="2" name="Arrow: Right 1">
            <a:extLst>
              <a:ext uri="{FF2B5EF4-FFF2-40B4-BE49-F238E27FC236}">
                <a16:creationId xmlns:a16="http://schemas.microsoft.com/office/drawing/2014/main" id="{C15B97E3-5660-857B-504B-A9B5202ECD93}"/>
              </a:ext>
            </a:extLst>
          </p:cNvPr>
          <p:cNvSpPr/>
          <p:nvPr/>
        </p:nvSpPr>
        <p:spPr>
          <a:xfrm rot="3460689">
            <a:off x="1842840" y="2990091"/>
            <a:ext cx="718980" cy="210154"/>
          </a:xfrm>
          <a:custGeom>
            <a:avLst/>
            <a:gdLst>
              <a:gd name="connsiteX0" fmla="*/ 0 w 718980"/>
              <a:gd name="connsiteY0" fmla="*/ 52539 h 210154"/>
              <a:gd name="connsiteX1" fmla="*/ 319230 w 718980"/>
              <a:gd name="connsiteY1" fmla="*/ 52539 h 210154"/>
              <a:gd name="connsiteX2" fmla="*/ 613903 w 718980"/>
              <a:gd name="connsiteY2" fmla="*/ 52539 h 210154"/>
              <a:gd name="connsiteX3" fmla="*/ 613903 w 718980"/>
              <a:gd name="connsiteY3" fmla="*/ 0 h 210154"/>
              <a:gd name="connsiteX4" fmla="*/ 718980 w 718980"/>
              <a:gd name="connsiteY4" fmla="*/ 105077 h 210154"/>
              <a:gd name="connsiteX5" fmla="*/ 613903 w 718980"/>
              <a:gd name="connsiteY5" fmla="*/ 210154 h 210154"/>
              <a:gd name="connsiteX6" fmla="*/ 613903 w 718980"/>
              <a:gd name="connsiteY6" fmla="*/ 157616 h 210154"/>
              <a:gd name="connsiteX7" fmla="*/ 306952 w 718980"/>
              <a:gd name="connsiteY7" fmla="*/ 157616 h 210154"/>
              <a:gd name="connsiteX8" fmla="*/ 0 w 718980"/>
              <a:gd name="connsiteY8" fmla="*/ 157616 h 210154"/>
              <a:gd name="connsiteX9" fmla="*/ 0 w 718980"/>
              <a:gd name="connsiteY9" fmla="*/ 52539 h 21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210154" fill="none" extrusionOk="0">
                <a:moveTo>
                  <a:pt x="0" y="52539"/>
                </a:moveTo>
                <a:cubicBezTo>
                  <a:pt x="128550" y="22277"/>
                  <a:pt x="195853" y="83647"/>
                  <a:pt x="319230" y="52539"/>
                </a:cubicBezTo>
                <a:cubicBezTo>
                  <a:pt x="442607" y="21431"/>
                  <a:pt x="479552" y="63411"/>
                  <a:pt x="613903" y="52539"/>
                </a:cubicBezTo>
                <a:cubicBezTo>
                  <a:pt x="609654" y="26535"/>
                  <a:pt x="617879" y="11892"/>
                  <a:pt x="613903" y="0"/>
                </a:cubicBezTo>
                <a:cubicBezTo>
                  <a:pt x="652607" y="31661"/>
                  <a:pt x="663453" y="67674"/>
                  <a:pt x="718980" y="105077"/>
                </a:cubicBezTo>
                <a:cubicBezTo>
                  <a:pt x="678644" y="149565"/>
                  <a:pt x="632699" y="186515"/>
                  <a:pt x="613903" y="210154"/>
                </a:cubicBezTo>
                <a:cubicBezTo>
                  <a:pt x="610067" y="190396"/>
                  <a:pt x="619796" y="174466"/>
                  <a:pt x="613903" y="157616"/>
                </a:cubicBezTo>
                <a:cubicBezTo>
                  <a:pt x="522270" y="180903"/>
                  <a:pt x="405748" y="155565"/>
                  <a:pt x="306952" y="157616"/>
                </a:cubicBezTo>
                <a:cubicBezTo>
                  <a:pt x="208156" y="159667"/>
                  <a:pt x="118974" y="153984"/>
                  <a:pt x="0" y="157616"/>
                </a:cubicBezTo>
                <a:cubicBezTo>
                  <a:pt x="-11245" y="112319"/>
                  <a:pt x="9881" y="89358"/>
                  <a:pt x="0" y="52539"/>
                </a:cubicBezTo>
                <a:close/>
              </a:path>
              <a:path w="718980" h="210154" stroke="0" extrusionOk="0">
                <a:moveTo>
                  <a:pt x="0" y="52539"/>
                </a:moveTo>
                <a:cubicBezTo>
                  <a:pt x="115691" y="49992"/>
                  <a:pt x="249082" y="74371"/>
                  <a:pt x="319230" y="52539"/>
                </a:cubicBezTo>
                <a:cubicBezTo>
                  <a:pt x="389378" y="30707"/>
                  <a:pt x="518899" y="61032"/>
                  <a:pt x="613903" y="52539"/>
                </a:cubicBezTo>
                <a:cubicBezTo>
                  <a:pt x="608832" y="31908"/>
                  <a:pt x="615301" y="23519"/>
                  <a:pt x="613903" y="0"/>
                </a:cubicBezTo>
                <a:cubicBezTo>
                  <a:pt x="641131" y="17983"/>
                  <a:pt x="674293" y="60767"/>
                  <a:pt x="718980" y="105077"/>
                </a:cubicBezTo>
                <a:cubicBezTo>
                  <a:pt x="692800" y="150840"/>
                  <a:pt x="648861" y="159321"/>
                  <a:pt x="613903" y="210154"/>
                </a:cubicBezTo>
                <a:cubicBezTo>
                  <a:pt x="612143" y="184726"/>
                  <a:pt x="617836" y="169948"/>
                  <a:pt x="613903" y="157616"/>
                </a:cubicBezTo>
                <a:cubicBezTo>
                  <a:pt x="531652" y="171450"/>
                  <a:pt x="410930" y="122820"/>
                  <a:pt x="319230" y="157616"/>
                </a:cubicBezTo>
                <a:cubicBezTo>
                  <a:pt x="227530" y="192412"/>
                  <a:pt x="156487" y="145813"/>
                  <a:pt x="0" y="157616"/>
                </a:cubicBezTo>
                <a:cubicBezTo>
                  <a:pt x="-5787" y="121967"/>
                  <a:pt x="8931" y="104643"/>
                  <a:pt x="0" y="52539"/>
                </a:cubicBezTo>
                <a:close/>
              </a:path>
            </a:pathLst>
          </a:custGeom>
          <a:solidFill>
            <a:schemeClr val="tx1">
              <a:lumMod val="75000"/>
              <a:lumOff val="25000"/>
            </a:schemeClr>
          </a:solidFill>
          <a:ln w="19050">
            <a:solidFill>
              <a:schemeClr val="tx1">
                <a:lumMod val="75000"/>
                <a:lumOff val="25000"/>
              </a:schemeClr>
            </a:solidFill>
            <a:prstDash val="solid"/>
            <a:extLst>
              <a:ext uri="{C807C97D-BFC1-408E-A445-0C87EB9F89A2}">
                <ask:lineSketchStyleProps xmlns:ask="http://schemas.microsoft.com/office/drawing/2018/sketchyshapes" sd="146513842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54624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911" y="1665142"/>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8820" y="1693851"/>
            <a:ext cx="856982" cy="843131"/>
          </a:xfrm>
          <a:prstGeom prst="rect">
            <a:avLst/>
          </a:prstGeom>
        </p:spPr>
      </p:pic>
      <p:sp>
        <p:nvSpPr>
          <p:cNvPr id="15" name="Arrow: Right 14">
            <a:extLst>
              <a:ext uri="{FF2B5EF4-FFF2-40B4-BE49-F238E27FC236}">
                <a16:creationId xmlns:a16="http://schemas.microsoft.com/office/drawing/2014/main" id="{C6045A99-6E5D-82B7-9191-338A125E0DEA}"/>
              </a:ext>
            </a:extLst>
          </p:cNvPr>
          <p:cNvSpPr/>
          <p:nvPr/>
        </p:nvSpPr>
        <p:spPr>
          <a:xfrm rot="7548208">
            <a:off x="6761654" y="2795494"/>
            <a:ext cx="853162" cy="476250"/>
          </a:xfrm>
          <a:custGeom>
            <a:avLst/>
            <a:gdLst>
              <a:gd name="connsiteX0" fmla="*/ 0 w 853162"/>
              <a:gd name="connsiteY0" fmla="*/ 119063 h 476250"/>
              <a:gd name="connsiteX1" fmla="*/ 29521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4516" y="88060"/>
                  <a:pt x="196747" y="122821"/>
                  <a:pt x="295218" y="119063"/>
                </a:cubicBezTo>
                <a:cubicBezTo>
                  <a:pt x="393689" y="115305"/>
                  <a:pt x="493988" y="130822"/>
                  <a:pt x="615037" y="119063"/>
                </a:cubicBezTo>
                <a:cubicBezTo>
                  <a:pt x="613538" y="86596"/>
                  <a:pt x="617556" y="34664"/>
                  <a:pt x="615037" y="0"/>
                </a:cubicBezTo>
                <a:cubicBezTo>
                  <a:pt x="725895" y="82200"/>
                  <a:pt x="757483" y="197733"/>
                  <a:pt x="853162" y="238125"/>
                </a:cubicBezTo>
                <a:cubicBezTo>
                  <a:pt x="765341" y="355421"/>
                  <a:pt x="651013" y="398640"/>
                  <a:pt x="615037" y="476250"/>
                </a:cubicBezTo>
                <a:cubicBezTo>
                  <a:pt x="606523" y="417104"/>
                  <a:pt x="620701" y="389122"/>
                  <a:pt x="615037" y="357188"/>
                </a:cubicBezTo>
                <a:cubicBezTo>
                  <a:pt x="516229" y="361238"/>
                  <a:pt x="443912" y="333637"/>
                  <a:pt x="325970" y="357188"/>
                </a:cubicBezTo>
                <a:cubicBezTo>
                  <a:pt x="208028" y="380739"/>
                  <a:pt x="158032" y="336758"/>
                  <a:pt x="0" y="357188"/>
                </a:cubicBezTo>
                <a:cubicBezTo>
                  <a:pt x="-24947" y="253408"/>
                  <a:pt x="15515" y="171396"/>
                  <a:pt x="0" y="119063"/>
                </a:cubicBezTo>
                <a:close/>
              </a:path>
              <a:path w="853162" h="476250" stroke="0" extrusionOk="0">
                <a:moveTo>
                  <a:pt x="0" y="119063"/>
                </a:moveTo>
                <a:cubicBezTo>
                  <a:pt x="154704" y="99098"/>
                  <a:pt x="200199" y="125142"/>
                  <a:pt x="313669" y="119063"/>
                </a:cubicBezTo>
                <a:cubicBezTo>
                  <a:pt x="427139" y="112984"/>
                  <a:pt x="527755" y="146495"/>
                  <a:pt x="615037" y="119063"/>
                </a:cubicBezTo>
                <a:cubicBezTo>
                  <a:pt x="606992" y="75125"/>
                  <a:pt x="625062" y="51157"/>
                  <a:pt x="615037" y="0"/>
                </a:cubicBezTo>
                <a:cubicBezTo>
                  <a:pt x="728958" y="74641"/>
                  <a:pt x="777614" y="203703"/>
                  <a:pt x="853162" y="238125"/>
                </a:cubicBezTo>
                <a:cubicBezTo>
                  <a:pt x="757071" y="360117"/>
                  <a:pt x="703036" y="358317"/>
                  <a:pt x="615037" y="476250"/>
                </a:cubicBezTo>
                <a:cubicBezTo>
                  <a:pt x="609165" y="443936"/>
                  <a:pt x="619182" y="403066"/>
                  <a:pt x="615037" y="357188"/>
                </a:cubicBezTo>
                <a:cubicBezTo>
                  <a:pt x="500255" y="394791"/>
                  <a:pt x="414743" y="347749"/>
                  <a:pt x="295218" y="357188"/>
                </a:cubicBezTo>
                <a:cubicBezTo>
                  <a:pt x="175693" y="366627"/>
                  <a:pt x="120649" y="341800"/>
                  <a:pt x="0" y="357188"/>
                </a:cubicBezTo>
                <a:cubicBezTo>
                  <a:pt x="-25481" y="300539"/>
                  <a:pt x="12499" y="18102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36388792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6868469" y="1101420"/>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a:t>
            </a:r>
          </a:p>
        </p:txBody>
      </p:sp>
      <p:sp>
        <p:nvSpPr>
          <p:cNvPr id="25" name="Rectangle 24">
            <a:extLst>
              <a:ext uri="{FF2B5EF4-FFF2-40B4-BE49-F238E27FC236}">
                <a16:creationId xmlns:a16="http://schemas.microsoft.com/office/drawing/2014/main" id="{24E7E408-B441-09B3-45C8-734F53C57BF7}"/>
              </a:ext>
            </a:extLst>
          </p:cNvPr>
          <p:cNvSpPr/>
          <p:nvPr/>
        </p:nvSpPr>
        <p:spPr>
          <a:xfrm>
            <a:off x="9856722" y="1102970"/>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p>
        </p:txBody>
      </p:sp>
      <p:sp>
        <p:nvSpPr>
          <p:cNvPr id="33" name="TextBox 32">
            <a:extLst>
              <a:ext uri="{FF2B5EF4-FFF2-40B4-BE49-F238E27FC236}">
                <a16:creationId xmlns:a16="http://schemas.microsoft.com/office/drawing/2014/main" id="{FBC62830-498F-C12D-14A9-03C9EA6AC5E2}"/>
              </a:ext>
            </a:extLst>
          </p:cNvPr>
          <p:cNvSpPr txBox="1"/>
          <p:nvPr/>
        </p:nvSpPr>
        <p:spPr>
          <a:xfrm>
            <a:off x="6609615" y="3524435"/>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9329251" y="3490189"/>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8091187" y="3490189"/>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10994866" y="3503677"/>
            <a:ext cx="690228" cy="369332"/>
          </a:xfrm>
          <a:prstGeom prst="rect">
            <a:avLst/>
          </a:prstGeom>
          <a:noFill/>
        </p:spPr>
        <p:txBody>
          <a:bodyPr wrap="square" rtlCol="0">
            <a:spAutoFit/>
          </a:bodyPr>
          <a:lstStyle/>
          <a:p>
            <a:r>
              <a:rPr lang="en-US" dirty="0"/>
              <a:t>Orth</a:t>
            </a:r>
            <a:endParaRPr lang="el-GR" dirty="0"/>
          </a:p>
        </p:txBody>
      </p:sp>
      <p:pic>
        <p:nvPicPr>
          <p:cNvPr id="7" name="Picture 6" descr="A picture containing diagram&#10;&#10;Description automatically generated">
            <a:extLst>
              <a:ext uri="{FF2B5EF4-FFF2-40B4-BE49-F238E27FC236}">
                <a16:creationId xmlns:a16="http://schemas.microsoft.com/office/drawing/2014/main" id="{A682D5DD-1594-F93D-9BB5-B5AA733B8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512" y="1706706"/>
            <a:ext cx="856982" cy="843131"/>
          </a:xfrm>
          <a:prstGeom prst="rect">
            <a:avLst/>
          </a:prstGeom>
        </p:spPr>
      </p:pic>
      <p:pic>
        <p:nvPicPr>
          <p:cNvPr id="24" name="Picture 23" descr="A picture containing diagram&#10;&#10;Description automatically generated">
            <a:extLst>
              <a:ext uri="{FF2B5EF4-FFF2-40B4-BE49-F238E27FC236}">
                <a16:creationId xmlns:a16="http://schemas.microsoft.com/office/drawing/2014/main" id="{B2D33CA7-BA0E-4011-CCCC-862D2306C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896" y="1730125"/>
            <a:ext cx="856982" cy="843131"/>
          </a:xfrm>
          <a:prstGeom prst="rect">
            <a:avLst/>
          </a:prstGeom>
        </p:spPr>
      </p:pic>
      <p:sp>
        <p:nvSpPr>
          <p:cNvPr id="31" name="Rectangle: Rounded Corners 30">
            <a:extLst>
              <a:ext uri="{FF2B5EF4-FFF2-40B4-BE49-F238E27FC236}">
                <a16:creationId xmlns:a16="http://schemas.microsoft.com/office/drawing/2014/main" id="{D1EA1FCF-1333-2EA3-9F3A-1BCFA9018B6C}"/>
              </a:ext>
            </a:extLst>
          </p:cNvPr>
          <p:cNvSpPr/>
          <p:nvPr/>
        </p:nvSpPr>
        <p:spPr>
          <a:xfrm>
            <a:off x="498763" y="1070223"/>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32" name="Rectangle: Rounded Corners 31">
            <a:extLst>
              <a:ext uri="{FF2B5EF4-FFF2-40B4-BE49-F238E27FC236}">
                <a16:creationId xmlns:a16="http://schemas.microsoft.com/office/drawing/2014/main" id="{C5DD1142-B304-8D20-B5B1-D3E4E7427862}"/>
              </a:ext>
            </a:extLst>
          </p:cNvPr>
          <p:cNvSpPr/>
          <p:nvPr/>
        </p:nvSpPr>
        <p:spPr>
          <a:xfrm>
            <a:off x="6526838" y="1062507"/>
            <a:ext cx="5100638" cy="2971674"/>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35" name="TextBox 34">
            <a:extLst>
              <a:ext uri="{FF2B5EF4-FFF2-40B4-BE49-F238E27FC236}">
                <a16:creationId xmlns:a16="http://schemas.microsoft.com/office/drawing/2014/main" id="{EB9F9CB0-DE6D-F6D4-9B4A-F24D84306BD7}"/>
              </a:ext>
            </a:extLst>
          </p:cNvPr>
          <p:cNvSpPr txBox="1"/>
          <p:nvPr/>
        </p:nvSpPr>
        <p:spPr>
          <a:xfrm>
            <a:off x="2396101" y="372185"/>
            <a:ext cx="1290353" cy="523220"/>
          </a:xfrm>
          <a:prstGeom prst="rect">
            <a:avLst/>
          </a:prstGeom>
          <a:noFill/>
        </p:spPr>
        <p:txBody>
          <a:bodyPr wrap="none" rtlCol="0">
            <a:spAutoFit/>
          </a:bodyPr>
          <a:lstStyle/>
          <a:p>
            <a:r>
              <a:rPr lang="en-US" sz="2800" b="1" dirty="0">
                <a:solidFill>
                  <a:srgbClr val="0070C0"/>
                </a:solidFill>
              </a:rPr>
              <a:t>REPEAT</a:t>
            </a:r>
            <a:endParaRPr lang="el-GR" sz="2800" b="1" dirty="0">
              <a:solidFill>
                <a:srgbClr val="0070C0"/>
              </a:solidFill>
            </a:endParaRPr>
          </a:p>
        </p:txBody>
      </p:sp>
      <p:sp>
        <p:nvSpPr>
          <p:cNvPr id="36" name="TextBox 35">
            <a:extLst>
              <a:ext uri="{FF2B5EF4-FFF2-40B4-BE49-F238E27FC236}">
                <a16:creationId xmlns:a16="http://schemas.microsoft.com/office/drawing/2014/main" id="{157CC28C-FBB0-178F-E1C0-001048963584}"/>
              </a:ext>
            </a:extLst>
          </p:cNvPr>
          <p:cNvSpPr txBox="1"/>
          <p:nvPr/>
        </p:nvSpPr>
        <p:spPr>
          <a:xfrm>
            <a:off x="8472184" y="377652"/>
            <a:ext cx="1360372" cy="523220"/>
          </a:xfrm>
          <a:prstGeom prst="rect">
            <a:avLst/>
          </a:prstGeom>
          <a:noFill/>
        </p:spPr>
        <p:txBody>
          <a:bodyPr wrap="none" rtlCol="0">
            <a:spAutoFit/>
          </a:bodyPr>
          <a:lstStyle/>
          <a:p>
            <a:r>
              <a:rPr lang="en-US" sz="2800" b="1" dirty="0">
                <a:solidFill>
                  <a:srgbClr val="C00000"/>
                </a:solidFill>
              </a:rPr>
              <a:t>SWITCH</a:t>
            </a:r>
            <a:endParaRPr lang="el-GR" sz="2800" b="1" dirty="0">
              <a:solidFill>
                <a:srgbClr val="C00000"/>
              </a:solidFill>
            </a:endParaRPr>
          </a:p>
        </p:txBody>
      </p:sp>
      <p:sp>
        <p:nvSpPr>
          <p:cNvPr id="2" name="Rectangle 1">
            <a:extLst>
              <a:ext uri="{FF2B5EF4-FFF2-40B4-BE49-F238E27FC236}">
                <a16:creationId xmlns:a16="http://schemas.microsoft.com/office/drawing/2014/main" id="{C392F5E8-0EF5-D03C-4FDE-F5E4EC0F93CF}"/>
              </a:ext>
            </a:extLst>
          </p:cNvPr>
          <p:cNvSpPr/>
          <p:nvPr/>
        </p:nvSpPr>
        <p:spPr>
          <a:xfrm>
            <a:off x="1062414" y="1104229"/>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p>
        </p:txBody>
      </p:sp>
      <p:sp>
        <p:nvSpPr>
          <p:cNvPr id="4" name="Rectangle 3">
            <a:extLst>
              <a:ext uri="{FF2B5EF4-FFF2-40B4-BE49-F238E27FC236}">
                <a16:creationId xmlns:a16="http://schemas.microsoft.com/office/drawing/2014/main" id="{98199165-6F17-E2FB-AD2D-FCE699F18570}"/>
              </a:ext>
            </a:extLst>
          </p:cNvPr>
          <p:cNvSpPr/>
          <p:nvPr/>
        </p:nvSpPr>
        <p:spPr>
          <a:xfrm>
            <a:off x="3902798" y="1122897"/>
            <a:ext cx="1161177" cy="461665"/>
          </a:xfrm>
          <a:prstGeom prst="rect">
            <a:avLst/>
          </a:prstGeom>
          <a:noFill/>
          <a:ln>
            <a:noFill/>
          </a:ln>
        </p:spPr>
        <p:txBody>
          <a:bodyPr wrap="square" lIns="91440" tIns="45720" rIns="91440" bIns="45720">
            <a:spAutoFit/>
          </a:bodyPr>
          <a:lstStyle/>
          <a:p>
            <a:pPr algn="ctr"/>
            <a:r>
              <a:rPr lang="en-US" sz="2400" b="1" dirty="0">
                <a:ln w="22225">
                  <a:solidFill>
                    <a:srgbClr val="B82AB1"/>
                  </a:solidFill>
                  <a:prstDash val="solid"/>
                </a:ln>
                <a:solidFill>
                  <a:srgbClr val="B82AB1"/>
                </a:solidFill>
              </a:rPr>
              <a:t>TYPE</a:t>
            </a:r>
          </a:p>
        </p:txBody>
      </p:sp>
      <p:sp>
        <p:nvSpPr>
          <p:cNvPr id="12" name="Arrow: Right 11">
            <a:extLst>
              <a:ext uri="{FF2B5EF4-FFF2-40B4-BE49-F238E27FC236}">
                <a16:creationId xmlns:a16="http://schemas.microsoft.com/office/drawing/2014/main" id="{A5B8288A-53CF-A0F7-1DB0-BD4B29E3B232}"/>
              </a:ext>
            </a:extLst>
          </p:cNvPr>
          <p:cNvSpPr/>
          <p:nvPr/>
        </p:nvSpPr>
        <p:spPr>
          <a:xfrm rot="3460689">
            <a:off x="1857979" y="2777746"/>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TextBox 12">
            <a:extLst>
              <a:ext uri="{FF2B5EF4-FFF2-40B4-BE49-F238E27FC236}">
                <a16:creationId xmlns:a16="http://schemas.microsoft.com/office/drawing/2014/main" id="{6AC6C83E-21EA-A9F3-E234-568033222FB0}"/>
              </a:ext>
            </a:extLst>
          </p:cNvPr>
          <p:cNvSpPr txBox="1"/>
          <p:nvPr/>
        </p:nvSpPr>
        <p:spPr>
          <a:xfrm>
            <a:off x="683471" y="3489033"/>
            <a:ext cx="690228" cy="369332"/>
          </a:xfrm>
          <a:prstGeom prst="rect">
            <a:avLst/>
          </a:prstGeom>
          <a:noFill/>
        </p:spPr>
        <p:txBody>
          <a:bodyPr wrap="square" rtlCol="0">
            <a:spAutoFit/>
          </a:bodyPr>
          <a:lstStyle/>
          <a:p>
            <a:r>
              <a:rPr lang="en-US" dirty="0" err="1"/>
              <a:t>Phon</a:t>
            </a:r>
            <a:endParaRPr lang="el-GR" dirty="0"/>
          </a:p>
        </p:txBody>
      </p:sp>
      <p:sp>
        <p:nvSpPr>
          <p:cNvPr id="16" name="TextBox 15">
            <a:extLst>
              <a:ext uri="{FF2B5EF4-FFF2-40B4-BE49-F238E27FC236}">
                <a16:creationId xmlns:a16="http://schemas.microsoft.com/office/drawing/2014/main" id="{B5AB0976-3105-D3D4-D52A-E0DE7F0BE787}"/>
              </a:ext>
            </a:extLst>
          </p:cNvPr>
          <p:cNvSpPr txBox="1"/>
          <p:nvPr/>
        </p:nvSpPr>
        <p:spPr>
          <a:xfrm>
            <a:off x="2221881" y="3503677"/>
            <a:ext cx="690228" cy="369332"/>
          </a:xfrm>
          <a:prstGeom prst="rect">
            <a:avLst/>
          </a:prstGeom>
          <a:noFill/>
        </p:spPr>
        <p:txBody>
          <a:bodyPr wrap="square" rtlCol="0">
            <a:spAutoFit/>
          </a:bodyPr>
          <a:lstStyle/>
          <a:p>
            <a:r>
              <a:rPr lang="en-US" dirty="0"/>
              <a:t>Orth</a:t>
            </a:r>
            <a:endParaRPr lang="el-GR" dirty="0"/>
          </a:p>
        </p:txBody>
      </p:sp>
      <p:sp>
        <p:nvSpPr>
          <p:cNvPr id="18" name="Arrow: Right 17">
            <a:extLst>
              <a:ext uri="{FF2B5EF4-FFF2-40B4-BE49-F238E27FC236}">
                <a16:creationId xmlns:a16="http://schemas.microsoft.com/office/drawing/2014/main" id="{DFAA7DBD-AAAD-4AD5-EA7A-62889834C5D1}"/>
              </a:ext>
            </a:extLst>
          </p:cNvPr>
          <p:cNvSpPr/>
          <p:nvPr/>
        </p:nvSpPr>
        <p:spPr>
          <a:xfrm rot="7219235">
            <a:off x="855021" y="2973788"/>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Arrow: Right 18">
            <a:extLst>
              <a:ext uri="{FF2B5EF4-FFF2-40B4-BE49-F238E27FC236}">
                <a16:creationId xmlns:a16="http://schemas.microsoft.com/office/drawing/2014/main" id="{30C47AC8-BA58-CA9D-E42D-CF7391BA053F}"/>
              </a:ext>
            </a:extLst>
          </p:cNvPr>
          <p:cNvSpPr/>
          <p:nvPr/>
        </p:nvSpPr>
        <p:spPr>
          <a:xfrm rot="3460689">
            <a:off x="4568166" y="2822937"/>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0" name="TextBox 19">
            <a:extLst>
              <a:ext uri="{FF2B5EF4-FFF2-40B4-BE49-F238E27FC236}">
                <a16:creationId xmlns:a16="http://schemas.microsoft.com/office/drawing/2014/main" id="{760E8597-1FCC-3DD7-0B3D-C3805CD176C5}"/>
              </a:ext>
            </a:extLst>
          </p:cNvPr>
          <p:cNvSpPr txBox="1"/>
          <p:nvPr/>
        </p:nvSpPr>
        <p:spPr>
          <a:xfrm>
            <a:off x="3443632" y="3503677"/>
            <a:ext cx="690228" cy="369332"/>
          </a:xfrm>
          <a:prstGeom prst="rect">
            <a:avLst/>
          </a:prstGeom>
          <a:noFill/>
        </p:spPr>
        <p:txBody>
          <a:bodyPr wrap="square" rtlCol="0">
            <a:spAutoFit/>
          </a:bodyPr>
          <a:lstStyle/>
          <a:p>
            <a:r>
              <a:rPr lang="en-US" dirty="0" err="1"/>
              <a:t>Phon</a:t>
            </a:r>
            <a:endParaRPr lang="el-GR" dirty="0"/>
          </a:p>
        </p:txBody>
      </p:sp>
      <p:sp>
        <p:nvSpPr>
          <p:cNvPr id="37" name="TextBox 36">
            <a:extLst>
              <a:ext uri="{FF2B5EF4-FFF2-40B4-BE49-F238E27FC236}">
                <a16:creationId xmlns:a16="http://schemas.microsoft.com/office/drawing/2014/main" id="{0C3DBCD6-6709-42CC-61CD-E52CC0DB17AC}"/>
              </a:ext>
            </a:extLst>
          </p:cNvPr>
          <p:cNvSpPr txBox="1"/>
          <p:nvPr/>
        </p:nvSpPr>
        <p:spPr>
          <a:xfrm>
            <a:off x="4932068" y="3548868"/>
            <a:ext cx="690228" cy="369332"/>
          </a:xfrm>
          <a:prstGeom prst="rect">
            <a:avLst/>
          </a:prstGeom>
          <a:noFill/>
        </p:spPr>
        <p:txBody>
          <a:bodyPr wrap="square" rtlCol="0">
            <a:spAutoFit/>
          </a:bodyPr>
          <a:lstStyle/>
          <a:p>
            <a:r>
              <a:rPr lang="en-US" dirty="0"/>
              <a:t>Orth</a:t>
            </a:r>
            <a:endParaRPr lang="el-GR" dirty="0"/>
          </a:p>
        </p:txBody>
      </p:sp>
      <p:sp>
        <p:nvSpPr>
          <p:cNvPr id="39" name="Arrow: Chevron 38">
            <a:extLst>
              <a:ext uri="{FF2B5EF4-FFF2-40B4-BE49-F238E27FC236}">
                <a16:creationId xmlns:a16="http://schemas.microsoft.com/office/drawing/2014/main" id="{1E57F283-AF8B-0EF4-7422-FEA0638F433C}"/>
              </a:ext>
            </a:extLst>
          </p:cNvPr>
          <p:cNvSpPr/>
          <p:nvPr/>
        </p:nvSpPr>
        <p:spPr>
          <a:xfrm rot="5400000">
            <a:off x="2798961" y="4478482"/>
            <a:ext cx="484632" cy="484632"/>
          </a:xfrm>
          <a:prstGeom prst="chevron">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l-GR">
              <a:solidFill>
                <a:schemeClr val="tx1"/>
              </a:solidFill>
            </a:endParaRPr>
          </a:p>
        </p:txBody>
      </p:sp>
      <p:sp>
        <p:nvSpPr>
          <p:cNvPr id="46" name="TextBox 45">
            <a:extLst>
              <a:ext uri="{FF2B5EF4-FFF2-40B4-BE49-F238E27FC236}">
                <a16:creationId xmlns:a16="http://schemas.microsoft.com/office/drawing/2014/main" id="{A28D9381-A997-6DDF-DC75-8C10451D125A}"/>
              </a:ext>
            </a:extLst>
          </p:cNvPr>
          <p:cNvSpPr txBox="1"/>
          <p:nvPr/>
        </p:nvSpPr>
        <p:spPr>
          <a:xfrm>
            <a:off x="1643002" y="5463820"/>
            <a:ext cx="2836718" cy="400110"/>
          </a:xfrm>
          <a:prstGeom prst="rect">
            <a:avLst/>
          </a:prstGeom>
          <a:noFill/>
        </p:spPr>
        <p:txBody>
          <a:bodyPr wrap="square" rtlCol="0">
            <a:spAutoFit/>
          </a:bodyPr>
          <a:lstStyle/>
          <a:p>
            <a:pPr algn="ctr"/>
            <a:r>
              <a:rPr lang="en-US" sz="2000" b="1" dirty="0"/>
              <a:t>RT</a:t>
            </a:r>
            <a:r>
              <a:rPr lang="en-US" sz="1600" b="1" dirty="0"/>
              <a:t>Type</a:t>
            </a:r>
            <a:r>
              <a:rPr lang="en-US" sz="1200" b="1" dirty="0"/>
              <a:t>2</a:t>
            </a:r>
            <a:r>
              <a:rPr lang="en-US" sz="1400" b="1" dirty="0"/>
              <a:t>   </a:t>
            </a:r>
            <a:r>
              <a:rPr lang="en-US" sz="2000" b="1" dirty="0"/>
              <a:t>≤   RT</a:t>
            </a:r>
            <a:r>
              <a:rPr lang="en-US" sz="1600" b="1" dirty="0"/>
              <a:t>Type</a:t>
            </a:r>
            <a:r>
              <a:rPr lang="en-US" sz="1200" b="1" dirty="0"/>
              <a:t>1</a:t>
            </a:r>
            <a:endParaRPr lang="el-GR" sz="1400" b="1" dirty="0"/>
          </a:p>
        </p:txBody>
      </p:sp>
      <p:sp>
        <p:nvSpPr>
          <p:cNvPr id="47" name="TextBox 46">
            <a:extLst>
              <a:ext uri="{FF2B5EF4-FFF2-40B4-BE49-F238E27FC236}">
                <a16:creationId xmlns:a16="http://schemas.microsoft.com/office/drawing/2014/main" id="{958701D1-137B-DC58-EA4B-E86A7BE619C7}"/>
              </a:ext>
            </a:extLst>
          </p:cNvPr>
          <p:cNvSpPr txBox="1"/>
          <p:nvPr/>
        </p:nvSpPr>
        <p:spPr>
          <a:xfrm>
            <a:off x="7630914" y="5475864"/>
            <a:ext cx="2836718" cy="400110"/>
          </a:xfrm>
          <a:prstGeom prst="rect">
            <a:avLst/>
          </a:prstGeom>
          <a:noFill/>
        </p:spPr>
        <p:txBody>
          <a:bodyPr wrap="square" rtlCol="0">
            <a:spAutoFit/>
          </a:bodyPr>
          <a:lstStyle/>
          <a:p>
            <a:pPr algn="ctr"/>
            <a:r>
              <a:rPr lang="en-US" sz="2000" b="1" dirty="0"/>
              <a:t>(</a:t>
            </a:r>
            <a:r>
              <a:rPr lang="en-US" sz="2000" b="1" dirty="0" err="1"/>
              <a:t>RT</a:t>
            </a:r>
            <a:r>
              <a:rPr lang="en-US" sz="1600" b="1" dirty="0" err="1"/>
              <a:t>Type</a:t>
            </a:r>
            <a:r>
              <a:rPr lang="en-US" sz="1400" b="1" dirty="0"/>
              <a:t>   </a:t>
            </a:r>
            <a:r>
              <a:rPr lang="en-US" sz="2000" b="1" dirty="0"/>
              <a:t>-   RT</a:t>
            </a:r>
            <a:r>
              <a:rPr lang="en-US" sz="1600" b="1" dirty="0"/>
              <a:t>Type</a:t>
            </a:r>
            <a:r>
              <a:rPr lang="en-US" sz="1200" b="1" dirty="0"/>
              <a:t>2</a:t>
            </a:r>
            <a:r>
              <a:rPr lang="en-US" sz="2000" b="1" dirty="0"/>
              <a:t>)</a:t>
            </a:r>
            <a:endParaRPr lang="el-GR" sz="1400" b="1" dirty="0"/>
          </a:p>
        </p:txBody>
      </p:sp>
      <p:sp>
        <p:nvSpPr>
          <p:cNvPr id="11" name="Callout: Down Arrow 10">
            <a:extLst>
              <a:ext uri="{FF2B5EF4-FFF2-40B4-BE49-F238E27FC236}">
                <a16:creationId xmlns:a16="http://schemas.microsoft.com/office/drawing/2014/main" id="{3F7F1199-349F-D4FF-B406-ED43AA66A8AF}"/>
              </a:ext>
            </a:extLst>
          </p:cNvPr>
          <p:cNvSpPr/>
          <p:nvPr/>
        </p:nvSpPr>
        <p:spPr>
          <a:xfrm>
            <a:off x="8375325" y="4478482"/>
            <a:ext cx="1550796" cy="484632"/>
          </a:xfrm>
          <a:prstGeom prst="downArrowCallou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solidFill>
                  <a:schemeClr val="tx1"/>
                </a:solidFill>
              </a:rPr>
              <a:t>Switch cost</a:t>
            </a:r>
            <a:endParaRPr lang="el-GR" b="1" dirty="0">
              <a:solidFill>
                <a:schemeClr val="tx1"/>
              </a:solidFill>
            </a:endParaRPr>
          </a:p>
        </p:txBody>
      </p:sp>
      <p:sp>
        <p:nvSpPr>
          <p:cNvPr id="22" name="TextBox 21">
            <a:extLst>
              <a:ext uri="{FF2B5EF4-FFF2-40B4-BE49-F238E27FC236}">
                <a16:creationId xmlns:a16="http://schemas.microsoft.com/office/drawing/2014/main" id="{56486E1C-E75D-6B45-1358-13F33FF5E23F}"/>
              </a:ext>
            </a:extLst>
          </p:cNvPr>
          <p:cNvSpPr txBox="1"/>
          <p:nvPr/>
        </p:nvSpPr>
        <p:spPr>
          <a:xfrm>
            <a:off x="1083673" y="4090912"/>
            <a:ext cx="1118657" cy="338554"/>
          </a:xfrm>
          <a:prstGeom prst="rect">
            <a:avLst/>
          </a:prstGeom>
          <a:noFill/>
        </p:spPr>
        <p:txBody>
          <a:bodyPr wrap="square" rtlCol="0">
            <a:spAutoFit/>
          </a:bodyPr>
          <a:lstStyle/>
          <a:p>
            <a:pPr algn="ctr"/>
            <a:r>
              <a:rPr lang="en-US" sz="1600" dirty="0"/>
              <a:t>1050ms</a:t>
            </a:r>
            <a:endParaRPr lang="el-GR" sz="1600" dirty="0"/>
          </a:p>
        </p:txBody>
      </p:sp>
      <p:sp>
        <p:nvSpPr>
          <p:cNvPr id="26" name="TextBox 25">
            <a:extLst>
              <a:ext uri="{FF2B5EF4-FFF2-40B4-BE49-F238E27FC236}">
                <a16:creationId xmlns:a16="http://schemas.microsoft.com/office/drawing/2014/main" id="{816D9A0A-4703-8DA9-8083-90E71D11BDAD}"/>
              </a:ext>
            </a:extLst>
          </p:cNvPr>
          <p:cNvSpPr txBox="1"/>
          <p:nvPr/>
        </p:nvSpPr>
        <p:spPr>
          <a:xfrm>
            <a:off x="3885432" y="4099756"/>
            <a:ext cx="1118657" cy="338554"/>
          </a:xfrm>
          <a:prstGeom prst="rect">
            <a:avLst/>
          </a:prstGeom>
          <a:noFill/>
        </p:spPr>
        <p:txBody>
          <a:bodyPr wrap="square" rtlCol="0">
            <a:spAutoFit/>
          </a:bodyPr>
          <a:lstStyle/>
          <a:p>
            <a:pPr algn="ctr"/>
            <a:r>
              <a:rPr lang="en-US" sz="1600" dirty="0"/>
              <a:t>850ms</a:t>
            </a:r>
            <a:endParaRPr lang="el-GR" sz="1600" dirty="0"/>
          </a:p>
        </p:txBody>
      </p:sp>
      <p:sp>
        <p:nvSpPr>
          <p:cNvPr id="27" name="TextBox 26">
            <a:extLst>
              <a:ext uri="{FF2B5EF4-FFF2-40B4-BE49-F238E27FC236}">
                <a16:creationId xmlns:a16="http://schemas.microsoft.com/office/drawing/2014/main" id="{1C433592-FA1D-9DD6-5360-97E96829D35E}"/>
              </a:ext>
            </a:extLst>
          </p:cNvPr>
          <p:cNvSpPr txBox="1"/>
          <p:nvPr/>
        </p:nvSpPr>
        <p:spPr>
          <a:xfrm>
            <a:off x="7193874" y="4099756"/>
            <a:ext cx="1118657" cy="338554"/>
          </a:xfrm>
          <a:prstGeom prst="rect">
            <a:avLst/>
          </a:prstGeom>
          <a:noFill/>
        </p:spPr>
        <p:txBody>
          <a:bodyPr wrap="square" rtlCol="0">
            <a:spAutoFit/>
          </a:bodyPr>
          <a:lstStyle/>
          <a:p>
            <a:pPr algn="ctr"/>
            <a:r>
              <a:rPr lang="en-US" sz="1600" dirty="0"/>
              <a:t>650ms</a:t>
            </a:r>
            <a:endParaRPr lang="el-GR" sz="1600" dirty="0"/>
          </a:p>
        </p:txBody>
      </p:sp>
      <p:sp>
        <p:nvSpPr>
          <p:cNvPr id="28" name="TextBox 27">
            <a:extLst>
              <a:ext uri="{FF2B5EF4-FFF2-40B4-BE49-F238E27FC236}">
                <a16:creationId xmlns:a16="http://schemas.microsoft.com/office/drawing/2014/main" id="{2C6973C1-9672-0C50-A10C-7CF2019B4B21}"/>
              </a:ext>
            </a:extLst>
          </p:cNvPr>
          <p:cNvSpPr txBox="1"/>
          <p:nvPr/>
        </p:nvSpPr>
        <p:spPr>
          <a:xfrm>
            <a:off x="9824902" y="4115636"/>
            <a:ext cx="1118657" cy="338554"/>
          </a:xfrm>
          <a:prstGeom prst="rect">
            <a:avLst/>
          </a:prstGeom>
          <a:noFill/>
        </p:spPr>
        <p:txBody>
          <a:bodyPr wrap="square" rtlCol="0">
            <a:spAutoFit/>
          </a:bodyPr>
          <a:lstStyle/>
          <a:p>
            <a:pPr algn="ctr"/>
            <a:r>
              <a:rPr lang="en-US" sz="1600" dirty="0"/>
              <a:t>920ms</a:t>
            </a:r>
            <a:endParaRPr lang="el-GR" sz="1600" dirty="0"/>
          </a:p>
        </p:txBody>
      </p:sp>
      <p:sp>
        <p:nvSpPr>
          <p:cNvPr id="29" name="TextBox 28">
            <a:extLst>
              <a:ext uri="{FF2B5EF4-FFF2-40B4-BE49-F238E27FC236}">
                <a16:creationId xmlns:a16="http://schemas.microsoft.com/office/drawing/2014/main" id="{6F9AD0F1-1FCF-63BB-4B26-16D5B753C01F}"/>
              </a:ext>
            </a:extLst>
          </p:cNvPr>
          <p:cNvSpPr txBox="1"/>
          <p:nvPr/>
        </p:nvSpPr>
        <p:spPr>
          <a:xfrm>
            <a:off x="7658798" y="5984788"/>
            <a:ext cx="2836718" cy="400110"/>
          </a:xfrm>
          <a:prstGeom prst="rect">
            <a:avLst/>
          </a:prstGeom>
          <a:noFill/>
        </p:spPr>
        <p:txBody>
          <a:bodyPr wrap="square" rtlCol="0">
            <a:spAutoFit/>
          </a:bodyPr>
          <a:lstStyle/>
          <a:p>
            <a:pPr algn="ctr"/>
            <a:r>
              <a:rPr lang="en-US" sz="2000" dirty="0"/>
              <a:t>920 – 850 = 70ms</a:t>
            </a:r>
            <a:endParaRPr lang="el-GR" sz="1400" dirty="0"/>
          </a:p>
        </p:txBody>
      </p:sp>
      <p:sp>
        <p:nvSpPr>
          <p:cNvPr id="30" name="Arrow: Right 29">
            <a:extLst>
              <a:ext uri="{FF2B5EF4-FFF2-40B4-BE49-F238E27FC236}">
                <a16:creationId xmlns:a16="http://schemas.microsoft.com/office/drawing/2014/main" id="{CC863559-3AD7-E813-3493-F8C813F5C45F}"/>
              </a:ext>
            </a:extLst>
          </p:cNvPr>
          <p:cNvSpPr/>
          <p:nvPr/>
        </p:nvSpPr>
        <p:spPr>
          <a:xfrm rot="7219235">
            <a:off x="3543308" y="2956124"/>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Arrow: Right 39">
            <a:extLst>
              <a:ext uri="{FF2B5EF4-FFF2-40B4-BE49-F238E27FC236}">
                <a16:creationId xmlns:a16="http://schemas.microsoft.com/office/drawing/2014/main" id="{B6FE1BB1-1C34-CCC1-15F1-E326432AF351}"/>
              </a:ext>
            </a:extLst>
          </p:cNvPr>
          <p:cNvSpPr/>
          <p:nvPr/>
        </p:nvSpPr>
        <p:spPr>
          <a:xfrm rot="7219235">
            <a:off x="9567438" y="3001553"/>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1" name="Arrow: Right 40">
            <a:extLst>
              <a:ext uri="{FF2B5EF4-FFF2-40B4-BE49-F238E27FC236}">
                <a16:creationId xmlns:a16="http://schemas.microsoft.com/office/drawing/2014/main" id="{7A2A508D-560A-ED29-107B-F2C96FBEA534}"/>
              </a:ext>
            </a:extLst>
          </p:cNvPr>
          <p:cNvSpPr/>
          <p:nvPr/>
        </p:nvSpPr>
        <p:spPr>
          <a:xfrm rot="3460689">
            <a:off x="10570045" y="2861174"/>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2993" y="100164"/>
                  <a:pt x="231477" y="120328"/>
                  <a:pt x="319819" y="119063"/>
                </a:cubicBezTo>
                <a:cubicBezTo>
                  <a:pt x="408161" y="117798"/>
                  <a:pt x="514451" y="145421"/>
                  <a:pt x="615037" y="119063"/>
                </a:cubicBezTo>
                <a:cubicBezTo>
                  <a:pt x="603653" y="69185"/>
                  <a:pt x="629122" y="54104"/>
                  <a:pt x="615037" y="0"/>
                </a:cubicBezTo>
                <a:cubicBezTo>
                  <a:pt x="732881" y="93131"/>
                  <a:pt x="771484" y="211204"/>
                  <a:pt x="853162" y="238125"/>
                </a:cubicBezTo>
                <a:cubicBezTo>
                  <a:pt x="810006" y="309747"/>
                  <a:pt x="686181" y="383512"/>
                  <a:pt x="615037" y="476250"/>
                </a:cubicBezTo>
                <a:cubicBezTo>
                  <a:pt x="609538" y="442789"/>
                  <a:pt x="621142" y="386943"/>
                  <a:pt x="615037" y="357188"/>
                </a:cubicBezTo>
                <a:cubicBezTo>
                  <a:pt x="539354" y="372786"/>
                  <a:pt x="455616" y="321532"/>
                  <a:pt x="301368" y="357188"/>
                </a:cubicBezTo>
                <a:cubicBezTo>
                  <a:pt x="147120" y="392844"/>
                  <a:pt x="105379" y="349607"/>
                  <a:pt x="0" y="357188"/>
                </a:cubicBezTo>
                <a:cubicBezTo>
                  <a:pt x="-11473" y="287436"/>
                  <a:pt x="24454" y="233990"/>
                  <a:pt x="0" y="119063"/>
                </a:cubicBezTo>
                <a:close/>
              </a:path>
              <a:path w="853162" h="476250" stroke="0" extrusionOk="0">
                <a:moveTo>
                  <a:pt x="0" y="119063"/>
                </a:moveTo>
                <a:cubicBezTo>
                  <a:pt x="96314" y="115544"/>
                  <a:pt x="167256" y="139602"/>
                  <a:pt x="313669" y="119063"/>
                </a:cubicBezTo>
                <a:cubicBezTo>
                  <a:pt x="460082" y="98524"/>
                  <a:pt x="483176" y="136942"/>
                  <a:pt x="615037" y="119063"/>
                </a:cubicBezTo>
                <a:cubicBezTo>
                  <a:pt x="606725" y="89638"/>
                  <a:pt x="617238" y="48016"/>
                  <a:pt x="615037" y="0"/>
                </a:cubicBezTo>
                <a:cubicBezTo>
                  <a:pt x="686257" y="32174"/>
                  <a:pt x="733000" y="132558"/>
                  <a:pt x="853162" y="238125"/>
                </a:cubicBezTo>
                <a:cubicBezTo>
                  <a:pt x="806996" y="295033"/>
                  <a:pt x="675032" y="363127"/>
                  <a:pt x="615037" y="476250"/>
                </a:cubicBezTo>
                <a:cubicBezTo>
                  <a:pt x="614510" y="446221"/>
                  <a:pt x="623108" y="384509"/>
                  <a:pt x="615037" y="357188"/>
                </a:cubicBezTo>
                <a:cubicBezTo>
                  <a:pt x="522272" y="362863"/>
                  <a:pt x="460330" y="334542"/>
                  <a:pt x="325970" y="357188"/>
                </a:cubicBezTo>
                <a:cubicBezTo>
                  <a:pt x="191610" y="379834"/>
                  <a:pt x="145428" y="329064"/>
                  <a:pt x="0" y="357188"/>
                </a:cubicBezTo>
                <a:cubicBezTo>
                  <a:pt x="-23029" y="242610"/>
                  <a:pt x="14071" y="23407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9646815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 name="Arrow: Right 8">
            <a:extLst>
              <a:ext uri="{FF2B5EF4-FFF2-40B4-BE49-F238E27FC236}">
                <a16:creationId xmlns:a16="http://schemas.microsoft.com/office/drawing/2014/main" id="{949F4E87-9275-A438-9CFF-F9510EABEECE}"/>
              </a:ext>
            </a:extLst>
          </p:cNvPr>
          <p:cNvSpPr/>
          <p:nvPr/>
        </p:nvSpPr>
        <p:spPr>
          <a:xfrm rot="3460689">
            <a:off x="7894959" y="2959565"/>
            <a:ext cx="718980" cy="210154"/>
          </a:xfrm>
          <a:custGeom>
            <a:avLst/>
            <a:gdLst>
              <a:gd name="connsiteX0" fmla="*/ 0 w 718980"/>
              <a:gd name="connsiteY0" fmla="*/ 52539 h 210154"/>
              <a:gd name="connsiteX1" fmla="*/ 319230 w 718980"/>
              <a:gd name="connsiteY1" fmla="*/ 52539 h 210154"/>
              <a:gd name="connsiteX2" fmla="*/ 613903 w 718980"/>
              <a:gd name="connsiteY2" fmla="*/ 52539 h 210154"/>
              <a:gd name="connsiteX3" fmla="*/ 613903 w 718980"/>
              <a:gd name="connsiteY3" fmla="*/ 0 h 210154"/>
              <a:gd name="connsiteX4" fmla="*/ 718980 w 718980"/>
              <a:gd name="connsiteY4" fmla="*/ 105077 h 210154"/>
              <a:gd name="connsiteX5" fmla="*/ 613903 w 718980"/>
              <a:gd name="connsiteY5" fmla="*/ 210154 h 210154"/>
              <a:gd name="connsiteX6" fmla="*/ 613903 w 718980"/>
              <a:gd name="connsiteY6" fmla="*/ 157616 h 210154"/>
              <a:gd name="connsiteX7" fmla="*/ 306952 w 718980"/>
              <a:gd name="connsiteY7" fmla="*/ 157616 h 210154"/>
              <a:gd name="connsiteX8" fmla="*/ 0 w 718980"/>
              <a:gd name="connsiteY8" fmla="*/ 157616 h 210154"/>
              <a:gd name="connsiteX9" fmla="*/ 0 w 718980"/>
              <a:gd name="connsiteY9" fmla="*/ 52539 h 21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210154" fill="none" extrusionOk="0">
                <a:moveTo>
                  <a:pt x="0" y="52539"/>
                </a:moveTo>
                <a:cubicBezTo>
                  <a:pt x="128550" y="22277"/>
                  <a:pt x="195853" y="83647"/>
                  <a:pt x="319230" y="52539"/>
                </a:cubicBezTo>
                <a:cubicBezTo>
                  <a:pt x="442607" y="21431"/>
                  <a:pt x="479552" y="63411"/>
                  <a:pt x="613903" y="52539"/>
                </a:cubicBezTo>
                <a:cubicBezTo>
                  <a:pt x="609654" y="26535"/>
                  <a:pt x="617879" y="11892"/>
                  <a:pt x="613903" y="0"/>
                </a:cubicBezTo>
                <a:cubicBezTo>
                  <a:pt x="652607" y="31661"/>
                  <a:pt x="663453" y="67674"/>
                  <a:pt x="718980" y="105077"/>
                </a:cubicBezTo>
                <a:cubicBezTo>
                  <a:pt x="678644" y="149565"/>
                  <a:pt x="632699" y="186515"/>
                  <a:pt x="613903" y="210154"/>
                </a:cubicBezTo>
                <a:cubicBezTo>
                  <a:pt x="610067" y="190396"/>
                  <a:pt x="619796" y="174466"/>
                  <a:pt x="613903" y="157616"/>
                </a:cubicBezTo>
                <a:cubicBezTo>
                  <a:pt x="522270" y="180903"/>
                  <a:pt x="405748" y="155565"/>
                  <a:pt x="306952" y="157616"/>
                </a:cubicBezTo>
                <a:cubicBezTo>
                  <a:pt x="208156" y="159667"/>
                  <a:pt x="118974" y="153984"/>
                  <a:pt x="0" y="157616"/>
                </a:cubicBezTo>
                <a:cubicBezTo>
                  <a:pt x="-11245" y="112319"/>
                  <a:pt x="9881" y="89358"/>
                  <a:pt x="0" y="52539"/>
                </a:cubicBezTo>
                <a:close/>
              </a:path>
              <a:path w="718980" h="210154" stroke="0" extrusionOk="0">
                <a:moveTo>
                  <a:pt x="0" y="52539"/>
                </a:moveTo>
                <a:cubicBezTo>
                  <a:pt x="115691" y="49992"/>
                  <a:pt x="249082" y="74371"/>
                  <a:pt x="319230" y="52539"/>
                </a:cubicBezTo>
                <a:cubicBezTo>
                  <a:pt x="389378" y="30707"/>
                  <a:pt x="518899" y="61032"/>
                  <a:pt x="613903" y="52539"/>
                </a:cubicBezTo>
                <a:cubicBezTo>
                  <a:pt x="608832" y="31908"/>
                  <a:pt x="615301" y="23519"/>
                  <a:pt x="613903" y="0"/>
                </a:cubicBezTo>
                <a:cubicBezTo>
                  <a:pt x="641131" y="17983"/>
                  <a:pt x="674293" y="60767"/>
                  <a:pt x="718980" y="105077"/>
                </a:cubicBezTo>
                <a:cubicBezTo>
                  <a:pt x="692800" y="150840"/>
                  <a:pt x="648861" y="159321"/>
                  <a:pt x="613903" y="210154"/>
                </a:cubicBezTo>
                <a:cubicBezTo>
                  <a:pt x="612143" y="184726"/>
                  <a:pt x="617836" y="169948"/>
                  <a:pt x="613903" y="157616"/>
                </a:cubicBezTo>
                <a:cubicBezTo>
                  <a:pt x="531652" y="171450"/>
                  <a:pt x="410930" y="122820"/>
                  <a:pt x="319230" y="157616"/>
                </a:cubicBezTo>
                <a:cubicBezTo>
                  <a:pt x="227530" y="192412"/>
                  <a:pt x="156487" y="145813"/>
                  <a:pt x="0" y="157616"/>
                </a:cubicBezTo>
                <a:cubicBezTo>
                  <a:pt x="-5787" y="121967"/>
                  <a:pt x="8931" y="104643"/>
                  <a:pt x="0" y="52539"/>
                </a:cubicBezTo>
                <a:close/>
              </a:path>
            </a:pathLst>
          </a:custGeom>
          <a:solidFill>
            <a:schemeClr val="tx1">
              <a:lumMod val="75000"/>
              <a:lumOff val="25000"/>
            </a:schemeClr>
          </a:solidFill>
          <a:ln w="19050">
            <a:solidFill>
              <a:schemeClr val="tx1">
                <a:lumMod val="75000"/>
                <a:lumOff val="25000"/>
              </a:schemeClr>
            </a:solidFill>
            <a:prstDash val="solid"/>
            <a:extLst>
              <a:ext uri="{C807C97D-BFC1-408E-A445-0C87EB9F89A2}">
                <ask:lineSketchStyleProps xmlns:ask="http://schemas.microsoft.com/office/drawing/2018/sketchyshapes" sd="146513842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2116688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05DD8E-184C-D41C-B6E4-63AFC9ADA70A}"/>
              </a:ext>
            </a:extLst>
          </p:cNvPr>
          <p:cNvSpPr txBox="1"/>
          <p:nvPr/>
        </p:nvSpPr>
        <p:spPr>
          <a:xfrm>
            <a:off x="3657600" y="238991"/>
            <a:ext cx="4499264" cy="461665"/>
          </a:xfrm>
          <a:prstGeom prst="rect">
            <a:avLst/>
          </a:prstGeom>
          <a:noFill/>
        </p:spPr>
        <p:txBody>
          <a:bodyPr wrap="square" rtlCol="0">
            <a:spAutoFit/>
          </a:bodyPr>
          <a:lstStyle/>
          <a:p>
            <a:pPr algn="ctr"/>
            <a:r>
              <a:rPr lang="en-US" sz="2400" b="1" dirty="0"/>
              <a:t>Asymmetrical modality switching</a:t>
            </a:r>
            <a:endParaRPr lang="el-GR" sz="2400" b="1" dirty="0"/>
          </a:p>
        </p:txBody>
      </p:sp>
      <p:sp>
        <p:nvSpPr>
          <p:cNvPr id="3" name="TextBox 2">
            <a:extLst>
              <a:ext uri="{FF2B5EF4-FFF2-40B4-BE49-F238E27FC236}">
                <a16:creationId xmlns:a16="http://schemas.microsoft.com/office/drawing/2014/main" id="{4781B449-C183-2EDA-4350-56FB4C4B6A9D}"/>
              </a:ext>
            </a:extLst>
          </p:cNvPr>
          <p:cNvSpPr txBox="1"/>
          <p:nvPr/>
        </p:nvSpPr>
        <p:spPr>
          <a:xfrm>
            <a:off x="3775681" y="1351946"/>
            <a:ext cx="1572550" cy="923330"/>
          </a:xfrm>
          <a:prstGeom prst="rect">
            <a:avLst/>
          </a:prstGeom>
          <a:noFill/>
          <a:ln w="9525">
            <a:solidFill>
              <a:srgbClr val="280205"/>
            </a:solidFill>
          </a:ln>
        </p:spPr>
        <p:txBody>
          <a:bodyPr wrap="square" rtlCol="0">
            <a:spAutoFit/>
          </a:bodyPr>
          <a:lstStyle/>
          <a:p>
            <a:pPr algn="ctr"/>
            <a:r>
              <a:rPr lang="en-US" dirty="0"/>
              <a:t>Type</a:t>
            </a:r>
            <a:r>
              <a:rPr lang="en-US" sz="1200" dirty="0"/>
              <a:t>1</a:t>
            </a:r>
            <a:r>
              <a:rPr lang="en-US" dirty="0"/>
              <a:t> – Type</a:t>
            </a:r>
            <a:r>
              <a:rPr lang="en-US" sz="1200" dirty="0"/>
              <a:t>2</a:t>
            </a:r>
          </a:p>
          <a:p>
            <a:pPr algn="ctr"/>
            <a:endParaRPr lang="en-US" dirty="0"/>
          </a:p>
          <a:p>
            <a:pPr algn="ctr"/>
            <a:r>
              <a:rPr lang="en-US" dirty="0"/>
              <a:t>Speak – Type </a:t>
            </a:r>
          </a:p>
        </p:txBody>
      </p:sp>
      <p:sp>
        <p:nvSpPr>
          <p:cNvPr id="4" name="TextBox 3">
            <a:extLst>
              <a:ext uri="{FF2B5EF4-FFF2-40B4-BE49-F238E27FC236}">
                <a16:creationId xmlns:a16="http://schemas.microsoft.com/office/drawing/2014/main" id="{34C7706E-62DA-D018-AB31-D82C898DA758}"/>
              </a:ext>
            </a:extLst>
          </p:cNvPr>
          <p:cNvSpPr txBox="1"/>
          <p:nvPr/>
        </p:nvSpPr>
        <p:spPr>
          <a:xfrm>
            <a:off x="6373865" y="1363445"/>
            <a:ext cx="1665611" cy="923330"/>
          </a:xfrm>
          <a:prstGeom prst="rect">
            <a:avLst/>
          </a:prstGeom>
          <a:noFill/>
          <a:ln w="9525">
            <a:solidFill>
              <a:srgbClr val="280205"/>
            </a:solidFill>
          </a:ln>
        </p:spPr>
        <p:txBody>
          <a:bodyPr wrap="square" rtlCol="0">
            <a:spAutoFit/>
          </a:bodyPr>
          <a:lstStyle/>
          <a:p>
            <a:pPr algn="ctr"/>
            <a:r>
              <a:rPr lang="en-US" dirty="0"/>
              <a:t>Speak</a:t>
            </a:r>
            <a:r>
              <a:rPr lang="en-US" sz="1200" dirty="0"/>
              <a:t>1</a:t>
            </a:r>
            <a:r>
              <a:rPr lang="en-US" dirty="0"/>
              <a:t> – Speak</a:t>
            </a:r>
            <a:r>
              <a:rPr lang="en-US" sz="1200" dirty="0"/>
              <a:t>2</a:t>
            </a:r>
            <a:r>
              <a:rPr lang="en-US" dirty="0"/>
              <a:t> </a:t>
            </a:r>
          </a:p>
          <a:p>
            <a:pPr algn="ctr"/>
            <a:endParaRPr lang="en-US" dirty="0"/>
          </a:p>
          <a:p>
            <a:pPr algn="ctr"/>
            <a:r>
              <a:rPr lang="en-US" dirty="0"/>
              <a:t>Type – Speak </a:t>
            </a:r>
          </a:p>
        </p:txBody>
      </p:sp>
      <p:sp>
        <p:nvSpPr>
          <p:cNvPr id="5" name="Rectangle 4">
            <a:extLst>
              <a:ext uri="{FF2B5EF4-FFF2-40B4-BE49-F238E27FC236}">
                <a16:creationId xmlns:a16="http://schemas.microsoft.com/office/drawing/2014/main" id="{D14A4993-D6BA-960B-97FE-13A3CB3B0216}"/>
              </a:ext>
            </a:extLst>
          </p:cNvPr>
          <p:cNvSpPr/>
          <p:nvPr/>
        </p:nvSpPr>
        <p:spPr>
          <a:xfrm>
            <a:off x="4607101" y="1363445"/>
            <a:ext cx="664931" cy="923330"/>
          </a:xfrm>
          <a:custGeom>
            <a:avLst/>
            <a:gdLst>
              <a:gd name="connsiteX0" fmla="*/ 0 w 664931"/>
              <a:gd name="connsiteY0" fmla="*/ 0 h 923330"/>
              <a:gd name="connsiteX1" fmla="*/ 664931 w 664931"/>
              <a:gd name="connsiteY1" fmla="*/ 0 h 923330"/>
              <a:gd name="connsiteX2" fmla="*/ 664931 w 664931"/>
              <a:gd name="connsiteY2" fmla="*/ 923330 h 923330"/>
              <a:gd name="connsiteX3" fmla="*/ 0 w 664931"/>
              <a:gd name="connsiteY3" fmla="*/ 923330 h 923330"/>
              <a:gd name="connsiteX4" fmla="*/ 0 w 664931"/>
              <a:gd name="connsiteY4" fmla="*/ 0 h 923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931" h="923330" extrusionOk="0">
                <a:moveTo>
                  <a:pt x="0" y="0"/>
                </a:moveTo>
                <a:cubicBezTo>
                  <a:pt x="113396" y="53609"/>
                  <a:pt x="458065" y="23597"/>
                  <a:pt x="664931" y="0"/>
                </a:cubicBezTo>
                <a:cubicBezTo>
                  <a:pt x="682076" y="273334"/>
                  <a:pt x="615668" y="828479"/>
                  <a:pt x="664931" y="923330"/>
                </a:cubicBezTo>
                <a:cubicBezTo>
                  <a:pt x="423345" y="869860"/>
                  <a:pt x="93540" y="874684"/>
                  <a:pt x="0" y="923330"/>
                </a:cubicBezTo>
                <a:cubicBezTo>
                  <a:pt x="19253" y="688811"/>
                  <a:pt x="47853" y="179981"/>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 name="Rectangle 5">
            <a:extLst>
              <a:ext uri="{FF2B5EF4-FFF2-40B4-BE49-F238E27FC236}">
                <a16:creationId xmlns:a16="http://schemas.microsoft.com/office/drawing/2014/main" id="{BF422468-706B-4D6D-6352-38549509325C}"/>
              </a:ext>
            </a:extLst>
          </p:cNvPr>
          <p:cNvSpPr/>
          <p:nvPr/>
        </p:nvSpPr>
        <p:spPr>
          <a:xfrm>
            <a:off x="7211291" y="1326448"/>
            <a:ext cx="778374" cy="923330"/>
          </a:xfrm>
          <a:custGeom>
            <a:avLst/>
            <a:gdLst>
              <a:gd name="connsiteX0" fmla="*/ 0 w 778374"/>
              <a:gd name="connsiteY0" fmla="*/ 0 h 923330"/>
              <a:gd name="connsiteX1" fmla="*/ 778374 w 778374"/>
              <a:gd name="connsiteY1" fmla="*/ 0 h 923330"/>
              <a:gd name="connsiteX2" fmla="*/ 778374 w 778374"/>
              <a:gd name="connsiteY2" fmla="*/ 923330 h 923330"/>
              <a:gd name="connsiteX3" fmla="*/ 0 w 778374"/>
              <a:gd name="connsiteY3" fmla="*/ 923330 h 923330"/>
              <a:gd name="connsiteX4" fmla="*/ 0 w 778374"/>
              <a:gd name="connsiteY4" fmla="*/ 0 h 923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374" h="923330" extrusionOk="0">
                <a:moveTo>
                  <a:pt x="0" y="0"/>
                </a:moveTo>
                <a:cubicBezTo>
                  <a:pt x="149468" y="67769"/>
                  <a:pt x="562938" y="-3455"/>
                  <a:pt x="778374" y="0"/>
                </a:cubicBezTo>
                <a:cubicBezTo>
                  <a:pt x="795519" y="273334"/>
                  <a:pt x="729111" y="828479"/>
                  <a:pt x="778374" y="923330"/>
                </a:cubicBezTo>
                <a:cubicBezTo>
                  <a:pt x="561603" y="989303"/>
                  <a:pt x="321193" y="976957"/>
                  <a:pt x="0" y="923330"/>
                </a:cubicBezTo>
                <a:cubicBezTo>
                  <a:pt x="19253" y="688811"/>
                  <a:pt x="47853" y="179981"/>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cxnSp>
        <p:nvCxnSpPr>
          <p:cNvPr id="8" name="Straight Connector 7">
            <a:extLst>
              <a:ext uri="{FF2B5EF4-FFF2-40B4-BE49-F238E27FC236}">
                <a16:creationId xmlns:a16="http://schemas.microsoft.com/office/drawing/2014/main" id="{7DDC8E59-1F38-1509-3143-B2D16B3D8064}"/>
              </a:ext>
            </a:extLst>
          </p:cNvPr>
          <p:cNvCxnSpPr>
            <a:cxnSpLocks/>
            <a:stCxn id="5" idx="2"/>
          </p:cNvCxnSpPr>
          <p:nvPr/>
        </p:nvCxnSpPr>
        <p:spPr>
          <a:xfrm>
            <a:off x="4939567" y="2286775"/>
            <a:ext cx="1378106" cy="1349710"/>
          </a:xfrm>
          <a:prstGeom prst="line">
            <a:avLst/>
          </a:prstGeom>
          <a:ln w="19050">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10" name="Straight Connector 9">
            <a:extLst>
              <a:ext uri="{FF2B5EF4-FFF2-40B4-BE49-F238E27FC236}">
                <a16:creationId xmlns:a16="http://schemas.microsoft.com/office/drawing/2014/main" id="{ADEE0E60-7E37-105A-8F16-65F0FAD7CD4D}"/>
              </a:ext>
            </a:extLst>
          </p:cNvPr>
          <p:cNvCxnSpPr>
            <a:cxnSpLocks/>
            <a:stCxn id="6" idx="2"/>
          </p:cNvCxnSpPr>
          <p:nvPr/>
        </p:nvCxnSpPr>
        <p:spPr>
          <a:xfrm flipH="1">
            <a:off x="6311986" y="2249778"/>
            <a:ext cx="1288492" cy="1375541"/>
          </a:xfrm>
          <a:prstGeom prst="line">
            <a:avLst/>
          </a:prstGeom>
          <a:ln w="19050">
            <a:solidFill>
              <a:srgbClr val="C0000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8ADA6005-7245-80E7-54FA-93F3B6EF330E}"/>
              </a:ext>
            </a:extLst>
          </p:cNvPr>
          <p:cNvSpPr txBox="1"/>
          <p:nvPr/>
        </p:nvSpPr>
        <p:spPr>
          <a:xfrm>
            <a:off x="4724489" y="3835897"/>
            <a:ext cx="3432375" cy="369332"/>
          </a:xfrm>
          <a:prstGeom prst="rect">
            <a:avLst/>
          </a:prstGeom>
          <a:noFill/>
        </p:spPr>
        <p:txBody>
          <a:bodyPr wrap="square" rtlCol="0">
            <a:spAutoFit/>
          </a:bodyPr>
          <a:lstStyle/>
          <a:p>
            <a:pPr algn="ctr"/>
            <a:r>
              <a:rPr lang="en-US" b="1" dirty="0"/>
              <a:t>(Type</a:t>
            </a:r>
            <a:r>
              <a:rPr lang="en-US" sz="1200" b="1" dirty="0"/>
              <a:t>2</a:t>
            </a:r>
            <a:r>
              <a:rPr lang="en-US" b="1" dirty="0"/>
              <a:t> – Type)  &gt;  (Speak</a:t>
            </a:r>
            <a:r>
              <a:rPr lang="en-US" sz="1200" b="1" dirty="0"/>
              <a:t>2</a:t>
            </a:r>
            <a:r>
              <a:rPr lang="en-US" b="1" dirty="0"/>
              <a:t> – Speak)</a:t>
            </a:r>
            <a:endParaRPr lang="el-GR" b="1" dirty="0"/>
          </a:p>
        </p:txBody>
      </p:sp>
    </p:spTree>
    <p:extLst>
      <p:ext uri="{BB962C8B-B14F-4D97-AF65-F5344CB8AC3E}">
        <p14:creationId xmlns:p14="http://schemas.microsoft.com/office/powerpoint/2010/main" val="2940643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7209" y="2231711"/>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9118" y="2260420"/>
            <a:ext cx="856982" cy="843131"/>
          </a:xfrm>
          <a:prstGeom prst="rect">
            <a:avLst/>
          </a:prstGeom>
        </p:spPr>
      </p:pic>
      <p:sp>
        <p:nvSpPr>
          <p:cNvPr id="14" name="Arrow: Right 13">
            <a:extLst>
              <a:ext uri="{FF2B5EF4-FFF2-40B4-BE49-F238E27FC236}">
                <a16:creationId xmlns:a16="http://schemas.microsoft.com/office/drawing/2014/main" id="{30C3DA05-C931-2DD6-7D9A-CD7B781AF301}"/>
              </a:ext>
            </a:extLst>
          </p:cNvPr>
          <p:cNvSpPr/>
          <p:nvPr/>
        </p:nvSpPr>
        <p:spPr>
          <a:xfrm rot="3460689">
            <a:off x="4861262" y="3344315"/>
            <a:ext cx="853162" cy="476250"/>
          </a:xfrm>
          <a:custGeom>
            <a:avLst/>
            <a:gdLst>
              <a:gd name="connsiteX0" fmla="*/ 0 w 853162"/>
              <a:gd name="connsiteY0" fmla="*/ 119063 h 476250"/>
              <a:gd name="connsiteX1" fmla="*/ 30136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136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14437" y="94758"/>
                  <a:pt x="187509" y="146040"/>
                  <a:pt x="301368" y="119063"/>
                </a:cubicBezTo>
                <a:cubicBezTo>
                  <a:pt x="415227" y="92086"/>
                  <a:pt x="550781" y="127550"/>
                  <a:pt x="615037" y="119063"/>
                </a:cubicBezTo>
                <a:cubicBezTo>
                  <a:pt x="610848" y="60665"/>
                  <a:pt x="622468" y="25368"/>
                  <a:pt x="615037" y="0"/>
                </a:cubicBezTo>
                <a:cubicBezTo>
                  <a:pt x="720109" y="60412"/>
                  <a:pt x="779386" y="167491"/>
                  <a:pt x="853162" y="238125"/>
                </a:cubicBezTo>
                <a:cubicBezTo>
                  <a:pt x="820057" y="316441"/>
                  <a:pt x="660902" y="394296"/>
                  <a:pt x="615037" y="476250"/>
                </a:cubicBezTo>
                <a:cubicBezTo>
                  <a:pt x="612671" y="426987"/>
                  <a:pt x="615054" y="392527"/>
                  <a:pt x="615037" y="357188"/>
                </a:cubicBezTo>
                <a:cubicBezTo>
                  <a:pt x="480478" y="364843"/>
                  <a:pt x="398313" y="332862"/>
                  <a:pt x="301368" y="357188"/>
                </a:cubicBezTo>
                <a:cubicBezTo>
                  <a:pt x="204423" y="381514"/>
                  <a:pt x="118941" y="322268"/>
                  <a:pt x="0" y="357188"/>
                </a:cubicBezTo>
                <a:cubicBezTo>
                  <a:pt x="-25539" y="306474"/>
                  <a:pt x="4781" y="208924"/>
                  <a:pt x="0" y="119063"/>
                </a:cubicBezTo>
                <a:close/>
              </a:path>
              <a:path w="853162" h="476250" stroke="0" extrusionOk="0">
                <a:moveTo>
                  <a:pt x="0" y="119063"/>
                </a:moveTo>
                <a:cubicBezTo>
                  <a:pt x="81330" y="88622"/>
                  <a:pt x="157298" y="149862"/>
                  <a:pt x="301368" y="119063"/>
                </a:cubicBezTo>
                <a:cubicBezTo>
                  <a:pt x="445438" y="88264"/>
                  <a:pt x="488783" y="122495"/>
                  <a:pt x="615037" y="119063"/>
                </a:cubicBezTo>
                <a:cubicBezTo>
                  <a:pt x="607011" y="71768"/>
                  <a:pt x="622764" y="42130"/>
                  <a:pt x="615037" y="0"/>
                </a:cubicBezTo>
                <a:cubicBezTo>
                  <a:pt x="688852" y="37903"/>
                  <a:pt x="712867" y="153251"/>
                  <a:pt x="853162" y="238125"/>
                </a:cubicBezTo>
                <a:cubicBezTo>
                  <a:pt x="804279" y="335126"/>
                  <a:pt x="653370" y="382655"/>
                  <a:pt x="615037" y="476250"/>
                </a:cubicBezTo>
                <a:cubicBezTo>
                  <a:pt x="612174" y="449054"/>
                  <a:pt x="627140" y="395509"/>
                  <a:pt x="615037" y="357188"/>
                </a:cubicBezTo>
                <a:cubicBezTo>
                  <a:pt x="506891" y="377668"/>
                  <a:pt x="449743" y="347774"/>
                  <a:pt x="325970" y="357188"/>
                </a:cubicBezTo>
                <a:cubicBezTo>
                  <a:pt x="202197" y="366602"/>
                  <a:pt x="66917" y="345950"/>
                  <a:pt x="0" y="357188"/>
                </a:cubicBezTo>
                <a:cubicBezTo>
                  <a:pt x="-19440" y="273904"/>
                  <a:pt x="12699" y="171413"/>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227315337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Arrow: Right 14">
            <a:extLst>
              <a:ext uri="{FF2B5EF4-FFF2-40B4-BE49-F238E27FC236}">
                <a16:creationId xmlns:a16="http://schemas.microsoft.com/office/drawing/2014/main" id="{C6045A99-6E5D-82B7-9191-338A125E0DEA}"/>
              </a:ext>
            </a:extLst>
          </p:cNvPr>
          <p:cNvSpPr/>
          <p:nvPr/>
        </p:nvSpPr>
        <p:spPr>
          <a:xfrm rot="7548208">
            <a:off x="991952" y="3362063"/>
            <a:ext cx="853162" cy="476250"/>
          </a:xfrm>
          <a:custGeom>
            <a:avLst/>
            <a:gdLst>
              <a:gd name="connsiteX0" fmla="*/ 0 w 853162"/>
              <a:gd name="connsiteY0" fmla="*/ 119063 h 476250"/>
              <a:gd name="connsiteX1" fmla="*/ 31366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89085" y="92390"/>
                  <a:pt x="240467" y="148374"/>
                  <a:pt x="313669" y="119063"/>
                </a:cubicBezTo>
                <a:cubicBezTo>
                  <a:pt x="386871" y="89752"/>
                  <a:pt x="485398" y="151882"/>
                  <a:pt x="615037" y="119063"/>
                </a:cubicBezTo>
                <a:cubicBezTo>
                  <a:pt x="611272" y="76243"/>
                  <a:pt x="626590" y="43489"/>
                  <a:pt x="615037" y="0"/>
                </a:cubicBezTo>
                <a:cubicBezTo>
                  <a:pt x="732805" y="102821"/>
                  <a:pt x="733050" y="156629"/>
                  <a:pt x="853162" y="238125"/>
                </a:cubicBezTo>
                <a:cubicBezTo>
                  <a:pt x="800667" y="340599"/>
                  <a:pt x="644481" y="399075"/>
                  <a:pt x="615037" y="476250"/>
                </a:cubicBezTo>
                <a:cubicBezTo>
                  <a:pt x="614294" y="442785"/>
                  <a:pt x="621479" y="394383"/>
                  <a:pt x="615037" y="357188"/>
                </a:cubicBezTo>
                <a:cubicBezTo>
                  <a:pt x="484079" y="380346"/>
                  <a:pt x="427764" y="338374"/>
                  <a:pt x="325970" y="357188"/>
                </a:cubicBezTo>
                <a:cubicBezTo>
                  <a:pt x="224176" y="376002"/>
                  <a:pt x="155023" y="319738"/>
                  <a:pt x="0" y="357188"/>
                </a:cubicBezTo>
                <a:cubicBezTo>
                  <a:pt x="-1710" y="271482"/>
                  <a:pt x="3247" y="186544"/>
                  <a:pt x="0" y="119063"/>
                </a:cubicBezTo>
                <a:close/>
              </a:path>
              <a:path w="853162" h="476250" stroke="0" extrusionOk="0">
                <a:moveTo>
                  <a:pt x="0" y="119063"/>
                </a:moveTo>
                <a:cubicBezTo>
                  <a:pt x="84647" y="90802"/>
                  <a:pt x="196368" y="143863"/>
                  <a:pt x="295218" y="119063"/>
                </a:cubicBezTo>
                <a:cubicBezTo>
                  <a:pt x="394068" y="94263"/>
                  <a:pt x="465094" y="127140"/>
                  <a:pt x="615037" y="119063"/>
                </a:cubicBezTo>
                <a:cubicBezTo>
                  <a:pt x="614258" y="70820"/>
                  <a:pt x="622370" y="48310"/>
                  <a:pt x="615037" y="0"/>
                </a:cubicBezTo>
                <a:cubicBezTo>
                  <a:pt x="708613" y="74975"/>
                  <a:pt x="773902" y="185601"/>
                  <a:pt x="853162" y="238125"/>
                </a:cubicBezTo>
                <a:cubicBezTo>
                  <a:pt x="744258" y="352184"/>
                  <a:pt x="673442" y="385281"/>
                  <a:pt x="615037" y="476250"/>
                </a:cubicBezTo>
                <a:cubicBezTo>
                  <a:pt x="613592" y="433631"/>
                  <a:pt x="620294" y="389868"/>
                  <a:pt x="615037" y="357188"/>
                </a:cubicBezTo>
                <a:cubicBezTo>
                  <a:pt x="527394" y="359357"/>
                  <a:pt x="448825" y="330693"/>
                  <a:pt x="307519" y="357188"/>
                </a:cubicBezTo>
                <a:cubicBezTo>
                  <a:pt x="166213" y="383683"/>
                  <a:pt x="86700" y="346461"/>
                  <a:pt x="0" y="357188"/>
                </a:cubicBezTo>
                <a:cubicBezTo>
                  <a:pt x="-24491" y="242185"/>
                  <a:pt x="8866" y="213573"/>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2569452898">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6" name="Arrow: Right 15">
            <a:extLst>
              <a:ext uri="{FF2B5EF4-FFF2-40B4-BE49-F238E27FC236}">
                <a16:creationId xmlns:a16="http://schemas.microsoft.com/office/drawing/2014/main" id="{1318FCF2-62DD-6942-7874-3FDF84FA5B9E}"/>
              </a:ext>
            </a:extLst>
          </p:cNvPr>
          <p:cNvSpPr/>
          <p:nvPr/>
        </p:nvSpPr>
        <p:spPr>
          <a:xfrm rot="7548208">
            <a:off x="3749205" y="3333359"/>
            <a:ext cx="853162" cy="476250"/>
          </a:xfrm>
          <a:custGeom>
            <a:avLst/>
            <a:gdLst>
              <a:gd name="connsiteX0" fmla="*/ 0 w 853162"/>
              <a:gd name="connsiteY0" fmla="*/ 119063 h 476250"/>
              <a:gd name="connsiteX1" fmla="*/ 3075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19819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52059" y="99900"/>
                  <a:pt x="163161" y="130028"/>
                  <a:pt x="307519" y="119063"/>
                </a:cubicBezTo>
                <a:cubicBezTo>
                  <a:pt x="451877" y="108098"/>
                  <a:pt x="503954" y="120552"/>
                  <a:pt x="615037" y="119063"/>
                </a:cubicBezTo>
                <a:cubicBezTo>
                  <a:pt x="613708" y="64572"/>
                  <a:pt x="626986" y="35932"/>
                  <a:pt x="615037" y="0"/>
                </a:cubicBezTo>
                <a:cubicBezTo>
                  <a:pt x="736146" y="88979"/>
                  <a:pt x="766216" y="153288"/>
                  <a:pt x="853162" y="238125"/>
                </a:cubicBezTo>
                <a:cubicBezTo>
                  <a:pt x="752581" y="354931"/>
                  <a:pt x="682251" y="364298"/>
                  <a:pt x="615037" y="476250"/>
                </a:cubicBezTo>
                <a:cubicBezTo>
                  <a:pt x="602499" y="417714"/>
                  <a:pt x="621360" y="385046"/>
                  <a:pt x="615037" y="357188"/>
                </a:cubicBezTo>
                <a:cubicBezTo>
                  <a:pt x="551826" y="383091"/>
                  <a:pt x="467414" y="337395"/>
                  <a:pt x="319819" y="357188"/>
                </a:cubicBezTo>
                <a:cubicBezTo>
                  <a:pt x="172224" y="376981"/>
                  <a:pt x="112395" y="334991"/>
                  <a:pt x="0" y="357188"/>
                </a:cubicBezTo>
                <a:cubicBezTo>
                  <a:pt x="-1837" y="273162"/>
                  <a:pt x="10283" y="190301"/>
                  <a:pt x="0" y="119063"/>
                </a:cubicBezTo>
                <a:close/>
              </a:path>
              <a:path w="853162" h="476250" stroke="0" extrusionOk="0">
                <a:moveTo>
                  <a:pt x="0" y="119063"/>
                </a:moveTo>
                <a:cubicBezTo>
                  <a:pt x="134259" y="98952"/>
                  <a:pt x="239836" y="133357"/>
                  <a:pt x="319819" y="119063"/>
                </a:cubicBezTo>
                <a:cubicBezTo>
                  <a:pt x="399802" y="104769"/>
                  <a:pt x="477148" y="154362"/>
                  <a:pt x="615037" y="119063"/>
                </a:cubicBezTo>
                <a:cubicBezTo>
                  <a:pt x="604454" y="60956"/>
                  <a:pt x="627337" y="34799"/>
                  <a:pt x="615037" y="0"/>
                </a:cubicBezTo>
                <a:cubicBezTo>
                  <a:pt x="717559" y="46804"/>
                  <a:pt x="756724" y="156424"/>
                  <a:pt x="853162" y="238125"/>
                </a:cubicBezTo>
                <a:cubicBezTo>
                  <a:pt x="814860" y="319310"/>
                  <a:pt x="670487" y="400180"/>
                  <a:pt x="615037" y="476250"/>
                </a:cubicBezTo>
                <a:cubicBezTo>
                  <a:pt x="604268" y="435477"/>
                  <a:pt x="625568" y="395813"/>
                  <a:pt x="615037" y="357188"/>
                </a:cubicBezTo>
                <a:cubicBezTo>
                  <a:pt x="506164" y="375028"/>
                  <a:pt x="390661" y="343713"/>
                  <a:pt x="319819" y="357188"/>
                </a:cubicBezTo>
                <a:cubicBezTo>
                  <a:pt x="248977" y="370663"/>
                  <a:pt x="97345" y="331774"/>
                  <a:pt x="0" y="357188"/>
                </a:cubicBezTo>
                <a:cubicBezTo>
                  <a:pt x="-23466" y="286549"/>
                  <a:pt x="13244" y="168257"/>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794943888">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1098767" y="1595228"/>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SPEAKING</a:t>
            </a:r>
          </a:p>
        </p:txBody>
      </p:sp>
      <p:sp>
        <p:nvSpPr>
          <p:cNvPr id="25" name="Rectangle 24">
            <a:extLst>
              <a:ext uri="{FF2B5EF4-FFF2-40B4-BE49-F238E27FC236}">
                <a16:creationId xmlns:a16="http://schemas.microsoft.com/office/drawing/2014/main" id="{24E7E408-B441-09B3-45C8-734F53C57BF7}"/>
              </a:ext>
            </a:extLst>
          </p:cNvPr>
          <p:cNvSpPr/>
          <p:nvPr/>
        </p:nvSpPr>
        <p:spPr>
          <a:xfrm>
            <a:off x="4087020" y="1601601"/>
            <a:ext cx="1161177" cy="461665"/>
          </a:xfrm>
          <a:prstGeom prst="rect">
            <a:avLst/>
          </a:prstGeom>
          <a:noFill/>
        </p:spPr>
        <p:txBody>
          <a:bodyPr wrap="square" lIns="91440" tIns="45720" rIns="91440" bIns="45720">
            <a:spAutoFit/>
          </a:bodyPr>
          <a:lstStyle/>
          <a:p>
            <a:pPr algn="ctr"/>
            <a:r>
              <a:rPr lang="en-US" sz="2400" b="1" dirty="0">
                <a:ln w="22225">
                  <a:solidFill>
                    <a:srgbClr val="002060"/>
                  </a:solidFill>
                  <a:prstDash val="solid"/>
                </a:ln>
                <a:solidFill>
                  <a:srgbClr val="002060"/>
                </a:solidFill>
              </a:rPr>
              <a:t>TYPING</a:t>
            </a:r>
          </a:p>
        </p:txBody>
      </p:sp>
      <p:sp>
        <p:nvSpPr>
          <p:cNvPr id="33" name="TextBox 32">
            <a:extLst>
              <a:ext uri="{FF2B5EF4-FFF2-40B4-BE49-F238E27FC236}">
                <a16:creationId xmlns:a16="http://schemas.microsoft.com/office/drawing/2014/main" id="{FBC62830-498F-C12D-14A9-03C9EA6AC5E2}"/>
              </a:ext>
            </a:extLst>
          </p:cNvPr>
          <p:cNvSpPr txBox="1"/>
          <p:nvPr/>
        </p:nvSpPr>
        <p:spPr>
          <a:xfrm>
            <a:off x="839913" y="4091004"/>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3559549" y="4056758"/>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2321485" y="4056758"/>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5225164" y="4070246"/>
            <a:ext cx="690228" cy="369332"/>
          </a:xfrm>
          <a:prstGeom prst="rect">
            <a:avLst/>
          </a:prstGeom>
          <a:noFill/>
        </p:spPr>
        <p:txBody>
          <a:bodyPr wrap="square" rtlCol="0">
            <a:spAutoFit/>
          </a:bodyPr>
          <a:lstStyle/>
          <a:p>
            <a:r>
              <a:rPr lang="en-US" dirty="0"/>
              <a:t>Orth</a:t>
            </a:r>
            <a:endParaRPr lang="el-GR" dirty="0"/>
          </a:p>
        </p:txBody>
      </p:sp>
      <p:sp>
        <p:nvSpPr>
          <p:cNvPr id="2" name="Rectangle: Rounded Corners 1">
            <a:extLst>
              <a:ext uri="{FF2B5EF4-FFF2-40B4-BE49-F238E27FC236}">
                <a16:creationId xmlns:a16="http://schemas.microsoft.com/office/drawing/2014/main" id="{E5DCEA41-0510-B15D-1B59-E7A28364AB81}"/>
              </a:ext>
            </a:extLst>
          </p:cNvPr>
          <p:cNvSpPr/>
          <p:nvPr/>
        </p:nvSpPr>
        <p:spPr>
          <a:xfrm>
            <a:off x="619125" y="1444336"/>
            <a:ext cx="5476875" cy="3373580"/>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2" name="TextBox 11">
            <a:extLst>
              <a:ext uri="{FF2B5EF4-FFF2-40B4-BE49-F238E27FC236}">
                <a16:creationId xmlns:a16="http://schemas.microsoft.com/office/drawing/2014/main" id="{5F2C3E55-561D-2663-BDD6-D5ADECCA4C0C}"/>
              </a:ext>
            </a:extLst>
          </p:cNvPr>
          <p:cNvSpPr txBox="1"/>
          <p:nvPr/>
        </p:nvSpPr>
        <p:spPr>
          <a:xfrm>
            <a:off x="8597062" y="1798755"/>
            <a:ext cx="1572550" cy="923330"/>
          </a:xfrm>
          <a:prstGeom prst="rect">
            <a:avLst/>
          </a:prstGeom>
          <a:noFill/>
          <a:ln w="9525">
            <a:solidFill>
              <a:srgbClr val="280205"/>
            </a:solidFill>
          </a:ln>
        </p:spPr>
        <p:txBody>
          <a:bodyPr wrap="square" rtlCol="0">
            <a:spAutoFit/>
          </a:bodyPr>
          <a:lstStyle/>
          <a:p>
            <a:pPr algn="ctr"/>
            <a:r>
              <a:rPr lang="en-US" dirty="0"/>
              <a:t>Type – Type</a:t>
            </a:r>
          </a:p>
          <a:p>
            <a:pPr algn="ctr"/>
            <a:endParaRPr lang="en-US" dirty="0"/>
          </a:p>
          <a:p>
            <a:pPr algn="ctr"/>
            <a:r>
              <a:rPr lang="en-US" dirty="0"/>
              <a:t>Speak – Type </a:t>
            </a:r>
          </a:p>
        </p:txBody>
      </p:sp>
      <p:sp>
        <p:nvSpPr>
          <p:cNvPr id="13" name="TextBox 12">
            <a:extLst>
              <a:ext uri="{FF2B5EF4-FFF2-40B4-BE49-F238E27FC236}">
                <a16:creationId xmlns:a16="http://schemas.microsoft.com/office/drawing/2014/main" id="{5571DB6C-D95B-54C0-43AE-892C2018D764}"/>
              </a:ext>
            </a:extLst>
          </p:cNvPr>
          <p:cNvSpPr txBox="1"/>
          <p:nvPr/>
        </p:nvSpPr>
        <p:spPr>
          <a:xfrm>
            <a:off x="8597061" y="3894586"/>
            <a:ext cx="1572551" cy="923330"/>
          </a:xfrm>
          <a:prstGeom prst="rect">
            <a:avLst/>
          </a:prstGeom>
          <a:noFill/>
          <a:ln w="9525">
            <a:solidFill>
              <a:srgbClr val="280205"/>
            </a:solidFill>
          </a:ln>
        </p:spPr>
        <p:txBody>
          <a:bodyPr wrap="square" rtlCol="0">
            <a:spAutoFit/>
          </a:bodyPr>
          <a:lstStyle/>
          <a:p>
            <a:pPr algn="ctr"/>
            <a:r>
              <a:rPr lang="en-US" dirty="0"/>
              <a:t>Speak – Speak </a:t>
            </a:r>
          </a:p>
          <a:p>
            <a:pPr algn="ctr"/>
            <a:endParaRPr lang="en-US" dirty="0"/>
          </a:p>
          <a:p>
            <a:pPr algn="ctr"/>
            <a:r>
              <a:rPr lang="en-US" dirty="0"/>
              <a:t>Type – Speak </a:t>
            </a:r>
          </a:p>
        </p:txBody>
      </p:sp>
      <p:sp>
        <p:nvSpPr>
          <p:cNvPr id="18" name="Rectangle 17">
            <a:extLst>
              <a:ext uri="{FF2B5EF4-FFF2-40B4-BE49-F238E27FC236}">
                <a16:creationId xmlns:a16="http://schemas.microsoft.com/office/drawing/2014/main" id="{0120A410-F4F9-1E99-B71C-01B14F5DC1CF}"/>
              </a:ext>
            </a:extLst>
          </p:cNvPr>
          <p:cNvSpPr/>
          <p:nvPr/>
        </p:nvSpPr>
        <p:spPr>
          <a:xfrm>
            <a:off x="9428482" y="1810254"/>
            <a:ext cx="664931" cy="923330"/>
          </a:xfrm>
          <a:custGeom>
            <a:avLst/>
            <a:gdLst>
              <a:gd name="connsiteX0" fmla="*/ 0 w 664931"/>
              <a:gd name="connsiteY0" fmla="*/ 0 h 923330"/>
              <a:gd name="connsiteX1" fmla="*/ 664931 w 664931"/>
              <a:gd name="connsiteY1" fmla="*/ 0 h 923330"/>
              <a:gd name="connsiteX2" fmla="*/ 664931 w 664931"/>
              <a:gd name="connsiteY2" fmla="*/ 923330 h 923330"/>
              <a:gd name="connsiteX3" fmla="*/ 0 w 664931"/>
              <a:gd name="connsiteY3" fmla="*/ 923330 h 923330"/>
              <a:gd name="connsiteX4" fmla="*/ 0 w 664931"/>
              <a:gd name="connsiteY4" fmla="*/ 0 h 923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931" h="923330" extrusionOk="0">
                <a:moveTo>
                  <a:pt x="0" y="0"/>
                </a:moveTo>
                <a:cubicBezTo>
                  <a:pt x="113396" y="53609"/>
                  <a:pt x="458065" y="23597"/>
                  <a:pt x="664931" y="0"/>
                </a:cubicBezTo>
                <a:cubicBezTo>
                  <a:pt x="682076" y="273334"/>
                  <a:pt x="615668" y="828479"/>
                  <a:pt x="664931" y="923330"/>
                </a:cubicBezTo>
                <a:cubicBezTo>
                  <a:pt x="423345" y="869860"/>
                  <a:pt x="93540" y="874684"/>
                  <a:pt x="0" y="923330"/>
                </a:cubicBezTo>
                <a:cubicBezTo>
                  <a:pt x="19253" y="688811"/>
                  <a:pt x="47853" y="179981"/>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Rectangle 18">
            <a:extLst>
              <a:ext uri="{FF2B5EF4-FFF2-40B4-BE49-F238E27FC236}">
                <a16:creationId xmlns:a16="http://schemas.microsoft.com/office/drawing/2014/main" id="{6619C35B-6E9F-861D-0979-B820FD692CBB}"/>
              </a:ext>
            </a:extLst>
          </p:cNvPr>
          <p:cNvSpPr/>
          <p:nvPr/>
        </p:nvSpPr>
        <p:spPr>
          <a:xfrm>
            <a:off x="9428483" y="3869088"/>
            <a:ext cx="676998" cy="948828"/>
          </a:xfrm>
          <a:custGeom>
            <a:avLst/>
            <a:gdLst>
              <a:gd name="connsiteX0" fmla="*/ 0 w 676998"/>
              <a:gd name="connsiteY0" fmla="*/ 0 h 948828"/>
              <a:gd name="connsiteX1" fmla="*/ 676998 w 676998"/>
              <a:gd name="connsiteY1" fmla="*/ 0 h 948828"/>
              <a:gd name="connsiteX2" fmla="*/ 676998 w 676998"/>
              <a:gd name="connsiteY2" fmla="*/ 948828 h 948828"/>
              <a:gd name="connsiteX3" fmla="*/ 0 w 676998"/>
              <a:gd name="connsiteY3" fmla="*/ 948828 h 948828"/>
              <a:gd name="connsiteX4" fmla="*/ 0 w 676998"/>
              <a:gd name="connsiteY4" fmla="*/ 0 h 948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998" h="948828" extrusionOk="0">
                <a:moveTo>
                  <a:pt x="0" y="0"/>
                </a:moveTo>
                <a:cubicBezTo>
                  <a:pt x="168032" y="-14601"/>
                  <a:pt x="421163" y="-55768"/>
                  <a:pt x="676998" y="0"/>
                </a:cubicBezTo>
                <a:cubicBezTo>
                  <a:pt x="708384" y="120791"/>
                  <a:pt x="734857" y="591739"/>
                  <a:pt x="676998" y="948828"/>
                </a:cubicBezTo>
                <a:cubicBezTo>
                  <a:pt x="434186" y="918676"/>
                  <a:pt x="170291" y="972356"/>
                  <a:pt x="0" y="948828"/>
                </a:cubicBezTo>
                <a:cubicBezTo>
                  <a:pt x="-52441" y="775781"/>
                  <a:pt x="6805" y="416613"/>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0" name="TextBox 19">
            <a:extLst>
              <a:ext uri="{FF2B5EF4-FFF2-40B4-BE49-F238E27FC236}">
                <a16:creationId xmlns:a16="http://schemas.microsoft.com/office/drawing/2014/main" id="{02048C81-7C18-A7A4-3654-FD54070CEE2E}"/>
              </a:ext>
            </a:extLst>
          </p:cNvPr>
          <p:cNvSpPr txBox="1"/>
          <p:nvPr/>
        </p:nvSpPr>
        <p:spPr>
          <a:xfrm>
            <a:off x="9112827" y="3103551"/>
            <a:ext cx="603166" cy="523220"/>
          </a:xfrm>
          <a:prstGeom prst="rect">
            <a:avLst/>
          </a:prstGeom>
          <a:noFill/>
        </p:spPr>
        <p:txBody>
          <a:bodyPr wrap="square" rtlCol="0">
            <a:spAutoFit/>
          </a:bodyPr>
          <a:lstStyle/>
          <a:p>
            <a:pPr algn="ctr"/>
            <a:r>
              <a:rPr lang="en-US" sz="2800" b="1"/>
              <a:t>&gt;</a:t>
            </a:r>
            <a:endParaRPr lang="el-GR" sz="2800" b="1" dirty="0"/>
          </a:p>
        </p:txBody>
      </p:sp>
      <p:sp>
        <p:nvSpPr>
          <p:cNvPr id="3" name="Arrow: Right 2">
            <a:extLst>
              <a:ext uri="{FF2B5EF4-FFF2-40B4-BE49-F238E27FC236}">
                <a16:creationId xmlns:a16="http://schemas.microsoft.com/office/drawing/2014/main" id="{A212C8E0-B46C-9C1E-6798-27A960652FA3}"/>
              </a:ext>
            </a:extLst>
          </p:cNvPr>
          <p:cNvSpPr/>
          <p:nvPr/>
        </p:nvSpPr>
        <p:spPr>
          <a:xfrm rot="3460689">
            <a:off x="2089095" y="3544428"/>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116578" y="16612"/>
                  <a:pt x="194355" y="74031"/>
                  <a:pt x="299220" y="41171"/>
                </a:cubicBezTo>
                <a:cubicBezTo>
                  <a:pt x="404085" y="8311"/>
                  <a:pt x="529765" y="75497"/>
                  <a:pt x="636638" y="41171"/>
                </a:cubicBezTo>
                <a:cubicBezTo>
                  <a:pt x="634909" y="23902"/>
                  <a:pt x="636735" y="17755"/>
                  <a:pt x="636638" y="0"/>
                </a:cubicBezTo>
                <a:cubicBezTo>
                  <a:pt x="660421" y="19672"/>
                  <a:pt x="689837" y="62068"/>
                  <a:pt x="718980" y="82343"/>
                </a:cubicBezTo>
                <a:cubicBezTo>
                  <a:pt x="694574" y="110407"/>
                  <a:pt x="667469" y="126399"/>
                  <a:pt x="636638" y="164685"/>
                </a:cubicBezTo>
                <a:cubicBezTo>
                  <a:pt x="633639" y="146402"/>
                  <a:pt x="641262" y="140057"/>
                  <a:pt x="636638" y="123514"/>
                </a:cubicBezTo>
                <a:cubicBezTo>
                  <a:pt x="530606" y="128623"/>
                  <a:pt x="476114" y="101534"/>
                  <a:pt x="324685" y="123514"/>
                </a:cubicBezTo>
                <a:cubicBezTo>
                  <a:pt x="173256" y="145494"/>
                  <a:pt x="87135" y="89668"/>
                  <a:pt x="0" y="123514"/>
                </a:cubicBezTo>
                <a:cubicBezTo>
                  <a:pt x="-2733" y="88621"/>
                  <a:pt x="8748" y="60489"/>
                  <a:pt x="0" y="41171"/>
                </a:cubicBezTo>
                <a:close/>
              </a:path>
              <a:path w="718980" h="164685" stroke="0" extrusionOk="0">
                <a:moveTo>
                  <a:pt x="0" y="41171"/>
                </a:moveTo>
                <a:cubicBezTo>
                  <a:pt x="98854" y="22720"/>
                  <a:pt x="201013" y="72676"/>
                  <a:pt x="305586" y="41171"/>
                </a:cubicBezTo>
                <a:cubicBezTo>
                  <a:pt x="410159" y="9666"/>
                  <a:pt x="521857" y="44234"/>
                  <a:pt x="636638" y="41171"/>
                </a:cubicBezTo>
                <a:cubicBezTo>
                  <a:pt x="634662" y="29231"/>
                  <a:pt x="639637" y="20436"/>
                  <a:pt x="636638" y="0"/>
                </a:cubicBezTo>
                <a:cubicBezTo>
                  <a:pt x="672302" y="26029"/>
                  <a:pt x="676050" y="58517"/>
                  <a:pt x="718980" y="82343"/>
                </a:cubicBezTo>
                <a:cubicBezTo>
                  <a:pt x="703247" y="108632"/>
                  <a:pt x="659683" y="125539"/>
                  <a:pt x="636638" y="164685"/>
                </a:cubicBezTo>
                <a:cubicBezTo>
                  <a:pt x="635448" y="148223"/>
                  <a:pt x="639155" y="135123"/>
                  <a:pt x="636638" y="123514"/>
                </a:cubicBezTo>
                <a:cubicBezTo>
                  <a:pt x="486613" y="129876"/>
                  <a:pt x="407414" y="85910"/>
                  <a:pt x="305586" y="123514"/>
                </a:cubicBezTo>
                <a:cubicBezTo>
                  <a:pt x="203758" y="161118"/>
                  <a:pt x="69979" y="95148"/>
                  <a:pt x="0" y="123514"/>
                </a:cubicBezTo>
                <a:cubicBezTo>
                  <a:pt x="-1194" y="103257"/>
                  <a:pt x="6783" y="62391"/>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4187261478">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826387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7209" y="2231711"/>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9118" y="2260420"/>
            <a:ext cx="856982" cy="843131"/>
          </a:xfrm>
          <a:prstGeom prst="rect">
            <a:avLst/>
          </a:prstGeom>
        </p:spPr>
      </p:pic>
      <p:sp>
        <p:nvSpPr>
          <p:cNvPr id="14" name="Arrow: Right 13">
            <a:extLst>
              <a:ext uri="{FF2B5EF4-FFF2-40B4-BE49-F238E27FC236}">
                <a16:creationId xmlns:a16="http://schemas.microsoft.com/office/drawing/2014/main" id="{30C3DA05-C931-2DD6-7D9A-CD7B781AF301}"/>
              </a:ext>
            </a:extLst>
          </p:cNvPr>
          <p:cNvSpPr/>
          <p:nvPr/>
        </p:nvSpPr>
        <p:spPr>
          <a:xfrm rot="3460689">
            <a:off x="4861262" y="3344315"/>
            <a:ext cx="853162" cy="476250"/>
          </a:xfrm>
          <a:custGeom>
            <a:avLst/>
            <a:gdLst>
              <a:gd name="connsiteX0" fmla="*/ 0 w 853162"/>
              <a:gd name="connsiteY0" fmla="*/ 119063 h 476250"/>
              <a:gd name="connsiteX1" fmla="*/ 289067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25970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12651" y="99636"/>
                  <a:pt x="212504" y="124199"/>
                  <a:pt x="289067" y="119063"/>
                </a:cubicBezTo>
                <a:cubicBezTo>
                  <a:pt x="365630" y="113927"/>
                  <a:pt x="494821" y="149231"/>
                  <a:pt x="615037" y="119063"/>
                </a:cubicBezTo>
                <a:cubicBezTo>
                  <a:pt x="603132" y="75541"/>
                  <a:pt x="619472" y="35230"/>
                  <a:pt x="615037" y="0"/>
                </a:cubicBezTo>
                <a:cubicBezTo>
                  <a:pt x="719740" y="51983"/>
                  <a:pt x="758549" y="186357"/>
                  <a:pt x="853162" y="238125"/>
                </a:cubicBezTo>
                <a:cubicBezTo>
                  <a:pt x="808225" y="335605"/>
                  <a:pt x="697929" y="379343"/>
                  <a:pt x="615037" y="476250"/>
                </a:cubicBezTo>
                <a:cubicBezTo>
                  <a:pt x="609439" y="438085"/>
                  <a:pt x="616735" y="412498"/>
                  <a:pt x="615037" y="357188"/>
                </a:cubicBezTo>
                <a:cubicBezTo>
                  <a:pt x="535335" y="383494"/>
                  <a:pt x="425061" y="331617"/>
                  <a:pt x="325970" y="357188"/>
                </a:cubicBezTo>
                <a:cubicBezTo>
                  <a:pt x="226879" y="382759"/>
                  <a:pt x="72307" y="337586"/>
                  <a:pt x="0" y="357188"/>
                </a:cubicBezTo>
                <a:cubicBezTo>
                  <a:pt x="-9719" y="274585"/>
                  <a:pt x="2389" y="204932"/>
                  <a:pt x="0" y="119063"/>
                </a:cubicBezTo>
                <a:close/>
              </a:path>
              <a:path w="853162" h="476250" stroke="0" extrusionOk="0">
                <a:moveTo>
                  <a:pt x="0" y="119063"/>
                </a:moveTo>
                <a:cubicBezTo>
                  <a:pt x="115534" y="86230"/>
                  <a:pt x="161323" y="121099"/>
                  <a:pt x="295218" y="119063"/>
                </a:cubicBezTo>
                <a:cubicBezTo>
                  <a:pt x="429113" y="117027"/>
                  <a:pt x="491040" y="136723"/>
                  <a:pt x="615037" y="119063"/>
                </a:cubicBezTo>
                <a:cubicBezTo>
                  <a:pt x="612441" y="75165"/>
                  <a:pt x="616582" y="34320"/>
                  <a:pt x="615037" y="0"/>
                </a:cubicBezTo>
                <a:cubicBezTo>
                  <a:pt x="729691" y="101220"/>
                  <a:pt x="721204" y="144597"/>
                  <a:pt x="853162" y="238125"/>
                </a:cubicBezTo>
                <a:cubicBezTo>
                  <a:pt x="802040" y="308866"/>
                  <a:pt x="665449" y="406397"/>
                  <a:pt x="615037" y="476250"/>
                </a:cubicBezTo>
                <a:cubicBezTo>
                  <a:pt x="604336" y="433541"/>
                  <a:pt x="616004" y="409051"/>
                  <a:pt x="615037" y="357188"/>
                </a:cubicBezTo>
                <a:cubicBezTo>
                  <a:pt x="528627" y="366423"/>
                  <a:pt x="402893" y="339043"/>
                  <a:pt x="325970" y="357188"/>
                </a:cubicBezTo>
                <a:cubicBezTo>
                  <a:pt x="249047" y="375333"/>
                  <a:pt x="103314" y="334520"/>
                  <a:pt x="0" y="357188"/>
                </a:cubicBezTo>
                <a:cubicBezTo>
                  <a:pt x="-26800" y="285593"/>
                  <a:pt x="25417" y="235843"/>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4048557970">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Arrow: Right 14">
            <a:extLst>
              <a:ext uri="{FF2B5EF4-FFF2-40B4-BE49-F238E27FC236}">
                <a16:creationId xmlns:a16="http://schemas.microsoft.com/office/drawing/2014/main" id="{C6045A99-6E5D-82B7-9191-338A125E0DEA}"/>
              </a:ext>
            </a:extLst>
          </p:cNvPr>
          <p:cNvSpPr/>
          <p:nvPr/>
        </p:nvSpPr>
        <p:spPr>
          <a:xfrm rot="7548208">
            <a:off x="991952" y="3362063"/>
            <a:ext cx="853162" cy="476250"/>
          </a:xfrm>
          <a:custGeom>
            <a:avLst/>
            <a:gdLst>
              <a:gd name="connsiteX0" fmla="*/ 0 w 853162"/>
              <a:gd name="connsiteY0" fmla="*/ 119063 h 476250"/>
              <a:gd name="connsiteX1" fmla="*/ 301368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295218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02870" y="94966"/>
                  <a:pt x="228976" y="121530"/>
                  <a:pt x="301368" y="119063"/>
                </a:cubicBezTo>
                <a:cubicBezTo>
                  <a:pt x="373760" y="116596"/>
                  <a:pt x="536533" y="122836"/>
                  <a:pt x="615037" y="119063"/>
                </a:cubicBezTo>
                <a:cubicBezTo>
                  <a:pt x="610166" y="72237"/>
                  <a:pt x="621115" y="54420"/>
                  <a:pt x="615037" y="0"/>
                </a:cubicBezTo>
                <a:cubicBezTo>
                  <a:pt x="715765" y="63203"/>
                  <a:pt x="737657" y="179164"/>
                  <a:pt x="853162" y="238125"/>
                </a:cubicBezTo>
                <a:cubicBezTo>
                  <a:pt x="760062" y="348244"/>
                  <a:pt x="662065" y="378269"/>
                  <a:pt x="615037" y="476250"/>
                </a:cubicBezTo>
                <a:cubicBezTo>
                  <a:pt x="601964" y="426362"/>
                  <a:pt x="621113" y="388749"/>
                  <a:pt x="615037" y="357188"/>
                </a:cubicBezTo>
                <a:cubicBezTo>
                  <a:pt x="468946" y="373556"/>
                  <a:pt x="441013" y="320928"/>
                  <a:pt x="295218" y="357188"/>
                </a:cubicBezTo>
                <a:cubicBezTo>
                  <a:pt x="149423" y="393448"/>
                  <a:pt x="135655" y="335412"/>
                  <a:pt x="0" y="357188"/>
                </a:cubicBezTo>
                <a:cubicBezTo>
                  <a:pt x="-7188" y="258796"/>
                  <a:pt x="784" y="215966"/>
                  <a:pt x="0" y="119063"/>
                </a:cubicBezTo>
                <a:close/>
              </a:path>
              <a:path w="853162" h="476250" stroke="0" extrusionOk="0">
                <a:moveTo>
                  <a:pt x="0" y="119063"/>
                </a:moveTo>
                <a:cubicBezTo>
                  <a:pt x="85910" y="105847"/>
                  <a:pt x="234842" y="153675"/>
                  <a:pt x="307519" y="119063"/>
                </a:cubicBezTo>
                <a:cubicBezTo>
                  <a:pt x="380196" y="84451"/>
                  <a:pt x="540325" y="148871"/>
                  <a:pt x="615037" y="119063"/>
                </a:cubicBezTo>
                <a:cubicBezTo>
                  <a:pt x="607417" y="80451"/>
                  <a:pt x="618080" y="24974"/>
                  <a:pt x="615037" y="0"/>
                </a:cubicBezTo>
                <a:cubicBezTo>
                  <a:pt x="737426" y="76900"/>
                  <a:pt x="718849" y="139287"/>
                  <a:pt x="853162" y="238125"/>
                </a:cubicBezTo>
                <a:cubicBezTo>
                  <a:pt x="774282" y="358447"/>
                  <a:pt x="689060" y="378699"/>
                  <a:pt x="615037" y="476250"/>
                </a:cubicBezTo>
                <a:cubicBezTo>
                  <a:pt x="603289" y="426667"/>
                  <a:pt x="627659" y="413173"/>
                  <a:pt x="615037" y="357188"/>
                </a:cubicBezTo>
                <a:cubicBezTo>
                  <a:pt x="539900" y="385674"/>
                  <a:pt x="465901" y="353716"/>
                  <a:pt x="319819" y="357188"/>
                </a:cubicBezTo>
                <a:cubicBezTo>
                  <a:pt x="173737" y="360660"/>
                  <a:pt x="118515" y="349042"/>
                  <a:pt x="0" y="357188"/>
                </a:cubicBezTo>
                <a:cubicBezTo>
                  <a:pt x="-24928" y="293341"/>
                  <a:pt x="27040" y="175609"/>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592045536">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6" name="Arrow: Right 15">
            <a:extLst>
              <a:ext uri="{FF2B5EF4-FFF2-40B4-BE49-F238E27FC236}">
                <a16:creationId xmlns:a16="http://schemas.microsoft.com/office/drawing/2014/main" id="{1318FCF2-62DD-6942-7874-3FDF84FA5B9E}"/>
              </a:ext>
            </a:extLst>
          </p:cNvPr>
          <p:cNvSpPr/>
          <p:nvPr/>
        </p:nvSpPr>
        <p:spPr>
          <a:xfrm rot="7548208">
            <a:off x="3749205" y="3333359"/>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13669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41978" y="96508"/>
                  <a:pt x="206694" y="145824"/>
                  <a:pt x="319819" y="119063"/>
                </a:cubicBezTo>
                <a:cubicBezTo>
                  <a:pt x="432944" y="92302"/>
                  <a:pt x="547595" y="134578"/>
                  <a:pt x="615037" y="119063"/>
                </a:cubicBezTo>
                <a:cubicBezTo>
                  <a:pt x="605714" y="81555"/>
                  <a:pt x="624532" y="56769"/>
                  <a:pt x="615037" y="0"/>
                </a:cubicBezTo>
                <a:cubicBezTo>
                  <a:pt x="718257" y="95003"/>
                  <a:pt x="734704" y="151168"/>
                  <a:pt x="853162" y="238125"/>
                </a:cubicBezTo>
                <a:cubicBezTo>
                  <a:pt x="737595" y="357639"/>
                  <a:pt x="675098" y="379494"/>
                  <a:pt x="615037" y="476250"/>
                </a:cubicBezTo>
                <a:cubicBezTo>
                  <a:pt x="611371" y="451332"/>
                  <a:pt x="619268" y="406575"/>
                  <a:pt x="615037" y="357188"/>
                </a:cubicBezTo>
                <a:cubicBezTo>
                  <a:pt x="465644" y="371193"/>
                  <a:pt x="457911" y="351831"/>
                  <a:pt x="313669" y="357188"/>
                </a:cubicBezTo>
                <a:cubicBezTo>
                  <a:pt x="169427" y="362545"/>
                  <a:pt x="93601" y="327816"/>
                  <a:pt x="0" y="357188"/>
                </a:cubicBezTo>
                <a:cubicBezTo>
                  <a:pt x="-25491" y="286295"/>
                  <a:pt x="25386" y="221616"/>
                  <a:pt x="0" y="119063"/>
                </a:cubicBezTo>
                <a:close/>
              </a:path>
              <a:path w="853162" h="476250" stroke="0" extrusionOk="0">
                <a:moveTo>
                  <a:pt x="0" y="119063"/>
                </a:moveTo>
                <a:cubicBezTo>
                  <a:pt x="86703" y="105486"/>
                  <a:pt x="206095" y="131837"/>
                  <a:pt x="313669" y="119063"/>
                </a:cubicBezTo>
                <a:cubicBezTo>
                  <a:pt x="421243" y="106289"/>
                  <a:pt x="547703" y="147976"/>
                  <a:pt x="615037" y="119063"/>
                </a:cubicBezTo>
                <a:cubicBezTo>
                  <a:pt x="605649" y="82718"/>
                  <a:pt x="623688" y="41377"/>
                  <a:pt x="615037" y="0"/>
                </a:cubicBezTo>
                <a:cubicBezTo>
                  <a:pt x="689374" y="63689"/>
                  <a:pt x="741591" y="178297"/>
                  <a:pt x="853162" y="238125"/>
                </a:cubicBezTo>
                <a:cubicBezTo>
                  <a:pt x="756840" y="368134"/>
                  <a:pt x="700731" y="387526"/>
                  <a:pt x="615037" y="476250"/>
                </a:cubicBezTo>
                <a:cubicBezTo>
                  <a:pt x="604284" y="450831"/>
                  <a:pt x="627301" y="414636"/>
                  <a:pt x="615037" y="357188"/>
                </a:cubicBezTo>
                <a:cubicBezTo>
                  <a:pt x="466740" y="375007"/>
                  <a:pt x="449911" y="348784"/>
                  <a:pt x="313669" y="357188"/>
                </a:cubicBezTo>
                <a:cubicBezTo>
                  <a:pt x="177427" y="365592"/>
                  <a:pt x="110203" y="351484"/>
                  <a:pt x="0" y="357188"/>
                </a:cubicBezTo>
                <a:cubicBezTo>
                  <a:pt x="-9862" y="278339"/>
                  <a:pt x="15565" y="227141"/>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711588499">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1098767" y="1595228"/>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SPEAKING</a:t>
            </a:r>
          </a:p>
        </p:txBody>
      </p:sp>
      <p:sp>
        <p:nvSpPr>
          <p:cNvPr id="25" name="Rectangle 24">
            <a:extLst>
              <a:ext uri="{FF2B5EF4-FFF2-40B4-BE49-F238E27FC236}">
                <a16:creationId xmlns:a16="http://schemas.microsoft.com/office/drawing/2014/main" id="{24E7E408-B441-09B3-45C8-734F53C57BF7}"/>
              </a:ext>
            </a:extLst>
          </p:cNvPr>
          <p:cNvSpPr/>
          <p:nvPr/>
        </p:nvSpPr>
        <p:spPr>
          <a:xfrm>
            <a:off x="4087020" y="1601601"/>
            <a:ext cx="1161177" cy="461665"/>
          </a:xfrm>
          <a:prstGeom prst="rect">
            <a:avLst/>
          </a:prstGeom>
          <a:noFill/>
        </p:spPr>
        <p:txBody>
          <a:bodyPr wrap="square" lIns="91440" tIns="45720" rIns="91440" bIns="45720">
            <a:spAutoFit/>
          </a:bodyPr>
          <a:lstStyle/>
          <a:p>
            <a:pPr algn="ctr"/>
            <a:r>
              <a:rPr lang="en-US" sz="2400" b="1" dirty="0">
                <a:ln w="22225">
                  <a:solidFill>
                    <a:srgbClr val="002060"/>
                  </a:solidFill>
                  <a:prstDash val="solid"/>
                </a:ln>
                <a:solidFill>
                  <a:srgbClr val="002060"/>
                </a:solidFill>
              </a:rPr>
              <a:t>TYPING</a:t>
            </a:r>
          </a:p>
        </p:txBody>
      </p:sp>
      <p:sp>
        <p:nvSpPr>
          <p:cNvPr id="33" name="TextBox 32">
            <a:extLst>
              <a:ext uri="{FF2B5EF4-FFF2-40B4-BE49-F238E27FC236}">
                <a16:creationId xmlns:a16="http://schemas.microsoft.com/office/drawing/2014/main" id="{FBC62830-498F-C12D-14A9-03C9EA6AC5E2}"/>
              </a:ext>
            </a:extLst>
          </p:cNvPr>
          <p:cNvSpPr txBox="1"/>
          <p:nvPr/>
        </p:nvSpPr>
        <p:spPr>
          <a:xfrm>
            <a:off x="839913" y="4091004"/>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3559549" y="4056758"/>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2321485" y="4056758"/>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5225164" y="4070246"/>
            <a:ext cx="690228" cy="369332"/>
          </a:xfrm>
          <a:prstGeom prst="rect">
            <a:avLst/>
          </a:prstGeom>
          <a:noFill/>
        </p:spPr>
        <p:txBody>
          <a:bodyPr wrap="square" rtlCol="0">
            <a:spAutoFit/>
          </a:bodyPr>
          <a:lstStyle/>
          <a:p>
            <a:r>
              <a:rPr lang="en-US" dirty="0"/>
              <a:t>Orth</a:t>
            </a:r>
            <a:endParaRPr lang="el-GR" dirty="0"/>
          </a:p>
        </p:txBody>
      </p:sp>
      <p:sp>
        <p:nvSpPr>
          <p:cNvPr id="2" name="Rectangle: Rounded Corners 1">
            <a:extLst>
              <a:ext uri="{FF2B5EF4-FFF2-40B4-BE49-F238E27FC236}">
                <a16:creationId xmlns:a16="http://schemas.microsoft.com/office/drawing/2014/main" id="{E5DCEA41-0510-B15D-1B59-E7A28364AB81}"/>
              </a:ext>
            </a:extLst>
          </p:cNvPr>
          <p:cNvSpPr/>
          <p:nvPr/>
        </p:nvSpPr>
        <p:spPr>
          <a:xfrm>
            <a:off x="619125" y="1444336"/>
            <a:ext cx="5476875" cy="3373580"/>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9" name="Arrow: Right 8">
            <a:extLst>
              <a:ext uri="{FF2B5EF4-FFF2-40B4-BE49-F238E27FC236}">
                <a16:creationId xmlns:a16="http://schemas.microsoft.com/office/drawing/2014/main" id="{F3C5353A-6865-031B-F038-1C663AF0139F}"/>
              </a:ext>
            </a:extLst>
          </p:cNvPr>
          <p:cNvSpPr/>
          <p:nvPr/>
        </p:nvSpPr>
        <p:spPr>
          <a:xfrm rot="3460689">
            <a:off x="2104009" y="3365071"/>
            <a:ext cx="853162" cy="476250"/>
          </a:xfrm>
          <a:custGeom>
            <a:avLst/>
            <a:gdLst>
              <a:gd name="connsiteX0" fmla="*/ 0 w 853162"/>
              <a:gd name="connsiteY0" fmla="*/ 119063 h 476250"/>
              <a:gd name="connsiteX1" fmla="*/ 3075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19819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35369" y="85264"/>
                  <a:pt x="163297" y="119193"/>
                  <a:pt x="307519" y="119063"/>
                </a:cubicBezTo>
                <a:cubicBezTo>
                  <a:pt x="451741" y="118933"/>
                  <a:pt x="493915" y="125299"/>
                  <a:pt x="615037" y="119063"/>
                </a:cubicBezTo>
                <a:cubicBezTo>
                  <a:pt x="614156" y="69733"/>
                  <a:pt x="615940" y="53889"/>
                  <a:pt x="615037" y="0"/>
                </a:cubicBezTo>
                <a:cubicBezTo>
                  <a:pt x="718723" y="74353"/>
                  <a:pt x="774182" y="189089"/>
                  <a:pt x="853162" y="238125"/>
                </a:cubicBezTo>
                <a:cubicBezTo>
                  <a:pt x="797784" y="302574"/>
                  <a:pt x="668229" y="372615"/>
                  <a:pt x="615037" y="476250"/>
                </a:cubicBezTo>
                <a:cubicBezTo>
                  <a:pt x="612915" y="444284"/>
                  <a:pt x="622848" y="411640"/>
                  <a:pt x="615037" y="357188"/>
                </a:cubicBezTo>
                <a:cubicBezTo>
                  <a:pt x="507752" y="380670"/>
                  <a:pt x="412848" y="348403"/>
                  <a:pt x="319819" y="357188"/>
                </a:cubicBezTo>
                <a:cubicBezTo>
                  <a:pt x="226790" y="365973"/>
                  <a:pt x="66612" y="343891"/>
                  <a:pt x="0" y="357188"/>
                </a:cubicBezTo>
                <a:cubicBezTo>
                  <a:pt x="-16931" y="283402"/>
                  <a:pt x="6127" y="187185"/>
                  <a:pt x="0" y="119063"/>
                </a:cubicBezTo>
                <a:close/>
              </a:path>
              <a:path w="853162" h="476250" stroke="0" extrusionOk="0">
                <a:moveTo>
                  <a:pt x="0" y="119063"/>
                </a:moveTo>
                <a:cubicBezTo>
                  <a:pt x="69227" y="110559"/>
                  <a:pt x="185399" y="141400"/>
                  <a:pt x="289067" y="119063"/>
                </a:cubicBezTo>
                <a:cubicBezTo>
                  <a:pt x="392735" y="96726"/>
                  <a:pt x="468844" y="155961"/>
                  <a:pt x="615037" y="119063"/>
                </a:cubicBezTo>
                <a:cubicBezTo>
                  <a:pt x="607083" y="85043"/>
                  <a:pt x="620957" y="32912"/>
                  <a:pt x="615037" y="0"/>
                </a:cubicBezTo>
                <a:cubicBezTo>
                  <a:pt x="719624" y="81133"/>
                  <a:pt x="742996" y="159935"/>
                  <a:pt x="853162" y="238125"/>
                </a:cubicBezTo>
                <a:cubicBezTo>
                  <a:pt x="815017" y="298192"/>
                  <a:pt x="732719" y="357275"/>
                  <a:pt x="615037" y="476250"/>
                </a:cubicBezTo>
                <a:cubicBezTo>
                  <a:pt x="604107" y="427079"/>
                  <a:pt x="622601" y="384061"/>
                  <a:pt x="615037" y="357188"/>
                </a:cubicBezTo>
                <a:cubicBezTo>
                  <a:pt x="525678" y="361655"/>
                  <a:pt x="386269" y="330442"/>
                  <a:pt x="295218" y="357188"/>
                </a:cubicBezTo>
                <a:cubicBezTo>
                  <a:pt x="204167" y="383934"/>
                  <a:pt x="133610" y="353125"/>
                  <a:pt x="0" y="357188"/>
                </a:cubicBezTo>
                <a:cubicBezTo>
                  <a:pt x="-25283" y="296868"/>
                  <a:pt x="7779" y="237129"/>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547427125">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2" name="TextBox 11">
            <a:extLst>
              <a:ext uri="{FF2B5EF4-FFF2-40B4-BE49-F238E27FC236}">
                <a16:creationId xmlns:a16="http://schemas.microsoft.com/office/drawing/2014/main" id="{5F2C3E55-561D-2663-BDD6-D5ADECCA4C0C}"/>
              </a:ext>
            </a:extLst>
          </p:cNvPr>
          <p:cNvSpPr txBox="1"/>
          <p:nvPr/>
        </p:nvSpPr>
        <p:spPr>
          <a:xfrm>
            <a:off x="8597062" y="1798755"/>
            <a:ext cx="1572550" cy="923330"/>
          </a:xfrm>
          <a:prstGeom prst="rect">
            <a:avLst/>
          </a:prstGeom>
          <a:noFill/>
          <a:ln w="9525">
            <a:solidFill>
              <a:srgbClr val="280205"/>
            </a:solidFill>
          </a:ln>
        </p:spPr>
        <p:txBody>
          <a:bodyPr wrap="square" rtlCol="0">
            <a:spAutoFit/>
          </a:bodyPr>
          <a:lstStyle/>
          <a:p>
            <a:pPr algn="ctr"/>
            <a:r>
              <a:rPr lang="en-US" dirty="0"/>
              <a:t>Type – Type</a:t>
            </a:r>
          </a:p>
          <a:p>
            <a:pPr algn="ctr"/>
            <a:endParaRPr lang="en-US" dirty="0"/>
          </a:p>
          <a:p>
            <a:pPr algn="ctr"/>
            <a:r>
              <a:rPr lang="en-US" dirty="0"/>
              <a:t>Speak – Type </a:t>
            </a:r>
          </a:p>
        </p:txBody>
      </p:sp>
      <p:sp>
        <p:nvSpPr>
          <p:cNvPr id="13" name="TextBox 12">
            <a:extLst>
              <a:ext uri="{FF2B5EF4-FFF2-40B4-BE49-F238E27FC236}">
                <a16:creationId xmlns:a16="http://schemas.microsoft.com/office/drawing/2014/main" id="{5571DB6C-D95B-54C0-43AE-892C2018D764}"/>
              </a:ext>
            </a:extLst>
          </p:cNvPr>
          <p:cNvSpPr txBox="1"/>
          <p:nvPr/>
        </p:nvSpPr>
        <p:spPr>
          <a:xfrm>
            <a:off x="8597061" y="3894586"/>
            <a:ext cx="1572551" cy="923330"/>
          </a:xfrm>
          <a:prstGeom prst="rect">
            <a:avLst/>
          </a:prstGeom>
          <a:noFill/>
          <a:ln w="9525">
            <a:solidFill>
              <a:srgbClr val="280205"/>
            </a:solidFill>
          </a:ln>
        </p:spPr>
        <p:txBody>
          <a:bodyPr wrap="square" rtlCol="0">
            <a:spAutoFit/>
          </a:bodyPr>
          <a:lstStyle/>
          <a:p>
            <a:pPr algn="ctr"/>
            <a:r>
              <a:rPr lang="en-US" dirty="0"/>
              <a:t>Speak – Speak </a:t>
            </a:r>
          </a:p>
          <a:p>
            <a:pPr algn="ctr"/>
            <a:endParaRPr lang="en-US" dirty="0"/>
          </a:p>
          <a:p>
            <a:pPr algn="ctr"/>
            <a:r>
              <a:rPr lang="en-US" dirty="0"/>
              <a:t>Type – Speak </a:t>
            </a:r>
          </a:p>
        </p:txBody>
      </p:sp>
      <p:sp>
        <p:nvSpPr>
          <p:cNvPr id="18" name="Rectangle 17">
            <a:extLst>
              <a:ext uri="{FF2B5EF4-FFF2-40B4-BE49-F238E27FC236}">
                <a16:creationId xmlns:a16="http://schemas.microsoft.com/office/drawing/2014/main" id="{0120A410-F4F9-1E99-B71C-01B14F5DC1CF}"/>
              </a:ext>
            </a:extLst>
          </p:cNvPr>
          <p:cNvSpPr/>
          <p:nvPr/>
        </p:nvSpPr>
        <p:spPr>
          <a:xfrm>
            <a:off x="9428482" y="1810254"/>
            <a:ext cx="664931" cy="923330"/>
          </a:xfrm>
          <a:custGeom>
            <a:avLst/>
            <a:gdLst>
              <a:gd name="connsiteX0" fmla="*/ 0 w 664931"/>
              <a:gd name="connsiteY0" fmla="*/ 0 h 923330"/>
              <a:gd name="connsiteX1" fmla="*/ 664931 w 664931"/>
              <a:gd name="connsiteY1" fmla="*/ 0 h 923330"/>
              <a:gd name="connsiteX2" fmla="*/ 664931 w 664931"/>
              <a:gd name="connsiteY2" fmla="*/ 923330 h 923330"/>
              <a:gd name="connsiteX3" fmla="*/ 0 w 664931"/>
              <a:gd name="connsiteY3" fmla="*/ 923330 h 923330"/>
              <a:gd name="connsiteX4" fmla="*/ 0 w 664931"/>
              <a:gd name="connsiteY4" fmla="*/ 0 h 923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931" h="923330" extrusionOk="0">
                <a:moveTo>
                  <a:pt x="0" y="0"/>
                </a:moveTo>
                <a:cubicBezTo>
                  <a:pt x="113396" y="53609"/>
                  <a:pt x="458065" y="23597"/>
                  <a:pt x="664931" y="0"/>
                </a:cubicBezTo>
                <a:cubicBezTo>
                  <a:pt x="682076" y="273334"/>
                  <a:pt x="615668" y="828479"/>
                  <a:pt x="664931" y="923330"/>
                </a:cubicBezTo>
                <a:cubicBezTo>
                  <a:pt x="423345" y="869860"/>
                  <a:pt x="93540" y="874684"/>
                  <a:pt x="0" y="923330"/>
                </a:cubicBezTo>
                <a:cubicBezTo>
                  <a:pt x="19253" y="688811"/>
                  <a:pt x="47853" y="179981"/>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Rectangle 18">
            <a:extLst>
              <a:ext uri="{FF2B5EF4-FFF2-40B4-BE49-F238E27FC236}">
                <a16:creationId xmlns:a16="http://schemas.microsoft.com/office/drawing/2014/main" id="{6619C35B-6E9F-861D-0979-B820FD692CBB}"/>
              </a:ext>
            </a:extLst>
          </p:cNvPr>
          <p:cNvSpPr/>
          <p:nvPr/>
        </p:nvSpPr>
        <p:spPr>
          <a:xfrm>
            <a:off x="9428483" y="3869088"/>
            <a:ext cx="676998" cy="948828"/>
          </a:xfrm>
          <a:custGeom>
            <a:avLst/>
            <a:gdLst>
              <a:gd name="connsiteX0" fmla="*/ 0 w 676998"/>
              <a:gd name="connsiteY0" fmla="*/ 0 h 948828"/>
              <a:gd name="connsiteX1" fmla="*/ 676998 w 676998"/>
              <a:gd name="connsiteY1" fmla="*/ 0 h 948828"/>
              <a:gd name="connsiteX2" fmla="*/ 676998 w 676998"/>
              <a:gd name="connsiteY2" fmla="*/ 948828 h 948828"/>
              <a:gd name="connsiteX3" fmla="*/ 0 w 676998"/>
              <a:gd name="connsiteY3" fmla="*/ 948828 h 948828"/>
              <a:gd name="connsiteX4" fmla="*/ 0 w 676998"/>
              <a:gd name="connsiteY4" fmla="*/ 0 h 948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998" h="948828" extrusionOk="0">
                <a:moveTo>
                  <a:pt x="0" y="0"/>
                </a:moveTo>
                <a:cubicBezTo>
                  <a:pt x="168032" y="-14601"/>
                  <a:pt x="421163" y="-55768"/>
                  <a:pt x="676998" y="0"/>
                </a:cubicBezTo>
                <a:cubicBezTo>
                  <a:pt x="708384" y="120791"/>
                  <a:pt x="734857" y="591739"/>
                  <a:pt x="676998" y="948828"/>
                </a:cubicBezTo>
                <a:cubicBezTo>
                  <a:pt x="434186" y="918676"/>
                  <a:pt x="170291" y="972356"/>
                  <a:pt x="0" y="948828"/>
                </a:cubicBezTo>
                <a:cubicBezTo>
                  <a:pt x="-52441" y="775781"/>
                  <a:pt x="6805" y="416613"/>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0" name="TextBox 19">
            <a:extLst>
              <a:ext uri="{FF2B5EF4-FFF2-40B4-BE49-F238E27FC236}">
                <a16:creationId xmlns:a16="http://schemas.microsoft.com/office/drawing/2014/main" id="{02048C81-7C18-A7A4-3654-FD54070CEE2E}"/>
              </a:ext>
            </a:extLst>
          </p:cNvPr>
          <p:cNvSpPr txBox="1"/>
          <p:nvPr/>
        </p:nvSpPr>
        <p:spPr>
          <a:xfrm>
            <a:off x="8597062" y="3059220"/>
            <a:ext cx="1572550" cy="523220"/>
          </a:xfrm>
          <a:prstGeom prst="rect">
            <a:avLst/>
          </a:prstGeom>
          <a:noFill/>
        </p:spPr>
        <p:txBody>
          <a:bodyPr wrap="square" rtlCol="0">
            <a:spAutoFit/>
          </a:bodyPr>
          <a:lstStyle/>
          <a:p>
            <a:pPr algn="ctr"/>
            <a:r>
              <a:rPr lang="en-US" sz="2800" b="1" dirty="0"/>
              <a:t>= (small)</a:t>
            </a:r>
            <a:endParaRPr lang="el-GR" sz="2800" b="1" dirty="0"/>
          </a:p>
        </p:txBody>
      </p:sp>
    </p:spTree>
    <p:extLst>
      <p:ext uri="{BB962C8B-B14F-4D97-AF65-F5344CB8AC3E}">
        <p14:creationId xmlns:p14="http://schemas.microsoft.com/office/powerpoint/2010/main" val="62507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37119224-B57E-3F08-84F8-3A050F4C5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7209" y="2231711"/>
            <a:ext cx="856982" cy="84313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A56DB4EE-FFDB-AB54-5152-07B679787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9118" y="2260420"/>
            <a:ext cx="856982" cy="843131"/>
          </a:xfrm>
          <a:prstGeom prst="rect">
            <a:avLst/>
          </a:prstGeom>
        </p:spPr>
      </p:pic>
      <p:sp>
        <p:nvSpPr>
          <p:cNvPr id="14" name="Arrow: Right 13">
            <a:extLst>
              <a:ext uri="{FF2B5EF4-FFF2-40B4-BE49-F238E27FC236}">
                <a16:creationId xmlns:a16="http://schemas.microsoft.com/office/drawing/2014/main" id="{30C3DA05-C931-2DD6-7D9A-CD7B781AF301}"/>
              </a:ext>
            </a:extLst>
          </p:cNvPr>
          <p:cNvSpPr/>
          <p:nvPr/>
        </p:nvSpPr>
        <p:spPr>
          <a:xfrm rot="3460689">
            <a:off x="4861262" y="3344315"/>
            <a:ext cx="853162" cy="476250"/>
          </a:xfrm>
          <a:custGeom>
            <a:avLst/>
            <a:gdLst>
              <a:gd name="connsiteX0" fmla="*/ 0 w 853162"/>
              <a:gd name="connsiteY0" fmla="*/ 119063 h 476250"/>
              <a:gd name="connsiteX1" fmla="*/ 289067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7519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68693" y="91868"/>
                  <a:pt x="212865" y="123729"/>
                  <a:pt x="289067" y="119063"/>
                </a:cubicBezTo>
                <a:cubicBezTo>
                  <a:pt x="365269" y="114397"/>
                  <a:pt x="548588" y="122081"/>
                  <a:pt x="615037" y="119063"/>
                </a:cubicBezTo>
                <a:cubicBezTo>
                  <a:pt x="606995" y="92063"/>
                  <a:pt x="623983" y="32940"/>
                  <a:pt x="615037" y="0"/>
                </a:cubicBezTo>
                <a:cubicBezTo>
                  <a:pt x="728082" y="89342"/>
                  <a:pt x="751027" y="150332"/>
                  <a:pt x="853162" y="238125"/>
                </a:cubicBezTo>
                <a:cubicBezTo>
                  <a:pt x="824031" y="322138"/>
                  <a:pt x="683827" y="399387"/>
                  <a:pt x="615037" y="476250"/>
                </a:cubicBezTo>
                <a:cubicBezTo>
                  <a:pt x="602110" y="439664"/>
                  <a:pt x="625921" y="396114"/>
                  <a:pt x="615037" y="357188"/>
                </a:cubicBezTo>
                <a:cubicBezTo>
                  <a:pt x="505281" y="374077"/>
                  <a:pt x="436612" y="329020"/>
                  <a:pt x="307519" y="357188"/>
                </a:cubicBezTo>
                <a:cubicBezTo>
                  <a:pt x="178426" y="385356"/>
                  <a:pt x="94548" y="356830"/>
                  <a:pt x="0" y="357188"/>
                </a:cubicBezTo>
                <a:cubicBezTo>
                  <a:pt x="-22994" y="263982"/>
                  <a:pt x="6702" y="200600"/>
                  <a:pt x="0" y="119063"/>
                </a:cubicBezTo>
                <a:close/>
              </a:path>
              <a:path w="853162" h="476250" stroke="0" extrusionOk="0">
                <a:moveTo>
                  <a:pt x="0" y="119063"/>
                </a:moveTo>
                <a:cubicBezTo>
                  <a:pt x="84032" y="108935"/>
                  <a:pt x="186138" y="137775"/>
                  <a:pt x="289067" y="119063"/>
                </a:cubicBezTo>
                <a:cubicBezTo>
                  <a:pt x="391996" y="100351"/>
                  <a:pt x="514121" y="148300"/>
                  <a:pt x="615037" y="119063"/>
                </a:cubicBezTo>
                <a:cubicBezTo>
                  <a:pt x="604820" y="78389"/>
                  <a:pt x="617322" y="26951"/>
                  <a:pt x="615037" y="0"/>
                </a:cubicBezTo>
                <a:cubicBezTo>
                  <a:pt x="698403" y="27171"/>
                  <a:pt x="773451" y="210110"/>
                  <a:pt x="853162" y="238125"/>
                </a:cubicBezTo>
                <a:cubicBezTo>
                  <a:pt x="820398" y="322450"/>
                  <a:pt x="704717" y="380729"/>
                  <a:pt x="615037" y="476250"/>
                </a:cubicBezTo>
                <a:cubicBezTo>
                  <a:pt x="606558" y="420856"/>
                  <a:pt x="623000" y="387650"/>
                  <a:pt x="615037" y="357188"/>
                </a:cubicBezTo>
                <a:cubicBezTo>
                  <a:pt x="555892" y="384277"/>
                  <a:pt x="408428" y="357179"/>
                  <a:pt x="325970" y="357188"/>
                </a:cubicBezTo>
                <a:cubicBezTo>
                  <a:pt x="243512" y="357197"/>
                  <a:pt x="99054" y="338016"/>
                  <a:pt x="0" y="357188"/>
                </a:cubicBezTo>
                <a:cubicBezTo>
                  <a:pt x="-6729" y="297666"/>
                  <a:pt x="351" y="17348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481303278">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Arrow: Right 14">
            <a:extLst>
              <a:ext uri="{FF2B5EF4-FFF2-40B4-BE49-F238E27FC236}">
                <a16:creationId xmlns:a16="http://schemas.microsoft.com/office/drawing/2014/main" id="{C6045A99-6E5D-82B7-9191-338A125E0DEA}"/>
              </a:ext>
            </a:extLst>
          </p:cNvPr>
          <p:cNvSpPr/>
          <p:nvPr/>
        </p:nvSpPr>
        <p:spPr>
          <a:xfrm rot="7548208">
            <a:off x="991952" y="3362063"/>
            <a:ext cx="853162" cy="476250"/>
          </a:xfrm>
          <a:custGeom>
            <a:avLst/>
            <a:gdLst>
              <a:gd name="connsiteX0" fmla="*/ 0 w 853162"/>
              <a:gd name="connsiteY0" fmla="*/ 119063 h 476250"/>
              <a:gd name="connsiteX1" fmla="*/ 319819 w 853162"/>
              <a:gd name="connsiteY1" fmla="*/ 119063 h 476250"/>
              <a:gd name="connsiteX2" fmla="*/ 615037 w 853162"/>
              <a:gd name="connsiteY2" fmla="*/ 119063 h 476250"/>
              <a:gd name="connsiteX3" fmla="*/ 615037 w 853162"/>
              <a:gd name="connsiteY3" fmla="*/ 0 h 476250"/>
              <a:gd name="connsiteX4" fmla="*/ 853162 w 853162"/>
              <a:gd name="connsiteY4" fmla="*/ 238125 h 476250"/>
              <a:gd name="connsiteX5" fmla="*/ 615037 w 853162"/>
              <a:gd name="connsiteY5" fmla="*/ 476250 h 476250"/>
              <a:gd name="connsiteX6" fmla="*/ 615037 w 853162"/>
              <a:gd name="connsiteY6" fmla="*/ 357188 h 476250"/>
              <a:gd name="connsiteX7" fmla="*/ 307519 w 853162"/>
              <a:gd name="connsiteY7" fmla="*/ 357188 h 476250"/>
              <a:gd name="connsiteX8" fmla="*/ 0 w 853162"/>
              <a:gd name="connsiteY8" fmla="*/ 357188 h 476250"/>
              <a:gd name="connsiteX9" fmla="*/ 0 w 853162"/>
              <a:gd name="connsiteY9" fmla="*/ 119063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162" h="476250" fill="none" extrusionOk="0">
                <a:moveTo>
                  <a:pt x="0" y="119063"/>
                </a:moveTo>
                <a:cubicBezTo>
                  <a:pt x="131605" y="107757"/>
                  <a:pt x="174812" y="134537"/>
                  <a:pt x="319819" y="119063"/>
                </a:cubicBezTo>
                <a:cubicBezTo>
                  <a:pt x="464826" y="103589"/>
                  <a:pt x="503300" y="144525"/>
                  <a:pt x="615037" y="119063"/>
                </a:cubicBezTo>
                <a:cubicBezTo>
                  <a:pt x="613835" y="79205"/>
                  <a:pt x="620782" y="59481"/>
                  <a:pt x="615037" y="0"/>
                </a:cubicBezTo>
                <a:cubicBezTo>
                  <a:pt x="702942" y="80393"/>
                  <a:pt x="749804" y="158190"/>
                  <a:pt x="853162" y="238125"/>
                </a:cubicBezTo>
                <a:cubicBezTo>
                  <a:pt x="797485" y="349773"/>
                  <a:pt x="639766" y="400918"/>
                  <a:pt x="615037" y="476250"/>
                </a:cubicBezTo>
                <a:cubicBezTo>
                  <a:pt x="608134" y="433404"/>
                  <a:pt x="616246" y="381813"/>
                  <a:pt x="615037" y="357188"/>
                </a:cubicBezTo>
                <a:cubicBezTo>
                  <a:pt x="491940" y="375528"/>
                  <a:pt x="453859" y="340791"/>
                  <a:pt x="307519" y="357188"/>
                </a:cubicBezTo>
                <a:cubicBezTo>
                  <a:pt x="161179" y="373585"/>
                  <a:pt x="92734" y="345718"/>
                  <a:pt x="0" y="357188"/>
                </a:cubicBezTo>
                <a:cubicBezTo>
                  <a:pt x="-316" y="285572"/>
                  <a:pt x="15530" y="195539"/>
                  <a:pt x="0" y="119063"/>
                </a:cubicBezTo>
                <a:close/>
              </a:path>
              <a:path w="853162" h="476250" stroke="0" extrusionOk="0">
                <a:moveTo>
                  <a:pt x="0" y="119063"/>
                </a:moveTo>
                <a:cubicBezTo>
                  <a:pt x="136654" y="92037"/>
                  <a:pt x="167002" y="127235"/>
                  <a:pt x="301368" y="119063"/>
                </a:cubicBezTo>
                <a:cubicBezTo>
                  <a:pt x="435734" y="110891"/>
                  <a:pt x="467462" y="143321"/>
                  <a:pt x="615037" y="119063"/>
                </a:cubicBezTo>
                <a:cubicBezTo>
                  <a:pt x="610217" y="93441"/>
                  <a:pt x="621834" y="38683"/>
                  <a:pt x="615037" y="0"/>
                </a:cubicBezTo>
                <a:cubicBezTo>
                  <a:pt x="712870" y="61692"/>
                  <a:pt x="777572" y="162933"/>
                  <a:pt x="853162" y="238125"/>
                </a:cubicBezTo>
                <a:cubicBezTo>
                  <a:pt x="742811" y="349967"/>
                  <a:pt x="714392" y="358953"/>
                  <a:pt x="615037" y="476250"/>
                </a:cubicBezTo>
                <a:cubicBezTo>
                  <a:pt x="600831" y="435605"/>
                  <a:pt x="617640" y="385109"/>
                  <a:pt x="615037" y="357188"/>
                </a:cubicBezTo>
                <a:cubicBezTo>
                  <a:pt x="513286" y="357762"/>
                  <a:pt x="376226" y="351557"/>
                  <a:pt x="295218" y="357188"/>
                </a:cubicBezTo>
                <a:cubicBezTo>
                  <a:pt x="214210" y="362819"/>
                  <a:pt x="80761" y="354278"/>
                  <a:pt x="0" y="357188"/>
                </a:cubicBezTo>
                <a:cubicBezTo>
                  <a:pt x="-5994" y="244669"/>
                  <a:pt x="18981" y="200302"/>
                  <a:pt x="0" y="119063"/>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279938542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3" name="Rectangle 22">
            <a:extLst>
              <a:ext uri="{FF2B5EF4-FFF2-40B4-BE49-F238E27FC236}">
                <a16:creationId xmlns:a16="http://schemas.microsoft.com/office/drawing/2014/main" id="{21E33C50-14EC-0223-5E2A-459403E6BBE6}"/>
              </a:ext>
            </a:extLst>
          </p:cNvPr>
          <p:cNvSpPr/>
          <p:nvPr/>
        </p:nvSpPr>
        <p:spPr>
          <a:xfrm>
            <a:off x="1098767" y="1595228"/>
            <a:ext cx="1593865" cy="461665"/>
          </a:xfrm>
          <a:prstGeom prst="rect">
            <a:avLst/>
          </a:prstGeom>
          <a:noFill/>
        </p:spPr>
        <p:txBody>
          <a:bodyPr wrap="square" lIns="91440" tIns="45720" rIns="91440" bIns="45720">
            <a:spAutoFit/>
          </a:bodyPr>
          <a:lstStyle/>
          <a:p>
            <a:pPr algn="ctr"/>
            <a:r>
              <a:rPr lang="en-US" sz="2400" b="1" dirty="0">
                <a:ln w="22225">
                  <a:solidFill>
                    <a:srgbClr val="00B050"/>
                  </a:solidFill>
                  <a:prstDash val="solid"/>
                </a:ln>
                <a:solidFill>
                  <a:srgbClr val="00B050"/>
                </a:solidFill>
              </a:rPr>
              <a:t>SPEAKING</a:t>
            </a:r>
          </a:p>
        </p:txBody>
      </p:sp>
      <p:sp>
        <p:nvSpPr>
          <p:cNvPr id="25" name="Rectangle 24">
            <a:extLst>
              <a:ext uri="{FF2B5EF4-FFF2-40B4-BE49-F238E27FC236}">
                <a16:creationId xmlns:a16="http://schemas.microsoft.com/office/drawing/2014/main" id="{24E7E408-B441-09B3-45C8-734F53C57BF7}"/>
              </a:ext>
            </a:extLst>
          </p:cNvPr>
          <p:cNvSpPr/>
          <p:nvPr/>
        </p:nvSpPr>
        <p:spPr>
          <a:xfrm>
            <a:off x="4087020" y="1601601"/>
            <a:ext cx="1161177" cy="461665"/>
          </a:xfrm>
          <a:prstGeom prst="rect">
            <a:avLst/>
          </a:prstGeom>
          <a:noFill/>
        </p:spPr>
        <p:txBody>
          <a:bodyPr wrap="square" lIns="91440" tIns="45720" rIns="91440" bIns="45720">
            <a:spAutoFit/>
          </a:bodyPr>
          <a:lstStyle/>
          <a:p>
            <a:pPr algn="ctr"/>
            <a:r>
              <a:rPr lang="en-US" sz="2400" b="1" dirty="0">
                <a:ln w="22225">
                  <a:solidFill>
                    <a:srgbClr val="002060"/>
                  </a:solidFill>
                  <a:prstDash val="solid"/>
                </a:ln>
                <a:solidFill>
                  <a:srgbClr val="002060"/>
                </a:solidFill>
              </a:rPr>
              <a:t>TYPING</a:t>
            </a:r>
          </a:p>
        </p:txBody>
      </p:sp>
      <p:sp>
        <p:nvSpPr>
          <p:cNvPr id="33" name="TextBox 32">
            <a:extLst>
              <a:ext uri="{FF2B5EF4-FFF2-40B4-BE49-F238E27FC236}">
                <a16:creationId xmlns:a16="http://schemas.microsoft.com/office/drawing/2014/main" id="{FBC62830-498F-C12D-14A9-03C9EA6AC5E2}"/>
              </a:ext>
            </a:extLst>
          </p:cNvPr>
          <p:cNvSpPr txBox="1"/>
          <p:nvPr/>
        </p:nvSpPr>
        <p:spPr>
          <a:xfrm>
            <a:off x="839913" y="4091004"/>
            <a:ext cx="690228" cy="369332"/>
          </a:xfrm>
          <a:prstGeom prst="rect">
            <a:avLst/>
          </a:prstGeom>
          <a:noFill/>
        </p:spPr>
        <p:txBody>
          <a:bodyPr wrap="square" rtlCol="0">
            <a:spAutoFit/>
          </a:bodyPr>
          <a:lstStyle/>
          <a:p>
            <a:r>
              <a:rPr lang="en-US" dirty="0" err="1"/>
              <a:t>Phon</a:t>
            </a:r>
            <a:endParaRPr lang="el-GR" dirty="0"/>
          </a:p>
        </p:txBody>
      </p:sp>
      <p:sp>
        <p:nvSpPr>
          <p:cNvPr id="34" name="TextBox 33">
            <a:extLst>
              <a:ext uri="{FF2B5EF4-FFF2-40B4-BE49-F238E27FC236}">
                <a16:creationId xmlns:a16="http://schemas.microsoft.com/office/drawing/2014/main" id="{E9C6D65C-72C1-F473-D856-FEC05C603B15}"/>
              </a:ext>
            </a:extLst>
          </p:cNvPr>
          <p:cNvSpPr txBox="1"/>
          <p:nvPr/>
        </p:nvSpPr>
        <p:spPr>
          <a:xfrm>
            <a:off x="3559549" y="4056758"/>
            <a:ext cx="690228" cy="369332"/>
          </a:xfrm>
          <a:prstGeom prst="rect">
            <a:avLst/>
          </a:prstGeom>
          <a:noFill/>
        </p:spPr>
        <p:txBody>
          <a:bodyPr wrap="square" rtlCol="0">
            <a:spAutoFit/>
          </a:bodyPr>
          <a:lstStyle/>
          <a:p>
            <a:r>
              <a:rPr lang="en-US" dirty="0" err="1"/>
              <a:t>Phon</a:t>
            </a:r>
            <a:endParaRPr lang="el-GR" dirty="0"/>
          </a:p>
        </p:txBody>
      </p:sp>
      <p:sp>
        <p:nvSpPr>
          <p:cNvPr id="43" name="TextBox 42">
            <a:extLst>
              <a:ext uri="{FF2B5EF4-FFF2-40B4-BE49-F238E27FC236}">
                <a16:creationId xmlns:a16="http://schemas.microsoft.com/office/drawing/2014/main" id="{6740A2FA-D0C0-A9CA-1D8F-B43C43FFD612}"/>
              </a:ext>
            </a:extLst>
          </p:cNvPr>
          <p:cNvSpPr txBox="1"/>
          <p:nvPr/>
        </p:nvSpPr>
        <p:spPr>
          <a:xfrm>
            <a:off x="2321485" y="4056758"/>
            <a:ext cx="690228" cy="369332"/>
          </a:xfrm>
          <a:prstGeom prst="rect">
            <a:avLst/>
          </a:prstGeom>
          <a:noFill/>
        </p:spPr>
        <p:txBody>
          <a:bodyPr wrap="square" rtlCol="0">
            <a:spAutoFit/>
          </a:bodyPr>
          <a:lstStyle/>
          <a:p>
            <a:r>
              <a:rPr lang="en-US" dirty="0"/>
              <a:t>Orth</a:t>
            </a:r>
            <a:endParaRPr lang="el-GR" dirty="0"/>
          </a:p>
        </p:txBody>
      </p:sp>
      <p:sp>
        <p:nvSpPr>
          <p:cNvPr id="44" name="TextBox 43">
            <a:extLst>
              <a:ext uri="{FF2B5EF4-FFF2-40B4-BE49-F238E27FC236}">
                <a16:creationId xmlns:a16="http://schemas.microsoft.com/office/drawing/2014/main" id="{064DCCD1-6688-BB8E-8D91-E841E0A14C89}"/>
              </a:ext>
            </a:extLst>
          </p:cNvPr>
          <p:cNvSpPr txBox="1"/>
          <p:nvPr/>
        </p:nvSpPr>
        <p:spPr>
          <a:xfrm>
            <a:off x="5225164" y="4070246"/>
            <a:ext cx="690228" cy="369332"/>
          </a:xfrm>
          <a:prstGeom prst="rect">
            <a:avLst/>
          </a:prstGeom>
          <a:noFill/>
        </p:spPr>
        <p:txBody>
          <a:bodyPr wrap="square" rtlCol="0">
            <a:spAutoFit/>
          </a:bodyPr>
          <a:lstStyle/>
          <a:p>
            <a:r>
              <a:rPr lang="en-US" dirty="0"/>
              <a:t>Orth</a:t>
            </a:r>
            <a:endParaRPr lang="el-GR" dirty="0"/>
          </a:p>
        </p:txBody>
      </p:sp>
      <p:sp>
        <p:nvSpPr>
          <p:cNvPr id="2" name="Rectangle: Rounded Corners 1">
            <a:extLst>
              <a:ext uri="{FF2B5EF4-FFF2-40B4-BE49-F238E27FC236}">
                <a16:creationId xmlns:a16="http://schemas.microsoft.com/office/drawing/2014/main" id="{E5DCEA41-0510-B15D-1B59-E7A28364AB81}"/>
              </a:ext>
            </a:extLst>
          </p:cNvPr>
          <p:cNvSpPr/>
          <p:nvPr/>
        </p:nvSpPr>
        <p:spPr>
          <a:xfrm>
            <a:off x="619125" y="1444336"/>
            <a:ext cx="5476875" cy="3373580"/>
          </a:xfrm>
          <a:prstGeom prst="round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2" name="TextBox 11">
            <a:extLst>
              <a:ext uri="{FF2B5EF4-FFF2-40B4-BE49-F238E27FC236}">
                <a16:creationId xmlns:a16="http://schemas.microsoft.com/office/drawing/2014/main" id="{5F2C3E55-561D-2663-BDD6-D5ADECCA4C0C}"/>
              </a:ext>
            </a:extLst>
          </p:cNvPr>
          <p:cNvSpPr txBox="1"/>
          <p:nvPr/>
        </p:nvSpPr>
        <p:spPr>
          <a:xfrm>
            <a:off x="8597062" y="1798755"/>
            <a:ext cx="1572550" cy="923330"/>
          </a:xfrm>
          <a:prstGeom prst="rect">
            <a:avLst/>
          </a:prstGeom>
          <a:noFill/>
          <a:ln w="9525">
            <a:solidFill>
              <a:srgbClr val="280205"/>
            </a:solidFill>
          </a:ln>
        </p:spPr>
        <p:txBody>
          <a:bodyPr wrap="square" rtlCol="0">
            <a:spAutoFit/>
          </a:bodyPr>
          <a:lstStyle/>
          <a:p>
            <a:pPr algn="ctr"/>
            <a:r>
              <a:rPr lang="en-US" dirty="0"/>
              <a:t>Type – Type</a:t>
            </a:r>
          </a:p>
          <a:p>
            <a:pPr algn="ctr"/>
            <a:endParaRPr lang="en-US" dirty="0"/>
          </a:p>
          <a:p>
            <a:pPr algn="ctr"/>
            <a:r>
              <a:rPr lang="en-US" dirty="0"/>
              <a:t>Speak – Type </a:t>
            </a:r>
          </a:p>
        </p:txBody>
      </p:sp>
      <p:sp>
        <p:nvSpPr>
          <p:cNvPr id="13" name="TextBox 12">
            <a:extLst>
              <a:ext uri="{FF2B5EF4-FFF2-40B4-BE49-F238E27FC236}">
                <a16:creationId xmlns:a16="http://schemas.microsoft.com/office/drawing/2014/main" id="{5571DB6C-D95B-54C0-43AE-892C2018D764}"/>
              </a:ext>
            </a:extLst>
          </p:cNvPr>
          <p:cNvSpPr txBox="1"/>
          <p:nvPr/>
        </p:nvSpPr>
        <p:spPr>
          <a:xfrm>
            <a:off x="8597061" y="3894586"/>
            <a:ext cx="1572551" cy="923330"/>
          </a:xfrm>
          <a:prstGeom prst="rect">
            <a:avLst/>
          </a:prstGeom>
          <a:noFill/>
          <a:ln w="9525">
            <a:solidFill>
              <a:srgbClr val="280205"/>
            </a:solidFill>
          </a:ln>
        </p:spPr>
        <p:txBody>
          <a:bodyPr wrap="square" rtlCol="0">
            <a:spAutoFit/>
          </a:bodyPr>
          <a:lstStyle/>
          <a:p>
            <a:pPr algn="ctr"/>
            <a:r>
              <a:rPr lang="en-US" dirty="0"/>
              <a:t>Speak – Speak </a:t>
            </a:r>
          </a:p>
          <a:p>
            <a:pPr algn="ctr"/>
            <a:endParaRPr lang="en-US" dirty="0"/>
          </a:p>
          <a:p>
            <a:pPr algn="ctr"/>
            <a:r>
              <a:rPr lang="en-US" dirty="0"/>
              <a:t>Type – Speak </a:t>
            </a:r>
          </a:p>
        </p:txBody>
      </p:sp>
      <p:sp>
        <p:nvSpPr>
          <p:cNvPr id="18" name="Rectangle 17">
            <a:extLst>
              <a:ext uri="{FF2B5EF4-FFF2-40B4-BE49-F238E27FC236}">
                <a16:creationId xmlns:a16="http://schemas.microsoft.com/office/drawing/2014/main" id="{0120A410-F4F9-1E99-B71C-01B14F5DC1CF}"/>
              </a:ext>
            </a:extLst>
          </p:cNvPr>
          <p:cNvSpPr/>
          <p:nvPr/>
        </p:nvSpPr>
        <p:spPr>
          <a:xfrm>
            <a:off x="9428482" y="1810254"/>
            <a:ext cx="664931" cy="923330"/>
          </a:xfrm>
          <a:custGeom>
            <a:avLst/>
            <a:gdLst>
              <a:gd name="connsiteX0" fmla="*/ 0 w 664931"/>
              <a:gd name="connsiteY0" fmla="*/ 0 h 923330"/>
              <a:gd name="connsiteX1" fmla="*/ 664931 w 664931"/>
              <a:gd name="connsiteY1" fmla="*/ 0 h 923330"/>
              <a:gd name="connsiteX2" fmla="*/ 664931 w 664931"/>
              <a:gd name="connsiteY2" fmla="*/ 923330 h 923330"/>
              <a:gd name="connsiteX3" fmla="*/ 0 w 664931"/>
              <a:gd name="connsiteY3" fmla="*/ 923330 h 923330"/>
              <a:gd name="connsiteX4" fmla="*/ 0 w 664931"/>
              <a:gd name="connsiteY4" fmla="*/ 0 h 923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931" h="923330" extrusionOk="0">
                <a:moveTo>
                  <a:pt x="0" y="0"/>
                </a:moveTo>
                <a:cubicBezTo>
                  <a:pt x="113396" y="53609"/>
                  <a:pt x="458065" y="23597"/>
                  <a:pt x="664931" y="0"/>
                </a:cubicBezTo>
                <a:cubicBezTo>
                  <a:pt x="682076" y="273334"/>
                  <a:pt x="615668" y="828479"/>
                  <a:pt x="664931" y="923330"/>
                </a:cubicBezTo>
                <a:cubicBezTo>
                  <a:pt x="423345" y="869860"/>
                  <a:pt x="93540" y="874684"/>
                  <a:pt x="0" y="923330"/>
                </a:cubicBezTo>
                <a:cubicBezTo>
                  <a:pt x="19253" y="688811"/>
                  <a:pt x="47853" y="179981"/>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Rectangle 18">
            <a:extLst>
              <a:ext uri="{FF2B5EF4-FFF2-40B4-BE49-F238E27FC236}">
                <a16:creationId xmlns:a16="http://schemas.microsoft.com/office/drawing/2014/main" id="{6619C35B-6E9F-861D-0979-B820FD692CBB}"/>
              </a:ext>
            </a:extLst>
          </p:cNvPr>
          <p:cNvSpPr/>
          <p:nvPr/>
        </p:nvSpPr>
        <p:spPr>
          <a:xfrm>
            <a:off x="9428483" y="3869088"/>
            <a:ext cx="676998" cy="948828"/>
          </a:xfrm>
          <a:custGeom>
            <a:avLst/>
            <a:gdLst>
              <a:gd name="connsiteX0" fmla="*/ 0 w 676998"/>
              <a:gd name="connsiteY0" fmla="*/ 0 h 948828"/>
              <a:gd name="connsiteX1" fmla="*/ 676998 w 676998"/>
              <a:gd name="connsiteY1" fmla="*/ 0 h 948828"/>
              <a:gd name="connsiteX2" fmla="*/ 676998 w 676998"/>
              <a:gd name="connsiteY2" fmla="*/ 948828 h 948828"/>
              <a:gd name="connsiteX3" fmla="*/ 0 w 676998"/>
              <a:gd name="connsiteY3" fmla="*/ 948828 h 948828"/>
              <a:gd name="connsiteX4" fmla="*/ 0 w 676998"/>
              <a:gd name="connsiteY4" fmla="*/ 0 h 948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998" h="948828" extrusionOk="0">
                <a:moveTo>
                  <a:pt x="0" y="0"/>
                </a:moveTo>
                <a:cubicBezTo>
                  <a:pt x="168032" y="-14601"/>
                  <a:pt x="421163" y="-55768"/>
                  <a:pt x="676998" y="0"/>
                </a:cubicBezTo>
                <a:cubicBezTo>
                  <a:pt x="708384" y="120791"/>
                  <a:pt x="734857" y="591739"/>
                  <a:pt x="676998" y="948828"/>
                </a:cubicBezTo>
                <a:cubicBezTo>
                  <a:pt x="434186" y="918676"/>
                  <a:pt x="170291" y="972356"/>
                  <a:pt x="0" y="948828"/>
                </a:cubicBezTo>
                <a:cubicBezTo>
                  <a:pt x="-52441" y="775781"/>
                  <a:pt x="6805" y="416613"/>
                  <a:pt x="0" y="0"/>
                </a:cubicBezTo>
                <a:close/>
              </a:path>
            </a:pathLst>
          </a:custGeom>
          <a:noFill/>
          <a:ln w="28575">
            <a:solidFill>
              <a:srgbClr val="C00000"/>
            </a:solidFill>
            <a:extLst>
              <a:ext uri="{C807C97D-BFC1-408E-A445-0C87EB9F89A2}">
                <ask:lineSketchStyleProps xmlns:ask="http://schemas.microsoft.com/office/drawing/2018/sketchyshapes" sd="159055088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0" name="TextBox 19">
            <a:extLst>
              <a:ext uri="{FF2B5EF4-FFF2-40B4-BE49-F238E27FC236}">
                <a16:creationId xmlns:a16="http://schemas.microsoft.com/office/drawing/2014/main" id="{02048C81-7C18-A7A4-3654-FD54070CEE2E}"/>
              </a:ext>
            </a:extLst>
          </p:cNvPr>
          <p:cNvSpPr txBox="1"/>
          <p:nvPr/>
        </p:nvSpPr>
        <p:spPr>
          <a:xfrm>
            <a:off x="8817192" y="3062091"/>
            <a:ext cx="1222579" cy="523220"/>
          </a:xfrm>
          <a:prstGeom prst="rect">
            <a:avLst/>
          </a:prstGeom>
          <a:noFill/>
        </p:spPr>
        <p:txBody>
          <a:bodyPr wrap="square" rtlCol="0">
            <a:spAutoFit/>
          </a:bodyPr>
          <a:lstStyle/>
          <a:p>
            <a:pPr algn="ctr"/>
            <a:r>
              <a:rPr lang="en-US" sz="2800" b="1" dirty="0"/>
              <a:t>= (big)</a:t>
            </a:r>
            <a:endParaRPr lang="el-GR" sz="2800" b="1" dirty="0"/>
          </a:p>
        </p:txBody>
      </p:sp>
      <p:sp>
        <p:nvSpPr>
          <p:cNvPr id="3" name="Arrow: Right 2">
            <a:extLst>
              <a:ext uri="{FF2B5EF4-FFF2-40B4-BE49-F238E27FC236}">
                <a16:creationId xmlns:a16="http://schemas.microsoft.com/office/drawing/2014/main" id="{BF778534-04E9-C669-6E9E-F9B420942870}"/>
              </a:ext>
            </a:extLst>
          </p:cNvPr>
          <p:cNvSpPr/>
          <p:nvPr/>
        </p:nvSpPr>
        <p:spPr>
          <a:xfrm rot="3460689">
            <a:off x="2089095" y="3544428"/>
            <a:ext cx="718980" cy="164685"/>
          </a:xfrm>
          <a:custGeom>
            <a:avLst/>
            <a:gdLst>
              <a:gd name="connsiteX0" fmla="*/ 0 w 718980"/>
              <a:gd name="connsiteY0" fmla="*/ 41171 h 164685"/>
              <a:gd name="connsiteX1" fmla="*/ 331052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18319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141782" y="10202"/>
                  <a:pt x="248439" y="58735"/>
                  <a:pt x="331052" y="41171"/>
                </a:cubicBezTo>
                <a:cubicBezTo>
                  <a:pt x="413665" y="23607"/>
                  <a:pt x="557301" y="55702"/>
                  <a:pt x="636638" y="41171"/>
                </a:cubicBezTo>
                <a:cubicBezTo>
                  <a:pt x="635610" y="20984"/>
                  <a:pt x="641210" y="12434"/>
                  <a:pt x="636638" y="0"/>
                </a:cubicBezTo>
                <a:cubicBezTo>
                  <a:pt x="657852" y="16163"/>
                  <a:pt x="680571" y="50176"/>
                  <a:pt x="718980" y="82343"/>
                </a:cubicBezTo>
                <a:cubicBezTo>
                  <a:pt x="683000" y="124800"/>
                  <a:pt x="659827" y="132774"/>
                  <a:pt x="636638" y="164685"/>
                </a:cubicBezTo>
                <a:cubicBezTo>
                  <a:pt x="633650" y="151901"/>
                  <a:pt x="639907" y="135639"/>
                  <a:pt x="636638" y="123514"/>
                </a:cubicBezTo>
                <a:cubicBezTo>
                  <a:pt x="515057" y="132937"/>
                  <a:pt x="408101" y="96358"/>
                  <a:pt x="318319" y="123514"/>
                </a:cubicBezTo>
                <a:cubicBezTo>
                  <a:pt x="228537" y="150670"/>
                  <a:pt x="99981" y="89805"/>
                  <a:pt x="0" y="123514"/>
                </a:cubicBezTo>
                <a:cubicBezTo>
                  <a:pt x="-4406" y="96648"/>
                  <a:pt x="4670" y="66043"/>
                  <a:pt x="0" y="41171"/>
                </a:cubicBezTo>
                <a:close/>
              </a:path>
              <a:path w="718980" h="164685" stroke="0" extrusionOk="0">
                <a:moveTo>
                  <a:pt x="0" y="41171"/>
                </a:moveTo>
                <a:cubicBezTo>
                  <a:pt x="150633" y="2943"/>
                  <a:pt x="221432" y="49488"/>
                  <a:pt x="331052" y="41171"/>
                </a:cubicBezTo>
                <a:cubicBezTo>
                  <a:pt x="440672" y="32854"/>
                  <a:pt x="559028" y="45006"/>
                  <a:pt x="636638" y="41171"/>
                </a:cubicBezTo>
                <a:cubicBezTo>
                  <a:pt x="631909" y="27594"/>
                  <a:pt x="640374" y="17028"/>
                  <a:pt x="636638" y="0"/>
                </a:cubicBezTo>
                <a:cubicBezTo>
                  <a:pt x="667008" y="24445"/>
                  <a:pt x="691800" y="55950"/>
                  <a:pt x="718980" y="82343"/>
                </a:cubicBezTo>
                <a:cubicBezTo>
                  <a:pt x="689032" y="128521"/>
                  <a:pt x="656266" y="143706"/>
                  <a:pt x="636638" y="164685"/>
                </a:cubicBezTo>
                <a:cubicBezTo>
                  <a:pt x="633150" y="156294"/>
                  <a:pt x="640453" y="141939"/>
                  <a:pt x="636638" y="123514"/>
                </a:cubicBezTo>
                <a:cubicBezTo>
                  <a:pt x="516154" y="137412"/>
                  <a:pt x="416780" y="95159"/>
                  <a:pt x="331052" y="123514"/>
                </a:cubicBezTo>
                <a:cubicBezTo>
                  <a:pt x="245324" y="151869"/>
                  <a:pt x="96678" y="121015"/>
                  <a:pt x="0" y="123514"/>
                </a:cubicBezTo>
                <a:cubicBezTo>
                  <a:pt x="-2965" y="94571"/>
                  <a:pt x="804" y="72451"/>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1465138424">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 name="Arrow: Right 3">
            <a:extLst>
              <a:ext uri="{FF2B5EF4-FFF2-40B4-BE49-F238E27FC236}">
                <a16:creationId xmlns:a16="http://schemas.microsoft.com/office/drawing/2014/main" id="{1E9AEEF6-72A9-847A-AD75-7C0A12CB532F}"/>
              </a:ext>
            </a:extLst>
          </p:cNvPr>
          <p:cNvSpPr/>
          <p:nvPr/>
        </p:nvSpPr>
        <p:spPr>
          <a:xfrm rot="7219235">
            <a:off x="3797737" y="3540358"/>
            <a:ext cx="718980" cy="164685"/>
          </a:xfrm>
          <a:custGeom>
            <a:avLst/>
            <a:gdLst>
              <a:gd name="connsiteX0" fmla="*/ 0 w 718980"/>
              <a:gd name="connsiteY0" fmla="*/ 41171 h 164685"/>
              <a:gd name="connsiteX1" fmla="*/ 299220 w 718980"/>
              <a:gd name="connsiteY1" fmla="*/ 41171 h 164685"/>
              <a:gd name="connsiteX2" fmla="*/ 636638 w 718980"/>
              <a:gd name="connsiteY2" fmla="*/ 41171 h 164685"/>
              <a:gd name="connsiteX3" fmla="*/ 636638 w 718980"/>
              <a:gd name="connsiteY3" fmla="*/ 0 h 164685"/>
              <a:gd name="connsiteX4" fmla="*/ 718980 w 718980"/>
              <a:gd name="connsiteY4" fmla="*/ 82343 h 164685"/>
              <a:gd name="connsiteX5" fmla="*/ 636638 w 718980"/>
              <a:gd name="connsiteY5" fmla="*/ 164685 h 164685"/>
              <a:gd name="connsiteX6" fmla="*/ 636638 w 718980"/>
              <a:gd name="connsiteY6" fmla="*/ 123514 h 164685"/>
              <a:gd name="connsiteX7" fmla="*/ 324685 w 718980"/>
              <a:gd name="connsiteY7" fmla="*/ 123514 h 164685"/>
              <a:gd name="connsiteX8" fmla="*/ 0 w 718980"/>
              <a:gd name="connsiteY8" fmla="*/ 123514 h 164685"/>
              <a:gd name="connsiteX9" fmla="*/ 0 w 718980"/>
              <a:gd name="connsiteY9" fmla="*/ 41171 h 16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980" h="164685" fill="none" extrusionOk="0">
                <a:moveTo>
                  <a:pt x="0" y="41171"/>
                </a:moveTo>
                <a:cubicBezTo>
                  <a:pt x="92216" y="27928"/>
                  <a:pt x="171067" y="59395"/>
                  <a:pt x="299220" y="41171"/>
                </a:cubicBezTo>
                <a:cubicBezTo>
                  <a:pt x="427373" y="22947"/>
                  <a:pt x="549260" y="41384"/>
                  <a:pt x="636638" y="41171"/>
                </a:cubicBezTo>
                <a:cubicBezTo>
                  <a:pt x="633535" y="31331"/>
                  <a:pt x="639391" y="12381"/>
                  <a:pt x="636638" y="0"/>
                </a:cubicBezTo>
                <a:cubicBezTo>
                  <a:pt x="669245" y="24499"/>
                  <a:pt x="671961" y="48909"/>
                  <a:pt x="718980" y="82343"/>
                </a:cubicBezTo>
                <a:cubicBezTo>
                  <a:pt x="697825" y="117554"/>
                  <a:pt x="661051" y="130769"/>
                  <a:pt x="636638" y="164685"/>
                </a:cubicBezTo>
                <a:cubicBezTo>
                  <a:pt x="632479" y="149317"/>
                  <a:pt x="637771" y="133712"/>
                  <a:pt x="636638" y="123514"/>
                </a:cubicBezTo>
                <a:cubicBezTo>
                  <a:pt x="486097" y="147242"/>
                  <a:pt x="403485" y="112318"/>
                  <a:pt x="324685" y="123514"/>
                </a:cubicBezTo>
                <a:cubicBezTo>
                  <a:pt x="245885" y="134710"/>
                  <a:pt x="93263" y="115654"/>
                  <a:pt x="0" y="123514"/>
                </a:cubicBezTo>
                <a:cubicBezTo>
                  <a:pt x="-8246" y="94117"/>
                  <a:pt x="6874" y="60478"/>
                  <a:pt x="0" y="41171"/>
                </a:cubicBezTo>
                <a:close/>
              </a:path>
              <a:path w="718980" h="164685" stroke="0" extrusionOk="0">
                <a:moveTo>
                  <a:pt x="0" y="41171"/>
                </a:moveTo>
                <a:cubicBezTo>
                  <a:pt x="91520" y="14646"/>
                  <a:pt x="170522" y="61541"/>
                  <a:pt x="311953" y="41171"/>
                </a:cubicBezTo>
                <a:cubicBezTo>
                  <a:pt x="453384" y="20801"/>
                  <a:pt x="508162" y="65885"/>
                  <a:pt x="636638" y="41171"/>
                </a:cubicBezTo>
                <a:cubicBezTo>
                  <a:pt x="633099" y="30500"/>
                  <a:pt x="639943" y="18994"/>
                  <a:pt x="636638" y="0"/>
                </a:cubicBezTo>
                <a:cubicBezTo>
                  <a:pt x="664691" y="18875"/>
                  <a:pt x="682031" y="49979"/>
                  <a:pt x="718980" y="82343"/>
                </a:cubicBezTo>
                <a:cubicBezTo>
                  <a:pt x="703805" y="115009"/>
                  <a:pt x="662376" y="137514"/>
                  <a:pt x="636638" y="164685"/>
                </a:cubicBezTo>
                <a:cubicBezTo>
                  <a:pt x="636131" y="145503"/>
                  <a:pt x="637257" y="136434"/>
                  <a:pt x="636638" y="123514"/>
                </a:cubicBezTo>
                <a:cubicBezTo>
                  <a:pt x="491278" y="134122"/>
                  <a:pt x="405733" y="90535"/>
                  <a:pt x="331052" y="123514"/>
                </a:cubicBezTo>
                <a:cubicBezTo>
                  <a:pt x="256371" y="156493"/>
                  <a:pt x="130853" y="106790"/>
                  <a:pt x="0" y="123514"/>
                </a:cubicBezTo>
                <a:cubicBezTo>
                  <a:pt x="-9691" y="97822"/>
                  <a:pt x="6446" y="64897"/>
                  <a:pt x="0" y="41171"/>
                </a:cubicBezTo>
                <a:close/>
              </a:path>
            </a:pathLst>
          </a:custGeom>
          <a:solidFill>
            <a:schemeClr val="tx1">
              <a:lumMod val="75000"/>
              <a:lumOff val="25000"/>
            </a:schemeClr>
          </a:solidFill>
          <a:ln>
            <a:solidFill>
              <a:schemeClr val="tx1">
                <a:lumMod val="75000"/>
                <a:lumOff val="25000"/>
              </a:schemeClr>
            </a:solidFill>
            <a:extLst>
              <a:ext uri="{C807C97D-BFC1-408E-A445-0C87EB9F89A2}">
                <ask:lineSketchStyleProps xmlns:ask="http://schemas.microsoft.com/office/drawing/2018/sketchyshapes" sd="3199535993">
                  <a:prstGeom prst="right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4109470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D76ED94F-E9B5-09F9-795B-6C6CA86BB390}"/>
              </a:ext>
            </a:extLst>
          </p:cNvPr>
          <p:cNvPicPr>
            <a:picLocks noChangeAspect="1"/>
          </p:cNvPicPr>
          <p:nvPr/>
        </p:nvPicPr>
        <p:blipFill rotWithShape="1">
          <a:blip r:embed="rId3">
            <a:extLst>
              <a:ext uri="{28A0092B-C50C-407E-A947-70E740481C1C}">
                <a14:useLocalDpi xmlns:a14="http://schemas.microsoft.com/office/drawing/2010/main" val="0"/>
              </a:ext>
            </a:extLst>
          </a:blip>
          <a:srcRect l="2898" t="4849" r="4262" b="13636"/>
          <a:stretch/>
        </p:blipFill>
        <p:spPr>
          <a:xfrm>
            <a:off x="183574" y="633843"/>
            <a:ext cx="5659582" cy="2795155"/>
          </a:xfrm>
          <a:prstGeom prst="rect">
            <a:avLst/>
          </a:prstGeom>
        </p:spPr>
      </p:pic>
      <p:pic>
        <p:nvPicPr>
          <p:cNvPr id="5" name="Picture 4" descr="Diagram&#10;&#10;Description automatically generated">
            <a:extLst>
              <a:ext uri="{FF2B5EF4-FFF2-40B4-BE49-F238E27FC236}">
                <a16:creationId xmlns:a16="http://schemas.microsoft.com/office/drawing/2014/main" id="{98CA0511-D314-E731-9139-38BFEEF36861}"/>
              </a:ext>
            </a:extLst>
          </p:cNvPr>
          <p:cNvPicPr>
            <a:picLocks noChangeAspect="1"/>
          </p:cNvPicPr>
          <p:nvPr/>
        </p:nvPicPr>
        <p:blipFill rotWithShape="1">
          <a:blip r:embed="rId4">
            <a:extLst>
              <a:ext uri="{28A0092B-C50C-407E-A947-70E740481C1C}">
                <a14:useLocalDpi xmlns:a14="http://schemas.microsoft.com/office/drawing/2010/main" val="0"/>
              </a:ext>
            </a:extLst>
          </a:blip>
          <a:srcRect l="2367" t="5621" r="4049" b="14793"/>
          <a:stretch/>
        </p:blipFill>
        <p:spPr>
          <a:xfrm>
            <a:off x="6165271" y="633844"/>
            <a:ext cx="5843155" cy="2795155"/>
          </a:xfrm>
          <a:prstGeom prst="rect">
            <a:avLst/>
          </a:prstGeom>
        </p:spPr>
      </p:pic>
      <p:sp>
        <p:nvSpPr>
          <p:cNvPr id="11" name="Rectangle: Rounded Corners 10">
            <a:extLst>
              <a:ext uri="{FF2B5EF4-FFF2-40B4-BE49-F238E27FC236}">
                <a16:creationId xmlns:a16="http://schemas.microsoft.com/office/drawing/2014/main" id="{DDF5F3FA-736C-0ACB-9F38-8EC0D00915F8}"/>
              </a:ext>
            </a:extLst>
          </p:cNvPr>
          <p:cNvSpPr/>
          <p:nvPr/>
        </p:nvSpPr>
        <p:spPr>
          <a:xfrm>
            <a:off x="145474" y="238991"/>
            <a:ext cx="5791199" cy="360564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3" name="Rectangle: Rounded Corners 12">
            <a:extLst>
              <a:ext uri="{FF2B5EF4-FFF2-40B4-BE49-F238E27FC236}">
                <a16:creationId xmlns:a16="http://schemas.microsoft.com/office/drawing/2014/main" id="{C1B6BA73-8F8D-59AB-72CE-27515C47012A}"/>
              </a:ext>
            </a:extLst>
          </p:cNvPr>
          <p:cNvSpPr/>
          <p:nvPr/>
        </p:nvSpPr>
        <p:spPr>
          <a:xfrm>
            <a:off x="6165271" y="228597"/>
            <a:ext cx="5881255" cy="3605645"/>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
        <p:nvSpPr>
          <p:cNvPr id="15" name="Callout: Down Arrow 14">
            <a:extLst>
              <a:ext uri="{FF2B5EF4-FFF2-40B4-BE49-F238E27FC236}">
                <a16:creationId xmlns:a16="http://schemas.microsoft.com/office/drawing/2014/main" id="{7BA01B45-9F48-1055-3ADA-537A1EE3711C}"/>
              </a:ext>
            </a:extLst>
          </p:cNvPr>
          <p:cNvSpPr/>
          <p:nvPr/>
        </p:nvSpPr>
        <p:spPr>
          <a:xfrm>
            <a:off x="3557588" y="4229095"/>
            <a:ext cx="4910137" cy="1524006"/>
          </a:xfrm>
          <a:prstGeom prst="downArrowCallou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(Speak</a:t>
            </a:r>
            <a:r>
              <a:rPr lang="en-US" sz="1200" dirty="0"/>
              <a:t>2</a:t>
            </a:r>
            <a:r>
              <a:rPr lang="en-US" sz="2000" dirty="0"/>
              <a:t> – Speak)    </a:t>
            </a:r>
            <a:r>
              <a:rPr lang="en-US" sz="2400" b="1" dirty="0"/>
              <a:t>&lt;</a:t>
            </a:r>
            <a:r>
              <a:rPr lang="en-US" sz="2000" dirty="0"/>
              <a:t>    (Type</a:t>
            </a:r>
            <a:r>
              <a:rPr lang="en-US" sz="1200" dirty="0"/>
              <a:t>2</a:t>
            </a:r>
            <a:r>
              <a:rPr lang="en-US" sz="2000" dirty="0"/>
              <a:t> – Type)</a:t>
            </a:r>
            <a:endParaRPr lang="el-GR" sz="2000" dirty="0"/>
          </a:p>
        </p:txBody>
      </p:sp>
      <p:sp>
        <p:nvSpPr>
          <p:cNvPr id="42" name="TextBox 41">
            <a:extLst>
              <a:ext uri="{FF2B5EF4-FFF2-40B4-BE49-F238E27FC236}">
                <a16:creationId xmlns:a16="http://schemas.microsoft.com/office/drawing/2014/main" id="{9B65ED12-02F4-9879-CC3E-FBBE8910C620}"/>
              </a:ext>
            </a:extLst>
          </p:cNvPr>
          <p:cNvSpPr txBox="1"/>
          <p:nvPr/>
        </p:nvSpPr>
        <p:spPr>
          <a:xfrm>
            <a:off x="4214811" y="5952894"/>
            <a:ext cx="3762377" cy="369332"/>
          </a:xfrm>
          <a:prstGeom prst="rect">
            <a:avLst/>
          </a:prstGeom>
          <a:noFill/>
        </p:spPr>
        <p:txBody>
          <a:bodyPr wrap="square">
            <a:spAutoFit/>
          </a:bodyPr>
          <a:lstStyle/>
          <a:p>
            <a:pPr algn="ctr"/>
            <a:r>
              <a:rPr lang="en-US" b="1" dirty="0"/>
              <a:t>Asymmetrical switch cost </a:t>
            </a:r>
            <a:endParaRPr lang="el-GR" b="1" dirty="0"/>
          </a:p>
        </p:txBody>
      </p:sp>
      <p:sp>
        <p:nvSpPr>
          <p:cNvPr id="2" name="TextBox 1">
            <a:extLst>
              <a:ext uri="{FF2B5EF4-FFF2-40B4-BE49-F238E27FC236}">
                <a16:creationId xmlns:a16="http://schemas.microsoft.com/office/drawing/2014/main" id="{01C5131B-583F-C7C5-C85C-40F8E9280483}"/>
              </a:ext>
            </a:extLst>
          </p:cNvPr>
          <p:cNvSpPr txBox="1"/>
          <p:nvPr/>
        </p:nvSpPr>
        <p:spPr>
          <a:xfrm>
            <a:off x="768927" y="4696686"/>
            <a:ext cx="1600200" cy="769441"/>
          </a:xfrm>
          <a:prstGeom prst="rect">
            <a:avLst/>
          </a:prstGeom>
          <a:noFill/>
        </p:spPr>
        <p:txBody>
          <a:bodyPr wrap="square" rtlCol="0">
            <a:spAutoFit/>
          </a:bodyPr>
          <a:lstStyle/>
          <a:p>
            <a:pPr algn="ctr"/>
            <a:r>
              <a:rPr lang="en-US" sz="4400" dirty="0">
                <a:solidFill>
                  <a:srgbClr val="FF0000"/>
                </a:solidFill>
              </a:rPr>
              <a:t>NO</a:t>
            </a:r>
            <a:endParaRPr lang="el-GR" sz="4400" dirty="0">
              <a:solidFill>
                <a:srgbClr val="FF0000"/>
              </a:solidFill>
            </a:endParaRPr>
          </a:p>
        </p:txBody>
      </p:sp>
    </p:spTree>
    <p:extLst>
      <p:ext uri="{BB962C8B-B14F-4D97-AF65-F5344CB8AC3E}">
        <p14:creationId xmlns:p14="http://schemas.microsoft.com/office/powerpoint/2010/main" val="1415985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3458</TotalTime>
  <Words>532</Words>
  <Application>Microsoft Office PowerPoint</Application>
  <PresentationFormat>Widescreen</PresentationFormat>
  <Paragraphs>166</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Katerina Tsaroucha</dc:creator>
  <cp:lastModifiedBy>Katerina Tsaroucha</cp:lastModifiedBy>
  <cp:revision>40</cp:revision>
  <dcterms:created xsi:type="dcterms:W3CDTF">2023-02-21T11:13:25Z</dcterms:created>
  <dcterms:modified xsi:type="dcterms:W3CDTF">2023-03-29T14:37:43Z</dcterms:modified>
</cp:coreProperties>
</file>